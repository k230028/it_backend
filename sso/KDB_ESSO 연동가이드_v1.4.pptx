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1"/>
    <p:sldMasterId id="2147483792" r:id="rId2"/>
    <p:sldMasterId id="2147483851" r:id="rId3"/>
    <p:sldMasterId id="2147483654" r:id="rId4"/>
  </p:sldMasterIdLst>
  <p:notesMasterIdLst>
    <p:notesMasterId r:id="rId28"/>
  </p:notesMasterIdLst>
  <p:handoutMasterIdLst>
    <p:handoutMasterId r:id="rId29"/>
  </p:handoutMasterIdLst>
  <p:sldIdLst>
    <p:sldId id="1925" r:id="rId5"/>
    <p:sldId id="1918" r:id="rId6"/>
    <p:sldId id="1397" r:id="rId7"/>
    <p:sldId id="1911" r:id="rId8"/>
    <p:sldId id="1879" r:id="rId9"/>
    <p:sldId id="1899" r:id="rId10"/>
    <p:sldId id="1905" r:id="rId11"/>
    <p:sldId id="1906" r:id="rId12"/>
    <p:sldId id="1881" r:id="rId13"/>
    <p:sldId id="1900" r:id="rId14"/>
    <p:sldId id="1907" r:id="rId15"/>
    <p:sldId id="1866" r:id="rId16"/>
    <p:sldId id="1910" r:id="rId17"/>
    <p:sldId id="1912" r:id="rId18"/>
    <p:sldId id="1919" r:id="rId19"/>
    <p:sldId id="1923" r:id="rId20"/>
    <p:sldId id="1922" r:id="rId21"/>
    <p:sldId id="1913" r:id="rId22"/>
    <p:sldId id="1914" r:id="rId23"/>
    <p:sldId id="1915" r:id="rId24"/>
    <p:sldId id="1917" r:id="rId25"/>
    <p:sldId id="1920" r:id="rId26"/>
    <p:sldId id="1848" r:id="rId27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pos="6023" userDrawn="1">
          <p15:clr>
            <a:srgbClr val="A4A3A4"/>
          </p15:clr>
        </p15:guide>
        <p15:guide id="8" pos="217" userDrawn="1">
          <p15:clr>
            <a:srgbClr val="A4A3A4"/>
          </p15:clr>
        </p15:guide>
        <p15:guide id="11" orient="horz" pos="527" userDrawn="1">
          <p15:clr>
            <a:srgbClr val="A4A3A4"/>
          </p15:clr>
        </p15:guide>
        <p15:guide id="14" orient="horz" pos="4042" userDrawn="1">
          <p15:clr>
            <a:srgbClr val="A4A3A4"/>
          </p15:clr>
        </p15:guide>
        <p15:guide id="15" orient="horz" pos="981" userDrawn="1">
          <p15:clr>
            <a:srgbClr val="A4A3A4"/>
          </p15:clr>
        </p15:guide>
        <p15:guide id="17" orient="horz" pos="1253" userDrawn="1">
          <p15:clr>
            <a:srgbClr val="A4A3A4"/>
          </p15:clr>
        </p15:guide>
        <p15:guide id="18" orient="horz" pos="39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427" userDrawn="1">
          <p15:clr>
            <a:srgbClr val="A4A3A4"/>
          </p15:clr>
        </p15:guide>
        <p15:guide id="2" pos="2136" userDrawn="1">
          <p15:clr>
            <a:srgbClr val="A4A3A4"/>
          </p15:clr>
        </p15:guide>
        <p15:guide id="3" orient="horz" pos="2084" userDrawn="1">
          <p15:clr>
            <a:srgbClr val="A4A3A4"/>
          </p15:clr>
        </p15:guide>
        <p15:guide id="4" pos="3089" userDrawn="1">
          <p15:clr>
            <a:srgbClr val="A4A3A4"/>
          </p15:clr>
        </p15:guide>
        <p15:guide id="5" orient="horz" pos="1453" userDrawn="1">
          <p15:clr>
            <a:srgbClr val="A4A3A4"/>
          </p15:clr>
        </p15:guide>
        <p15:guide id="6" orient="horz" pos="2122" userDrawn="1">
          <p15:clr>
            <a:srgbClr val="A4A3A4"/>
          </p15:clr>
        </p15:guide>
        <p15:guide id="7" pos="2149" userDrawn="1">
          <p15:clr>
            <a:srgbClr val="A4A3A4"/>
          </p15:clr>
        </p15:guide>
        <p15:guide id="8" pos="31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FBFBF"/>
    <a:srgbClr val="376092"/>
    <a:srgbClr val="E6E6E6"/>
    <a:srgbClr val="6691C6"/>
    <a:srgbClr val="375F92"/>
    <a:srgbClr val="FFFFFF"/>
    <a:srgbClr val="89A4A7"/>
    <a:srgbClr val="FF9966"/>
    <a:srgbClr val="BDBD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95370" autoAdjust="0"/>
  </p:normalViewPr>
  <p:slideViewPr>
    <p:cSldViewPr snapToGrid="0" snapToObjects="1" showGuides="1">
      <p:cViewPr varScale="1">
        <p:scale>
          <a:sx n="109" d="100"/>
          <a:sy n="109" d="100"/>
        </p:scale>
        <p:origin x="882" y="108"/>
      </p:cViewPr>
      <p:guideLst>
        <p:guide pos="6023"/>
        <p:guide pos="217"/>
        <p:guide orient="horz" pos="527"/>
        <p:guide orient="horz" pos="4042"/>
        <p:guide orient="horz" pos="981"/>
        <p:guide orient="horz" pos="1253"/>
        <p:guide orient="horz" pos="399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117" d="100"/>
          <a:sy n="117" d="100"/>
        </p:scale>
        <p:origin x="2088" y="102"/>
      </p:cViewPr>
      <p:guideLst>
        <p:guide orient="horz" pos="1427"/>
        <p:guide pos="2136"/>
        <p:guide orient="horz" pos="2084"/>
        <p:guide pos="3089"/>
        <p:guide orient="horz" pos="1453"/>
        <p:guide orient="horz" pos="2122"/>
        <p:guide pos="2149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7" y="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39756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7" y="639756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4956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7" y="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9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39756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7" y="639756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14266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089FE8-A1A6-49F2-B317-3775AAE8295A}" type="slidenum">
              <a:rPr lang="en-US" altLang="ko-KR" smtClean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pPr>
                <a:defRPr/>
              </a:pPr>
              <a:t>3</a:t>
            </a:fld>
            <a:endParaRPr lang="en-US" altLang="ko-KR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7002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089FE8-A1A6-49F2-B317-3775AAE8295A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1048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5594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3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9155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223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500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62818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컨텐츠 페이지 제목</a:t>
            </a:r>
            <a:endParaRPr lang="en-US" altLang="ko-KR" dirty="0" smtClean="0"/>
          </a:p>
        </p:txBody>
      </p:sp>
      <p:sp>
        <p:nvSpPr>
          <p:cNvPr id="5" name="Line 28"/>
          <p:cNvSpPr>
            <a:spLocks noChangeShapeType="1"/>
          </p:cNvSpPr>
          <p:nvPr userDrawn="1"/>
        </p:nvSpPr>
        <p:spPr bwMode="auto">
          <a:xfrm>
            <a:off x="373787" y="712788"/>
            <a:ext cx="91800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" name="텍스트 개체 틀 2"/>
          <p:cNvSpPr>
            <a:spLocks noGrp="1"/>
          </p:cNvSpPr>
          <p:nvPr>
            <p:ph idx="1"/>
          </p:nvPr>
        </p:nvSpPr>
        <p:spPr>
          <a:xfrm>
            <a:off x="373787" y="800752"/>
            <a:ext cx="9179999" cy="5376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96863" indent="-285750">
              <a:buFont typeface="맑은 고딕" panose="020B0503020000020004" pitchFamily="50" charset="-127"/>
              <a:buChar char="□"/>
              <a:defRPr/>
            </a:lvl1pPr>
            <a:lvl2pPr marL="554038" indent="-285750">
              <a:buFont typeface="맑은 고딕" panose="020B0503020000020004" pitchFamily="50" charset="-127"/>
              <a:buChar char="○"/>
              <a:defRPr/>
            </a:lvl2pPr>
          </a:lstStyle>
          <a:p>
            <a:pPr lvl="0"/>
            <a:r>
              <a:rPr lang="ko-KR" altLang="en-US" dirty="0" smtClean="0"/>
              <a:t>첫째 수준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144500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0751" y="323582"/>
            <a:ext cx="6102350" cy="274638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013" y="797868"/>
            <a:ext cx="9566997" cy="792162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spcBef>
                <a:spcPts val="300"/>
              </a:spcBef>
              <a:defRPr sz="140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spcBef>
                <a:spcPts val="300"/>
              </a:spcBef>
              <a:defRPr sz="1400">
                <a:solidFill>
                  <a:schemeClr val="tx1"/>
                </a:solidFill>
                <a:latin typeface="+mn-ea"/>
                <a:ea typeface="+mn-ea"/>
              </a:defRPr>
            </a:lvl3pPr>
            <a:lvl4pPr>
              <a:spcBef>
                <a:spcPts val="300"/>
              </a:spcBef>
              <a:defRPr sz="1400"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spcBef>
                <a:spcPts val="300"/>
              </a:spcBef>
              <a:defRPr sz="1400">
                <a:solidFill>
                  <a:schemeClr val="tx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6738950" y="285728"/>
            <a:ext cx="2857520" cy="357190"/>
          </a:xfrm>
        </p:spPr>
        <p:txBody>
          <a:bodyPr/>
          <a:lstStyle>
            <a:lvl1pPr algn="r">
              <a:defRPr sz="1400" b="0"/>
            </a:lvl1pPr>
          </a:lstStyle>
          <a:p>
            <a:pPr lvl="0"/>
            <a:r>
              <a:rPr lang="ko-KR" altLang="en-US" dirty="0" smtClean="0"/>
              <a:t>마스터 텍스트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19619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5_마지막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그림 14" descr="tag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AutoShape 17"/>
          <p:cNvSpPr>
            <a:spLocks noChangeAspect="1" noChangeArrowheads="1"/>
          </p:cNvSpPr>
          <p:nvPr/>
        </p:nvSpPr>
        <p:spPr bwMode="auto">
          <a:xfrm>
            <a:off x="4738688" y="2741136"/>
            <a:ext cx="3868737" cy="908050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800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901" r:id="rId2"/>
    <p:sldLayoutId id="2147483903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9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9" descr="Proporsal_template_01.jp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01"/>
          <a:stretch>
            <a:fillRect/>
          </a:stretch>
        </p:blipFill>
        <p:spPr bwMode="auto">
          <a:xfrm>
            <a:off x="-1588" y="0"/>
            <a:ext cx="9907588" cy="674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156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265113" indent="-254000" algn="l" rtl="0" eaLnBrk="0" fontAlgn="base" latinLnBrk="0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Char char=" 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0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600">
          <a:solidFill>
            <a:schemeClr val="tx1"/>
          </a:solidFill>
          <a:latin typeface="Times New Roman" pitchFamily="18" charset="0"/>
          <a:ea typeface="HY견명조" pitchFamily="18" charset="-127"/>
        </a:defRPr>
      </a:lvl2pPr>
      <a:lvl3pPr marL="803275" indent="-228600" algn="l" defTabSz="803275" rtl="0" eaLnBrk="0" fontAlgn="base" latinLnBrk="0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0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logo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59533" y="6612589"/>
            <a:ext cx="928328" cy="141133"/>
          </a:xfrm>
          <a:prstGeom prst="rect">
            <a:avLst/>
          </a:prstGeom>
        </p:spPr>
      </p:pic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62818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컨텐츠 페이지 제목</a:t>
            </a:r>
            <a:endParaRPr lang="en-US" altLang="ko-KR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373787" y="6524625"/>
            <a:ext cx="91800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1" name="Line 28"/>
          <p:cNvSpPr>
            <a:spLocks noChangeShapeType="1"/>
          </p:cNvSpPr>
          <p:nvPr userDrawn="1"/>
        </p:nvSpPr>
        <p:spPr bwMode="auto">
          <a:xfrm>
            <a:off x="373787" y="712788"/>
            <a:ext cx="91800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4774554" y="6550093"/>
            <a:ext cx="3529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  <a:defRPr/>
            </a:pPr>
            <a:fld id="{C8BF89A3-ED97-41A3-929F-288694448ED9}" type="slidenum">
              <a:rPr lang="en-US" altLang="ko-KR" sz="1000" b="1" smtClean="0">
                <a:solidFill>
                  <a:srgbClr val="000000"/>
                </a:solidFill>
                <a:latin typeface="맑은 고딕"/>
                <a:ea typeface="맑은 고딕"/>
              </a:rPr>
              <a:pPr algn="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73787" y="800752"/>
            <a:ext cx="9179999" cy="5376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첫째 수준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268156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902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296863" indent="-285750" algn="l" rtl="0" eaLnBrk="0" fontAlgn="base" latinLnBrk="0" hangingPunct="0">
        <a:lnSpc>
          <a:spcPct val="120000"/>
        </a:lnSpc>
        <a:spcBef>
          <a:spcPct val="20000"/>
        </a:spcBef>
        <a:spcAft>
          <a:spcPct val="0"/>
        </a:spcAft>
        <a:buClrTx/>
        <a:buFont typeface="맑은 고딕" panose="020B0503020000020004" pitchFamily="50" charset="-127"/>
        <a:buChar char="□"/>
        <a:defRPr kumimoji="1" sz="1600" b="1">
          <a:solidFill>
            <a:schemeClr val="tx1"/>
          </a:solidFill>
          <a:latin typeface="+mn-ea"/>
          <a:ea typeface="+mn-ea"/>
          <a:cs typeface="+mn-cs"/>
        </a:defRPr>
      </a:lvl1pPr>
      <a:lvl2pPr marL="554038" indent="-285750" algn="l" rtl="0" eaLnBrk="0" fontAlgn="base" latinLnBrk="0" hangingPunct="0">
        <a:spcBef>
          <a:spcPct val="20000"/>
        </a:spcBef>
        <a:spcAft>
          <a:spcPct val="0"/>
        </a:spcAft>
        <a:buClr>
          <a:srgbClr val="000000"/>
        </a:buClr>
        <a:buFont typeface="맑은 고딕" panose="020B0503020000020004" pitchFamily="50" charset="-127"/>
        <a:buChar char="○"/>
        <a:defRPr kumimoji="1" sz="1400" b="1">
          <a:solidFill>
            <a:schemeClr val="tx1"/>
          </a:solidFill>
          <a:latin typeface="+mn-ea"/>
          <a:ea typeface="+mn-ea"/>
        </a:defRPr>
      </a:lvl2pPr>
      <a:lvl3pPr marL="717550" indent="-142875" algn="l" defTabSz="803275" rtl="0" eaLnBrk="0" fontAlgn="base" latinLnBrk="0" hangingPunct="0">
        <a:spcBef>
          <a:spcPct val="20000"/>
        </a:spcBef>
        <a:spcAft>
          <a:spcPct val="0"/>
        </a:spcAft>
        <a:buClr>
          <a:srgbClr val="000000"/>
        </a:buClr>
        <a:buFont typeface="맑은 고딕" panose="020B0503020000020004" pitchFamily="50" charset="-127"/>
        <a:buChar char="-"/>
        <a:tabLst>
          <a:tab pos="1160463" algn="l"/>
        </a:tabLst>
        <a:defRPr kumimoji="1" sz="1400" b="0">
          <a:solidFill>
            <a:schemeClr val="tx1"/>
          </a:solidFill>
          <a:latin typeface="+mn-ea"/>
          <a:ea typeface="+mn-ea"/>
        </a:defRPr>
      </a:lvl3pPr>
      <a:lvl4pPr marL="896938" indent="-179388" algn="l" rtl="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400">
          <a:solidFill>
            <a:schemeClr val="tx1"/>
          </a:solidFill>
          <a:latin typeface="+mn-ea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 descr="logo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766442" y="2564904"/>
            <a:ext cx="2367970" cy="36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2.png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emf"/><Relationship Id="rId5" Type="http://schemas.openxmlformats.org/officeDocument/2006/relationships/image" Target="../media/image14.png"/><Relationship Id="rId4" Type="http://schemas.openxmlformats.org/officeDocument/2006/relationships/image" Target="../media/image13.emf"/><Relationship Id="rId9" Type="http://schemas.openxmlformats.org/officeDocument/2006/relationships/image" Target="../media/image18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emf"/><Relationship Id="rId5" Type="http://schemas.openxmlformats.org/officeDocument/2006/relationships/image" Target="../media/image22.png"/><Relationship Id="rId4" Type="http://schemas.openxmlformats.org/officeDocument/2006/relationships/image" Target="../media/image2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13" Type="http://schemas.openxmlformats.org/officeDocument/2006/relationships/image" Target="../media/image35.png"/><Relationship Id="rId18" Type="http://schemas.openxmlformats.org/officeDocument/2006/relationships/image" Target="../media/image40.jpe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jpeg"/><Relationship Id="rId12" Type="http://schemas.openxmlformats.org/officeDocument/2006/relationships/image" Target="../media/image34.png"/><Relationship Id="rId17" Type="http://schemas.openxmlformats.org/officeDocument/2006/relationships/image" Target="../media/image39.jpeg"/><Relationship Id="rId25" Type="http://schemas.openxmlformats.org/officeDocument/2006/relationships/image" Target="../media/image46.png"/><Relationship Id="rId2" Type="http://schemas.openxmlformats.org/officeDocument/2006/relationships/image" Target="../media/image24.jpeg"/><Relationship Id="rId16" Type="http://schemas.openxmlformats.org/officeDocument/2006/relationships/image" Target="../media/image38.png"/><Relationship Id="rId20" Type="http://schemas.openxmlformats.org/officeDocument/2006/relationships/image" Target="../media/image42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hyperlink" Target="http://www.adobe.com/kr/products/coldfusion-enterprise.html" TargetMode="External"/><Relationship Id="rId5" Type="http://schemas.openxmlformats.org/officeDocument/2006/relationships/image" Target="../media/image27.jpeg"/><Relationship Id="rId15" Type="http://schemas.openxmlformats.org/officeDocument/2006/relationships/image" Target="../media/image37.jpeg"/><Relationship Id="rId23" Type="http://schemas.openxmlformats.org/officeDocument/2006/relationships/image" Target="../media/image45.png"/><Relationship Id="rId10" Type="http://schemas.openxmlformats.org/officeDocument/2006/relationships/image" Target="../media/image32.jpeg"/><Relationship Id="rId19" Type="http://schemas.openxmlformats.org/officeDocument/2006/relationships/image" Target="../media/image41.jpeg"/><Relationship Id="rId4" Type="http://schemas.openxmlformats.org/officeDocument/2006/relationships/image" Target="../media/image26.png"/><Relationship Id="rId9" Type="http://schemas.openxmlformats.org/officeDocument/2006/relationships/image" Target="../media/image31.jpeg"/><Relationship Id="rId14" Type="http://schemas.openxmlformats.org/officeDocument/2006/relationships/image" Target="../media/image36.png"/><Relationship Id="rId22" Type="http://schemas.openxmlformats.org/officeDocument/2006/relationships/image" Target="../media/image4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://&#50629;&#47924;&#49436;&#48260;url/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"/>
          <p:cNvSpPr/>
          <p:nvPr/>
        </p:nvSpPr>
        <p:spPr>
          <a:xfrm>
            <a:off x="900684" y="1513331"/>
            <a:ext cx="3240405" cy="360045"/>
          </a:xfrm>
          <a:custGeom>
            <a:avLst/>
            <a:gdLst/>
            <a:ahLst/>
            <a:cxnLst/>
            <a:rect l="l" t="t" r="r" b="b"/>
            <a:pathLst>
              <a:path w="3240404" h="360044">
                <a:moveTo>
                  <a:pt x="3240024" y="0"/>
                </a:moveTo>
                <a:lnTo>
                  <a:pt x="3058668" y="0"/>
                </a:lnTo>
                <a:lnTo>
                  <a:pt x="179832" y="0"/>
                </a:lnTo>
                <a:lnTo>
                  <a:pt x="0" y="0"/>
                </a:lnTo>
                <a:lnTo>
                  <a:pt x="0" y="179832"/>
                </a:lnTo>
                <a:lnTo>
                  <a:pt x="0" y="359664"/>
                </a:lnTo>
                <a:lnTo>
                  <a:pt x="179832" y="359664"/>
                </a:lnTo>
                <a:lnTo>
                  <a:pt x="179832" y="179832"/>
                </a:lnTo>
                <a:lnTo>
                  <a:pt x="3058668" y="179832"/>
                </a:lnTo>
                <a:lnTo>
                  <a:pt x="3058668" y="359664"/>
                </a:lnTo>
                <a:lnTo>
                  <a:pt x="3240011" y="359664"/>
                </a:lnTo>
                <a:lnTo>
                  <a:pt x="3240011" y="179832"/>
                </a:lnTo>
                <a:lnTo>
                  <a:pt x="3240024" y="0"/>
                </a:lnTo>
                <a:close/>
              </a:path>
            </a:pathLst>
          </a:custGeom>
          <a:solidFill>
            <a:srgbClr val="00A8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3"/>
          <p:cNvSpPr/>
          <p:nvPr/>
        </p:nvSpPr>
        <p:spPr>
          <a:xfrm>
            <a:off x="900684" y="4393691"/>
            <a:ext cx="3240405" cy="360045"/>
          </a:xfrm>
          <a:custGeom>
            <a:avLst/>
            <a:gdLst/>
            <a:ahLst/>
            <a:cxnLst/>
            <a:rect l="l" t="t" r="r" b="b"/>
            <a:pathLst>
              <a:path w="3240404" h="360045">
                <a:moveTo>
                  <a:pt x="3240024" y="179832"/>
                </a:moveTo>
                <a:lnTo>
                  <a:pt x="3240011" y="0"/>
                </a:lnTo>
                <a:lnTo>
                  <a:pt x="3058668" y="0"/>
                </a:lnTo>
                <a:lnTo>
                  <a:pt x="3058668" y="179832"/>
                </a:lnTo>
                <a:lnTo>
                  <a:pt x="179832" y="179832"/>
                </a:lnTo>
                <a:lnTo>
                  <a:pt x="179832" y="0"/>
                </a:lnTo>
                <a:lnTo>
                  <a:pt x="0" y="0"/>
                </a:lnTo>
                <a:lnTo>
                  <a:pt x="0" y="179832"/>
                </a:lnTo>
                <a:lnTo>
                  <a:pt x="0" y="359664"/>
                </a:lnTo>
                <a:lnTo>
                  <a:pt x="179832" y="359664"/>
                </a:lnTo>
                <a:lnTo>
                  <a:pt x="3058668" y="359664"/>
                </a:lnTo>
                <a:lnTo>
                  <a:pt x="3240011" y="359664"/>
                </a:lnTo>
                <a:lnTo>
                  <a:pt x="3240024" y="179832"/>
                </a:lnTo>
                <a:close/>
              </a:path>
            </a:pathLst>
          </a:custGeom>
          <a:solidFill>
            <a:srgbClr val="00A8E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4"/>
          <p:cNvGrpSpPr/>
          <p:nvPr/>
        </p:nvGrpSpPr>
        <p:grpSpPr>
          <a:xfrm>
            <a:off x="365383" y="359662"/>
            <a:ext cx="1710055" cy="203835"/>
            <a:chOff x="365383" y="359662"/>
            <a:chExt cx="1710055" cy="203835"/>
          </a:xfrm>
        </p:grpSpPr>
        <p:sp>
          <p:nvSpPr>
            <p:cNvPr id="25" name="object 5"/>
            <p:cNvSpPr/>
            <p:nvPr/>
          </p:nvSpPr>
          <p:spPr>
            <a:xfrm>
              <a:off x="365379" y="359663"/>
              <a:ext cx="677545" cy="156845"/>
            </a:xfrm>
            <a:custGeom>
              <a:avLst/>
              <a:gdLst/>
              <a:ahLst/>
              <a:cxnLst/>
              <a:rect l="l" t="t" r="r" b="b"/>
              <a:pathLst>
                <a:path w="677544" h="156845">
                  <a:moveTo>
                    <a:pt x="117563" y="154051"/>
                  </a:moveTo>
                  <a:lnTo>
                    <a:pt x="87223" y="101854"/>
                  </a:lnTo>
                  <a:lnTo>
                    <a:pt x="84328" y="96888"/>
                  </a:lnTo>
                  <a:lnTo>
                    <a:pt x="96672" y="88112"/>
                  </a:lnTo>
                  <a:lnTo>
                    <a:pt x="104203" y="79489"/>
                  </a:lnTo>
                  <a:lnTo>
                    <a:pt x="106375" y="77000"/>
                  </a:lnTo>
                  <a:lnTo>
                    <a:pt x="112725" y="64020"/>
                  </a:lnTo>
                  <a:lnTo>
                    <a:pt x="114998" y="49657"/>
                  </a:lnTo>
                  <a:lnTo>
                    <a:pt x="110845" y="28917"/>
                  </a:lnTo>
                  <a:lnTo>
                    <a:pt x="102577" y="17348"/>
                  </a:lnTo>
                  <a:lnTo>
                    <a:pt x="99034" y="12369"/>
                  </a:lnTo>
                  <a:lnTo>
                    <a:pt x="89446" y="6705"/>
                  </a:lnTo>
                  <a:lnTo>
                    <a:pt x="89446" y="49657"/>
                  </a:lnTo>
                  <a:lnTo>
                    <a:pt x="87452" y="60617"/>
                  </a:lnTo>
                  <a:lnTo>
                    <a:pt x="81140" y="70167"/>
                  </a:lnTo>
                  <a:lnTo>
                    <a:pt x="70040" y="76923"/>
                  </a:lnTo>
                  <a:lnTo>
                    <a:pt x="53670" y="79489"/>
                  </a:lnTo>
                  <a:lnTo>
                    <a:pt x="25552" y="79489"/>
                  </a:lnTo>
                  <a:lnTo>
                    <a:pt x="25552" y="17348"/>
                  </a:lnTo>
                  <a:lnTo>
                    <a:pt x="53670" y="17348"/>
                  </a:lnTo>
                  <a:lnTo>
                    <a:pt x="70040" y="19596"/>
                  </a:lnTo>
                  <a:lnTo>
                    <a:pt x="81140" y="26047"/>
                  </a:lnTo>
                  <a:lnTo>
                    <a:pt x="87452" y="36220"/>
                  </a:lnTo>
                  <a:lnTo>
                    <a:pt x="89446" y="49657"/>
                  </a:lnTo>
                  <a:lnTo>
                    <a:pt x="89446" y="6705"/>
                  </a:lnTo>
                  <a:lnTo>
                    <a:pt x="80505" y="1422"/>
                  </a:lnTo>
                  <a:lnTo>
                    <a:pt x="71805" y="0"/>
                  </a:lnTo>
                  <a:lnTo>
                    <a:pt x="0" y="0"/>
                  </a:lnTo>
                  <a:lnTo>
                    <a:pt x="0" y="154051"/>
                  </a:lnTo>
                  <a:lnTo>
                    <a:pt x="25552" y="154051"/>
                  </a:lnTo>
                  <a:lnTo>
                    <a:pt x="25552" y="101854"/>
                  </a:lnTo>
                  <a:lnTo>
                    <a:pt x="61341" y="101854"/>
                  </a:lnTo>
                  <a:lnTo>
                    <a:pt x="89446" y="154051"/>
                  </a:lnTo>
                  <a:lnTo>
                    <a:pt x="117563" y="154051"/>
                  </a:lnTo>
                  <a:close/>
                </a:path>
                <a:path w="677544" h="156845">
                  <a:moveTo>
                    <a:pt x="232575" y="99364"/>
                  </a:moveTo>
                  <a:lnTo>
                    <a:pt x="230720" y="89433"/>
                  </a:lnTo>
                  <a:lnTo>
                    <a:pt x="228460" y="77190"/>
                  </a:lnTo>
                  <a:lnTo>
                    <a:pt x="220027" y="64579"/>
                  </a:lnTo>
                  <a:lnTo>
                    <a:pt x="216916" y="59905"/>
                  </a:lnTo>
                  <a:lnTo>
                    <a:pt x="209562" y="55270"/>
                  </a:lnTo>
                  <a:lnTo>
                    <a:pt x="209562" y="89433"/>
                  </a:lnTo>
                  <a:lnTo>
                    <a:pt x="143116" y="89433"/>
                  </a:lnTo>
                  <a:lnTo>
                    <a:pt x="146875" y="79248"/>
                  </a:lnTo>
                  <a:lnTo>
                    <a:pt x="153974" y="71412"/>
                  </a:lnTo>
                  <a:lnTo>
                    <a:pt x="163957" y="66357"/>
                  </a:lnTo>
                  <a:lnTo>
                    <a:pt x="176339" y="64579"/>
                  </a:lnTo>
                  <a:lnTo>
                    <a:pt x="188353" y="66014"/>
                  </a:lnTo>
                  <a:lnTo>
                    <a:pt x="197739" y="70472"/>
                  </a:lnTo>
                  <a:lnTo>
                    <a:pt x="204736" y="78206"/>
                  </a:lnTo>
                  <a:lnTo>
                    <a:pt x="209562" y="89433"/>
                  </a:lnTo>
                  <a:lnTo>
                    <a:pt x="209562" y="55270"/>
                  </a:lnTo>
                  <a:lnTo>
                    <a:pt x="199148" y="48679"/>
                  </a:lnTo>
                  <a:lnTo>
                    <a:pt x="176339" y="44678"/>
                  </a:lnTo>
                  <a:lnTo>
                    <a:pt x="153136" y="49072"/>
                  </a:lnTo>
                  <a:lnTo>
                    <a:pt x="134493" y="61150"/>
                  </a:lnTo>
                  <a:lnTo>
                    <a:pt x="122072" y="79286"/>
                  </a:lnTo>
                  <a:lnTo>
                    <a:pt x="117563" y="101854"/>
                  </a:lnTo>
                  <a:lnTo>
                    <a:pt x="121716" y="122986"/>
                  </a:lnTo>
                  <a:lnTo>
                    <a:pt x="133527" y="140385"/>
                  </a:lnTo>
                  <a:lnTo>
                    <a:pt x="152057" y="152184"/>
                  </a:lnTo>
                  <a:lnTo>
                    <a:pt x="176339" y="156540"/>
                  </a:lnTo>
                  <a:lnTo>
                    <a:pt x="194068" y="154330"/>
                  </a:lnTo>
                  <a:lnTo>
                    <a:pt x="208927" y="148145"/>
                  </a:lnTo>
                  <a:lnTo>
                    <a:pt x="220903" y="138709"/>
                  </a:lnTo>
                  <a:lnTo>
                    <a:pt x="222465" y="136652"/>
                  </a:lnTo>
                  <a:lnTo>
                    <a:pt x="230009" y="126707"/>
                  </a:lnTo>
                  <a:lnTo>
                    <a:pt x="209562" y="116763"/>
                  </a:lnTo>
                  <a:lnTo>
                    <a:pt x="204368" y="125120"/>
                  </a:lnTo>
                  <a:lnTo>
                    <a:pt x="196786" y="131368"/>
                  </a:lnTo>
                  <a:lnTo>
                    <a:pt x="187286" y="135293"/>
                  </a:lnTo>
                  <a:lnTo>
                    <a:pt x="176339" y="136652"/>
                  </a:lnTo>
                  <a:lnTo>
                    <a:pt x="163563" y="134480"/>
                  </a:lnTo>
                  <a:lnTo>
                    <a:pt x="152704" y="128574"/>
                  </a:lnTo>
                  <a:lnTo>
                    <a:pt x="144716" y="119875"/>
                  </a:lnTo>
                  <a:lnTo>
                    <a:pt x="140563" y="109308"/>
                  </a:lnTo>
                  <a:lnTo>
                    <a:pt x="232575" y="109308"/>
                  </a:lnTo>
                  <a:lnTo>
                    <a:pt x="232575" y="99364"/>
                  </a:lnTo>
                  <a:close/>
                </a:path>
                <a:path w="677544" h="156845">
                  <a:moveTo>
                    <a:pt x="360349" y="47180"/>
                  </a:moveTo>
                  <a:lnTo>
                    <a:pt x="337350" y="47180"/>
                  </a:lnTo>
                  <a:lnTo>
                    <a:pt x="337350" y="99364"/>
                  </a:lnTo>
                  <a:lnTo>
                    <a:pt x="334632" y="113195"/>
                  </a:lnTo>
                  <a:lnTo>
                    <a:pt x="327126" y="124218"/>
                  </a:lnTo>
                  <a:lnTo>
                    <a:pt x="315785" y="131521"/>
                  </a:lnTo>
                  <a:lnTo>
                    <a:pt x="301574" y="134162"/>
                  </a:lnTo>
                  <a:lnTo>
                    <a:pt x="287350" y="131521"/>
                  </a:lnTo>
                  <a:lnTo>
                    <a:pt x="276021" y="124218"/>
                  </a:lnTo>
                  <a:lnTo>
                    <a:pt x="268516" y="113195"/>
                  </a:lnTo>
                  <a:lnTo>
                    <a:pt x="265798" y="99364"/>
                  </a:lnTo>
                  <a:lnTo>
                    <a:pt x="268516" y="85547"/>
                  </a:lnTo>
                  <a:lnTo>
                    <a:pt x="276021" y="74510"/>
                  </a:lnTo>
                  <a:lnTo>
                    <a:pt x="287350" y="67221"/>
                  </a:lnTo>
                  <a:lnTo>
                    <a:pt x="301574" y="64579"/>
                  </a:lnTo>
                  <a:lnTo>
                    <a:pt x="315785" y="67564"/>
                  </a:lnTo>
                  <a:lnTo>
                    <a:pt x="327126" y="75450"/>
                  </a:lnTo>
                  <a:lnTo>
                    <a:pt x="334632" y="86588"/>
                  </a:lnTo>
                  <a:lnTo>
                    <a:pt x="337350" y="99364"/>
                  </a:lnTo>
                  <a:lnTo>
                    <a:pt x="337350" y="47180"/>
                  </a:lnTo>
                  <a:lnTo>
                    <a:pt x="334797" y="47180"/>
                  </a:lnTo>
                  <a:lnTo>
                    <a:pt x="334797" y="59601"/>
                  </a:lnTo>
                  <a:lnTo>
                    <a:pt x="328129" y="53073"/>
                  </a:lnTo>
                  <a:lnTo>
                    <a:pt x="319786" y="48412"/>
                  </a:lnTo>
                  <a:lnTo>
                    <a:pt x="309994" y="45618"/>
                  </a:lnTo>
                  <a:lnTo>
                    <a:pt x="299008" y="44678"/>
                  </a:lnTo>
                  <a:lnTo>
                    <a:pt x="277291" y="48336"/>
                  </a:lnTo>
                  <a:lnTo>
                    <a:pt x="259397" y="58978"/>
                  </a:lnTo>
                  <a:lnTo>
                    <a:pt x="247269" y="76149"/>
                  </a:lnTo>
                  <a:lnTo>
                    <a:pt x="242785" y="99364"/>
                  </a:lnTo>
                  <a:lnTo>
                    <a:pt x="247624" y="122986"/>
                  </a:lnTo>
                  <a:lnTo>
                    <a:pt x="260362" y="141008"/>
                  </a:lnTo>
                  <a:lnTo>
                    <a:pt x="278371" y="152501"/>
                  </a:lnTo>
                  <a:lnTo>
                    <a:pt x="299008" y="156540"/>
                  </a:lnTo>
                  <a:lnTo>
                    <a:pt x="309994" y="155219"/>
                  </a:lnTo>
                  <a:lnTo>
                    <a:pt x="319786" y="151561"/>
                  </a:lnTo>
                  <a:lnTo>
                    <a:pt x="328129" y="146050"/>
                  </a:lnTo>
                  <a:lnTo>
                    <a:pt x="334797" y="139141"/>
                  </a:lnTo>
                  <a:lnTo>
                    <a:pt x="334797" y="154051"/>
                  </a:lnTo>
                  <a:lnTo>
                    <a:pt x="360349" y="154051"/>
                  </a:lnTo>
                  <a:lnTo>
                    <a:pt x="360349" y="139141"/>
                  </a:lnTo>
                  <a:lnTo>
                    <a:pt x="360349" y="134162"/>
                  </a:lnTo>
                  <a:lnTo>
                    <a:pt x="360349" y="64579"/>
                  </a:lnTo>
                  <a:lnTo>
                    <a:pt x="360349" y="59601"/>
                  </a:lnTo>
                  <a:lnTo>
                    <a:pt x="360349" y="47180"/>
                  </a:lnTo>
                  <a:close/>
                </a:path>
                <a:path w="677544" h="156845">
                  <a:moveTo>
                    <a:pt x="401243" y="0"/>
                  </a:moveTo>
                  <a:lnTo>
                    <a:pt x="375678" y="0"/>
                  </a:lnTo>
                  <a:lnTo>
                    <a:pt x="375678" y="154051"/>
                  </a:lnTo>
                  <a:lnTo>
                    <a:pt x="401243" y="154051"/>
                  </a:lnTo>
                  <a:lnTo>
                    <a:pt x="401243" y="0"/>
                  </a:lnTo>
                  <a:close/>
                </a:path>
                <a:path w="677544" h="156845">
                  <a:moveTo>
                    <a:pt x="442137" y="47180"/>
                  </a:moveTo>
                  <a:lnTo>
                    <a:pt x="419125" y="47180"/>
                  </a:lnTo>
                  <a:lnTo>
                    <a:pt x="419125" y="154051"/>
                  </a:lnTo>
                  <a:lnTo>
                    <a:pt x="442137" y="154051"/>
                  </a:lnTo>
                  <a:lnTo>
                    <a:pt x="442137" y="47180"/>
                  </a:lnTo>
                  <a:close/>
                </a:path>
                <a:path w="677544" h="156845">
                  <a:moveTo>
                    <a:pt x="447255" y="4927"/>
                  </a:moveTo>
                  <a:lnTo>
                    <a:pt x="442201" y="0"/>
                  </a:lnTo>
                  <a:lnTo>
                    <a:pt x="419074" y="0"/>
                  </a:lnTo>
                  <a:lnTo>
                    <a:pt x="414020" y="4927"/>
                  </a:lnTo>
                  <a:lnTo>
                    <a:pt x="414020" y="22313"/>
                  </a:lnTo>
                  <a:lnTo>
                    <a:pt x="421690" y="29781"/>
                  </a:lnTo>
                  <a:lnTo>
                    <a:pt x="439585" y="29781"/>
                  </a:lnTo>
                  <a:lnTo>
                    <a:pt x="447255" y="22313"/>
                  </a:lnTo>
                  <a:lnTo>
                    <a:pt x="447255" y="4927"/>
                  </a:lnTo>
                  <a:close/>
                </a:path>
                <a:path w="677544" h="156845">
                  <a:moveTo>
                    <a:pt x="557136" y="134162"/>
                  </a:moveTo>
                  <a:lnTo>
                    <a:pt x="488137" y="134162"/>
                  </a:lnTo>
                  <a:lnTo>
                    <a:pt x="554583" y="67056"/>
                  </a:lnTo>
                  <a:lnTo>
                    <a:pt x="554583" y="47180"/>
                  </a:lnTo>
                  <a:lnTo>
                    <a:pt x="460019" y="47180"/>
                  </a:lnTo>
                  <a:lnTo>
                    <a:pt x="460019" y="67056"/>
                  </a:lnTo>
                  <a:lnTo>
                    <a:pt x="523913" y="67056"/>
                  </a:lnTo>
                  <a:lnTo>
                    <a:pt x="457466" y="134162"/>
                  </a:lnTo>
                  <a:lnTo>
                    <a:pt x="457466" y="154051"/>
                  </a:lnTo>
                  <a:lnTo>
                    <a:pt x="557136" y="154051"/>
                  </a:lnTo>
                  <a:lnTo>
                    <a:pt x="557136" y="134162"/>
                  </a:lnTo>
                  <a:close/>
                </a:path>
                <a:path w="677544" h="156845">
                  <a:moveTo>
                    <a:pt x="677252" y="99364"/>
                  </a:moveTo>
                  <a:lnTo>
                    <a:pt x="675411" y="89433"/>
                  </a:lnTo>
                  <a:lnTo>
                    <a:pt x="673150" y="77190"/>
                  </a:lnTo>
                  <a:lnTo>
                    <a:pt x="664718" y="64579"/>
                  </a:lnTo>
                  <a:lnTo>
                    <a:pt x="661606" y="59905"/>
                  </a:lnTo>
                  <a:lnTo>
                    <a:pt x="654265" y="55270"/>
                  </a:lnTo>
                  <a:lnTo>
                    <a:pt x="654265" y="89433"/>
                  </a:lnTo>
                  <a:lnTo>
                    <a:pt x="585254" y="89433"/>
                  </a:lnTo>
                  <a:lnTo>
                    <a:pt x="590486" y="79248"/>
                  </a:lnTo>
                  <a:lnTo>
                    <a:pt x="598360" y="71412"/>
                  </a:lnTo>
                  <a:lnTo>
                    <a:pt x="608622" y="66357"/>
                  </a:lnTo>
                  <a:lnTo>
                    <a:pt x="621042" y="64579"/>
                  </a:lnTo>
                  <a:lnTo>
                    <a:pt x="631977" y="66014"/>
                  </a:lnTo>
                  <a:lnTo>
                    <a:pt x="641477" y="70472"/>
                  </a:lnTo>
                  <a:lnTo>
                    <a:pt x="649071" y="78206"/>
                  </a:lnTo>
                  <a:lnTo>
                    <a:pt x="654265" y="89433"/>
                  </a:lnTo>
                  <a:lnTo>
                    <a:pt x="654265" y="55270"/>
                  </a:lnTo>
                  <a:lnTo>
                    <a:pt x="643839" y="48679"/>
                  </a:lnTo>
                  <a:lnTo>
                    <a:pt x="621042" y="44678"/>
                  </a:lnTo>
                  <a:lnTo>
                    <a:pt x="597839" y="49072"/>
                  </a:lnTo>
                  <a:lnTo>
                    <a:pt x="579183" y="61150"/>
                  </a:lnTo>
                  <a:lnTo>
                    <a:pt x="566762" y="79286"/>
                  </a:lnTo>
                  <a:lnTo>
                    <a:pt x="562254" y="101854"/>
                  </a:lnTo>
                  <a:lnTo>
                    <a:pt x="566407" y="122986"/>
                  </a:lnTo>
                  <a:lnTo>
                    <a:pt x="578231" y="140385"/>
                  </a:lnTo>
                  <a:lnTo>
                    <a:pt x="596760" y="152184"/>
                  </a:lnTo>
                  <a:lnTo>
                    <a:pt x="621042" y="156540"/>
                  </a:lnTo>
                  <a:lnTo>
                    <a:pt x="638733" y="154330"/>
                  </a:lnTo>
                  <a:lnTo>
                    <a:pt x="653300" y="148145"/>
                  </a:lnTo>
                  <a:lnTo>
                    <a:pt x="664527" y="138709"/>
                  </a:lnTo>
                  <a:lnTo>
                    <a:pt x="665835" y="136652"/>
                  </a:lnTo>
                  <a:lnTo>
                    <a:pt x="672147" y="126707"/>
                  </a:lnTo>
                  <a:lnTo>
                    <a:pt x="654265" y="116763"/>
                  </a:lnTo>
                  <a:lnTo>
                    <a:pt x="647992" y="125120"/>
                  </a:lnTo>
                  <a:lnTo>
                    <a:pt x="640524" y="131368"/>
                  </a:lnTo>
                  <a:lnTo>
                    <a:pt x="631621" y="135293"/>
                  </a:lnTo>
                  <a:lnTo>
                    <a:pt x="621042" y="136652"/>
                  </a:lnTo>
                  <a:lnTo>
                    <a:pt x="607174" y="134480"/>
                  </a:lnTo>
                  <a:lnTo>
                    <a:pt x="596442" y="128574"/>
                  </a:lnTo>
                  <a:lnTo>
                    <a:pt x="589051" y="119875"/>
                  </a:lnTo>
                  <a:lnTo>
                    <a:pt x="585254" y="109308"/>
                  </a:lnTo>
                  <a:lnTo>
                    <a:pt x="677252" y="109308"/>
                  </a:lnTo>
                  <a:lnTo>
                    <a:pt x="677252" y="993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8422" y="404342"/>
              <a:ext cx="429326" cy="159079"/>
            </a:xfrm>
            <a:prstGeom prst="rect">
              <a:avLst/>
            </a:prstGeom>
          </p:spPr>
        </p:pic>
        <p:sp>
          <p:nvSpPr>
            <p:cNvPr id="27" name="object 7"/>
            <p:cNvSpPr/>
            <p:nvPr/>
          </p:nvSpPr>
          <p:spPr>
            <a:xfrm>
              <a:off x="1543532" y="359663"/>
              <a:ext cx="532130" cy="156845"/>
            </a:xfrm>
            <a:custGeom>
              <a:avLst/>
              <a:gdLst/>
              <a:ahLst/>
              <a:cxnLst/>
              <a:rect l="l" t="t" r="r" b="b"/>
              <a:pathLst>
                <a:path w="532130" h="156845">
                  <a:moveTo>
                    <a:pt x="109893" y="47180"/>
                  </a:moveTo>
                  <a:lnTo>
                    <a:pt x="84366" y="47180"/>
                  </a:lnTo>
                  <a:lnTo>
                    <a:pt x="56248" y="124231"/>
                  </a:lnTo>
                  <a:lnTo>
                    <a:pt x="25628" y="47180"/>
                  </a:lnTo>
                  <a:lnTo>
                    <a:pt x="0" y="47180"/>
                  </a:lnTo>
                  <a:lnTo>
                    <a:pt x="43484" y="154051"/>
                  </a:lnTo>
                  <a:lnTo>
                    <a:pt x="66509" y="154051"/>
                  </a:lnTo>
                  <a:lnTo>
                    <a:pt x="109893" y="47180"/>
                  </a:lnTo>
                  <a:close/>
                </a:path>
                <a:path w="532130" h="156845">
                  <a:moveTo>
                    <a:pt x="143103" y="47180"/>
                  </a:moveTo>
                  <a:lnTo>
                    <a:pt x="120154" y="47180"/>
                  </a:lnTo>
                  <a:lnTo>
                    <a:pt x="120154" y="154051"/>
                  </a:lnTo>
                  <a:lnTo>
                    <a:pt x="143103" y="154051"/>
                  </a:lnTo>
                  <a:lnTo>
                    <a:pt x="143103" y="47180"/>
                  </a:lnTo>
                  <a:close/>
                </a:path>
                <a:path w="532130" h="156845">
                  <a:moveTo>
                    <a:pt x="148272" y="4927"/>
                  </a:moveTo>
                  <a:lnTo>
                    <a:pt x="143217" y="0"/>
                  </a:lnTo>
                  <a:lnTo>
                    <a:pt x="120929" y="0"/>
                  </a:lnTo>
                  <a:lnTo>
                    <a:pt x="117576" y="4927"/>
                  </a:lnTo>
                  <a:lnTo>
                    <a:pt x="117576" y="22313"/>
                  </a:lnTo>
                  <a:lnTo>
                    <a:pt x="122656" y="29781"/>
                  </a:lnTo>
                  <a:lnTo>
                    <a:pt x="140601" y="29781"/>
                  </a:lnTo>
                  <a:lnTo>
                    <a:pt x="148272" y="22313"/>
                  </a:lnTo>
                  <a:lnTo>
                    <a:pt x="148272" y="4927"/>
                  </a:lnTo>
                  <a:close/>
                </a:path>
                <a:path w="532130" h="156845">
                  <a:moveTo>
                    <a:pt x="247904" y="64579"/>
                  </a:moveTo>
                  <a:lnTo>
                    <a:pt x="201930" y="44678"/>
                  </a:lnTo>
                  <a:lnTo>
                    <a:pt x="184365" y="47282"/>
                  </a:lnTo>
                  <a:lnTo>
                    <a:pt x="170624" y="54317"/>
                  </a:lnTo>
                  <a:lnTo>
                    <a:pt x="161658" y="64604"/>
                  </a:lnTo>
                  <a:lnTo>
                    <a:pt x="158457" y="77000"/>
                  </a:lnTo>
                  <a:lnTo>
                    <a:pt x="161937" y="90792"/>
                  </a:lnTo>
                  <a:lnTo>
                    <a:pt x="170916" y="99682"/>
                  </a:lnTo>
                  <a:lnTo>
                    <a:pt x="183273" y="105308"/>
                  </a:lnTo>
                  <a:lnTo>
                    <a:pt x="196837" y="109308"/>
                  </a:lnTo>
                  <a:lnTo>
                    <a:pt x="207670" y="111252"/>
                  </a:lnTo>
                  <a:lnTo>
                    <a:pt x="216623" y="113665"/>
                  </a:lnTo>
                  <a:lnTo>
                    <a:pt x="222707" y="117005"/>
                  </a:lnTo>
                  <a:lnTo>
                    <a:pt x="224955" y="121742"/>
                  </a:lnTo>
                  <a:lnTo>
                    <a:pt x="224955" y="129197"/>
                  </a:lnTo>
                  <a:lnTo>
                    <a:pt x="217284" y="136652"/>
                  </a:lnTo>
                  <a:lnTo>
                    <a:pt x="204520" y="136652"/>
                  </a:lnTo>
                  <a:lnTo>
                    <a:pt x="195376" y="135724"/>
                  </a:lnTo>
                  <a:lnTo>
                    <a:pt x="187223" y="132930"/>
                  </a:lnTo>
                  <a:lnTo>
                    <a:pt x="180035" y="128270"/>
                  </a:lnTo>
                  <a:lnTo>
                    <a:pt x="173812" y="121742"/>
                  </a:lnTo>
                  <a:lnTo>
                    <a:pt x="153365" y="131686"/>
                  </a:lnTo>
                  <a:lnTo>
                    <a:pt x="162052" y="142913"/>
                  </a:lnTo>
                  <a:lnTo>
                    <a:pt x="172859" y="150634"/>
                  </a:lnTo>
                  <a:lnTo>
                    <a:pt x="186067" y="155105"/>
                  </a:lnTo>
                  <a:lnTo>
                    <a:pt x="201930" y="156540"/>
                  </a:lnTo>
                  <a:lnTo>
                    <a:pt x="222072" y="153543"/>
                  </a:lnTo>
                  <a:lnTo>
                    <a:pt x="236435" y="145669"/>
                  </a:lnTo>
                  <a:lnTo>
                    <a:pt x="243395" y="136652"/>
                  </a:lnTo>
                  <a:lnTo>
                    <a:pt x="245033" y="134518"/>
                  </a:lnTo>
                  <a:lnTo>
                    <a:pt x="247904" y="121742"/>
                  </a:lnTo>
                  <a:lnTo>
                    <a:pt x="244424" y="107950"/>
                  </a:lnTo>
                  <a:lnTo>
                    <a:pt x="235445" y="99060"/>
                  </a:lnTo>
                  <a:lnTo>
                    <a:pt x="223126" y="93433"/>
                  </a:lnTo>
                  <a:lnTo>
                    <a:pt x="209600" y="89433"/>
                  </a:lnTo>
                  <a:lnTo>
                    <a:pt x="188823" y="84150"/>
                  </a:lnTo>
                  <a:lnTo>
                    <a:pt x="183362" y="81381"/>
                  </a:lnTo>
                  <a:lnTo>
                    <a:pt x="181483" y="77000"/>
                  </a:lnTo>
                  <a:lnTo>
                    <a:pt x="181610" y="69430"/>
                  </a:lnTo>
                  <a:lnTo>
                    <a:pt x="189166" y="62077"/>
                  </a:lnTo>
                  <a:lnTo>
                    <a:pt x="201930" y="62077"/>
                  </a:lnTo>
                  <a:lnTo>
                    <a:pt x="209499" y="62979"/>
                  </a:lnTo>
                  <a:lnTo>
                    <a:pt x="216598" y="65506"/>
                  </a:lnTo>
                  <a:lnTo>
                    <a:pt x="222758" y="69430"/>
                  </a:lnTo>
                  <a:lnTo>
                    <a:pt x="227457" y="74510"/>
                  </a:lnTo>
                  <a:lnTo>
                    <a:pt x="247904" y="64579"/>
                  </a:lnTo>
                  <a:close/>
                </a:path>
                <a:path w="532130" h="156845">
                  <a:moveTo>
                    <a:pt x="286283" y="47180"/>
                  </a:moveTo>
                  <a:lnTo>
                    <a:pt x="260667" y="47180"/>
                  </a:lnTo>
                  <a:lnTo>
                    <a:pt x="260667" y="154051"/>
                  </a:lnTo>
                  <a:lnTo>
                    <a:pt x="286283" y="154051"/>
                  </a:lnTo>
                  <a:lnTo>
                    <a:pt x="286283" y="47180"/>
                  </a:lnTo>
                  <a:close/>
                </a:path>
                <a:path w="532130" h="156845">
                  <a:moveTo>
                    <a:pt x="288785" y="4927"/>
                  </a:moveTo>
                  <a:lnTo>
                    <a:pt x="283730" y="0"/>
                  </a:lnTo>
                  <a:lnTo>
                    <a:pt x="261518" y="0"/>
                  </a:lnTo>
                  <a:lnTo>
                    <a:pt x="258165" y="4927"/>
                  </a:lnTo>
                  <a:lnTo>
                    <a:pt x="258165" y="22313"/>
                  </a:lnTo>
                  <a:lnTo>
                    <a:pt x="263258" y="29781"/>
                  </a:lnTo>
                  <a:lnTo>
                    <a:pt x="281114" y="29781"/>
                  </a:lnTo>
                  <a:lnTo>
                    <a:pt x="288785" y="22313"/>
                  </a:lnTo>
                  <a:lnTo>
                    <a:pt x="288785" y="4927"/>
                  </a:lnTo>
                  <a:close/>
                </a:path>
                <a:path w="532130" h="156845">
                  <a:moveTo>
                    <a:pt x="414032" y="99377"/>
                  </a:moveTo>
                  <a:lnTo>
                    <a:pt x="409524" y="78244"/>
                  </a:lnTo>
                  <a:lnTo>
                    <a:pt x="399770" y="64579"/>
                  </a:lnTo>
                  <a:lnTo>
                    <a:pt x="397116" y="60845"/>
                  </a:lnTo>
                  <a:lnTo>
                    <a:pt x="391083" y="57023"/>
                  </a:lnTo>
                  <a:lnTo>
                    <a:pt x="391083" y="99377"/>
                  </a:lnTo>
                  <a:lnTo>
                    <a:pt x="388366" y="113195"/>
                  </a:lnTo>
                  <a:lnTo>
                    <a:pt x="380860" y="124231"/>
                  </a:lnTo>
                  <a:lnTo>
                    <a:pt x="369506" y="131521"/>
                  </a:lnTo>
                  <a:lnTo>
                    <a:pt x="355295" y="134162"/>
                  </a:lnTo>
                  <a:lnTo>
                    <a:pt x="342531" y="131521"/>
                  </a:lnTo>
                  <a:lnTo>
                    <a:pt x="331965" y="124231"/>
                  </a:lnTo>
                  <a:lnTo>
                    <a:pt x="324751" y="113195"/>
                  </a:lnTo>
                  <a:lnTo>
                    <a:pt x="322084" y="99377"/>
                  </a:lnTo>
                  <a:lnTo>
                    <a:pt x="324751" y="86588"/>
                  </a:lnTo>
                  <a:lnTo>
                    <a:pt x="331965" y="75450"/>
                  </a:lnTo>
                  <a:lnTo>
                    <a:pt x="342531" y="67564"/>
                  </a:lnTo>
                  <a:lnTo>
                    <a:pt x="355295" y="64579"/>
                  </a:lnTo>
                  <a:lnTo>
                    <a:pt x="369506" y="67564"/>
                  </a:lnTo>
                  <a:lnTo>
                    <a:pt x="380860" y="75450"/>
                  </a:lnTo>
                  <a:lnTo>
                    <a:pt x="388366" y="86588"/>
                  </a:lnTo>
                  <a:lnTo>
                    <a:pt x="391083" y="99377"/>
                  </a:lnTo>
                  <a:lnTo>
                    <a:pt x="391083" y="57023"/>
                  </a:lnTo>
                  <a:lnTo>
                    <a:pt x="378485" y="49034"/>
                  </a:lnTo>
                  <a:lnTo>
                    <a:pt x="355295" y="44678"/>
                  </a:lnTo>
                  <a:lnTo>
                    <a:pt x="333552" y="49034"/>
                  </a:lnTo>
                  <a:lnTo>
                    <a:pt x="315658" y="60845"/>
                  </a:lnTo>
                  <a:lnTo>
                    <a:pt x="303517" y="78244"/>
                  </a:lnTo>
                  <a:lnTo>
                    <a:pt x="299046" y="99377"/>
                  </a:lnTo>
                  <a:lnTo>
                    <a:pt x="303517" y="121932"/>
                  </a:lnTo>
                  <a:lnTo>
                    <a:pt x="315658" y="140068"/>
                  </a:lnTo>
                  <a:lnTo>
                    <a:pt x="333552" y="152146"/>
                  </a:lnTo>
                  <a:lnTo>
                    <a:pt x="355295" y="156540"/>
                  </a:lnTo>
                  <a:lnTo>
                    <a:pt x="378485" y="152146"/>
                  </a:lnTo>
                  <a:lnTo>
                    <a:pt x="397116" y="140068"/>
                  </a:lnTo>
                  <a:lnTo>
                    <a:pt x="401154" y="134162"/>
                  </a:lnTo>
                  <a:lnTo>
                    <a:pt x="409524" y="121932"/>
                  </a:lnTo>
                  <a:lnTo>
                    <a:pt x="414032" y="99377"/>
                  </a:lnTo>
                  <a:close/>
                </a:path>
                <a:path w="532130" h="156845">
                  <a:moveTo>
                    <a:pt x="531596" y="91909"/>
                  </a:moveTo>
                  <a:lnTo>
                    <a:pt x="528370" y="71945"/>
                  </a:lnTo>
                  <a:lnTo>
                    <a:pt x="523786" y="64579"/>
                  </a:lnTo>
                  <a:lnTo>
                    <a:pt x="520700" y="59601"/>
                  </a:lnTo>
                  <a:lnTo>
                    <a:pt x="519150" y="57111"/>
                  </a:lnTo>
                  <a:lnTo>
                    <a:pt x="504672" y="47866"/>
                  </a:lnTo>
                  <a:lnTo>
                    <a:pt x="485622" y="44678"/>
                  </a:lnTo>
                  <a:lnTo>
                    <a:pt x="474637" y="45618"/>
                  </a:lnTo>
                  <a:lnTo>
                    <a:pt x="464845" y="48412"/>
                  </a:lnTo>
                  <a:lnTo>
                    <a:pt x="456501" y="53073"/>
                  </a:lnTo>
                  <a:lnTo>
                    <a:pt x="449821" y="59601"/>
                  </a:lnTo>
                  <a:lnTo>
                    <a:pt x="449821" y="47180"/>
                  </a:lnTo>
                  <a:lnTo>
                    <a:pt x="426796" y="47180"/>
                  </a:lnTo>
                  <a:lnTo>
                    <a:pt x="426796" y="154051"/>
                  </a:lnTo>
                  <a:lnTo>
                    <a:pt x="452412" y="154051"/>
                  </a:lnTo>
                  <a:lnTo>
                    <a:pt x="452412" y="94399"/>
                  </a:lnTo>
                  <a:lnTo>
                    <a:pt x="454279" y="82397"/>
                  </a:lnTo>
                  <a:lnTo>
                    <a:pt x="459740" y="72961"/>
                  </a:lnTo>
                  <a:lnTo>
                    <a:pt x="468566" y="66789"/>
                  </a:lnTo>
                  <a:lnTo>
                    <a:pt x="480529" y="64579"/>
                  </a:lnTo>
                  <a:lnTo>
                    <a:pt x="492061" y="66433"/>
                  </a:lnTo>
                  <a:lnTo>
                    <a:pt x="499999" y="72034"/>
                  </a:lnTo>
                  <a:lnTo>
                    <a:pt x="504583" y="81343"/>
                  </a:lnTo>
                  <a:lnTo>
                    <a:pt x="506069" y="94399"/>
                  </a:lnTo>
                  <a:lnTo>
                    <a:pt x="506069" y="154051"/>
                  </a:lnTo>
                  <a:lnTo>
                    <a:pt x="531596" y="154051"/>
                  </a:lnTo>
                  <a:lnTo>
                    <a:pt x="531596" y="919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8"/>
          <p:cNvGrpSpPr/>
          <p:nvPr/>
        </p:nvGrpSpPr>
        <p:grpSpPr>
          <a:xfrm>
            <a:off x="452944" y="6590369"/>
            <a:ext cx="658495" cy="100330"/>
            <a:chOff x="452944" y="6590369"/>
            <a:chExt cx="658495" cy="100330"/>
          </a:xfrm>
        </p:grpSpPr>
        <p:sp>
          <p:nvSpPr>
            <p:cNvPr id="29" name="object 9"/>
            <p:cNvSpPr/>
            <p:nvPr/>
          </p:nvSpPr>
          <p:spPr>
            <a:xfrm>
              <a:off x="828071" y="6590369"/>
              <a:ext cx="283210" cy="100330"/>
            </a:xfrm>
            <a:custGeom>
              <a:avLst/>
              <a:gdLst/>
              <a:ahLst/>
              <a:cxnLst/>
              <a:rect l="l" t="t" r="r" b="b"/>
              <a:pathLst>
                <a:path w="283209" h="100329">
                  <a:moveTo>
                    <a:pt x="283049" y="29708"/>
                  </a:moveTo>
                  <a:lnTo>
                    <a:pt x="273403" y="29708"/>
                  </a:lnTo>
                  <a:lnTo>
                    <a:pt x="273403" y="55619"/>
                  </a:lnTo>
                  <a:lnTo>
                    <a:pt x="283049" y="55619"/>
                  </a:lnTo>
                  <a:lnTo>
                    <a:pt x="283049" y="29708"/>
                  </a:lnTo>
                  <a:close/>
                </a:path>
                <a:path w="283209" h="100329">
                  <a:moveTo>
                    <a:pt x="264780" y="2413"/>
                  </a:moveTo>
                  <a:lnTo>
                    <a:pt x="255122" y="2413"/>
                  </a:lnTo>
                  <a:lnTo>
                    <a:pt x="255122" y="53891"/>
                  </a:lnTo>
                  <a:lnTo>
                    <a:pt x="264780" y="53891"/>
                  </a:lnTo>
                  <a:lnTo>
                    <a:pt x="264780" y="29708"/>
                  </a:lnTo>
                  <a:lnTo>
                    <a:pt x="283049" y="29708"/>
                  </a:lnTo>
                  <a:lnTo>
                    <a:pt x="283049" y="21070"/>
                  </a:lnTo>
                  <a:lnTo>
                    <a:pt x="264780" y="21070"/>
                  </a:lnTo>
                  <a:lnTo>
                    <a:pt x="264780" y="2413"/>
                  </a:lnTo>
                  <a:close/>
                </a:path>
                <a:path w="283209" h="100329">
                  <a:moveTo>
                    <a:pt x="283049" y="2413"/>
                  </a:moveTo>
                  <a:lnTo>
                    <a:pt x="273403" y="2413"/>
                  </a:lnTo>
                  <a:lnTo>
                    <a:pt x="273403" y="21070"/>
                  </a:lnTo>
                  <a:lnTo>
                    <a:pt x="283049" y="21070"/>
                  </a:lnTo>
                  <a:lnTo>
                    <a:pt x="283049" y="2413"/>
                  </a:lnTo>
                  <a:close/>
                </a:path>
                <a:path w="283209" h="100329">
                  <a:moveTo>
                    <a:pt x="248920" y="59419"/>
                  </a:moveTo>
                  <a:lnTo>
                    <a:pt x="235786" y="60996"/>
                  </a:lnTo>
                  <a:lnTo>
                    <a:pt x="225043" y="65293"/>
                  </a:lnTo>
                  <a:lnTo>
                    <a:pt x="217790" y="71663"/>
                  </a:lnTo>
                  <a:lnTo>
                    <a:pt x="215129" y="79458"/>
                  </a:lnTo>
                  <a:lnTo>
                    <a:pt x="217790" y="87453"/>
                  </a:lnTo>
                  <a:lnTo>
                    <a:pt x="225043" y="93925"/>
                  </a:lnTo>
                  <a:lnTo>
                    <a:pt x="235786" y="98260"/>
                  </a:lnTo>
                  <a:lnTo>
                    <a:pt x="248920" y="99842"/>
                  </a:lnTo>
                  <a:lnTo>
                    <a:pt x="262054" y="98260"/>
                  </a:lnTo>
                  <a:lnTo>
                    <a:pt x="272797" y="93925"/>
                  </a:lnTo>
                  <a:lnTo>
                    <a:pt x="275458" y="91550"/>
                  </a:lnTo>
                  <a:lnTo>
                    <a:pt x="248920" y="91550"/>
                  </a:lnTo>
                  <a:lnTo>
                    <a:pt x="239729" y="90584"/>
                  </a:lnTo>
                  <a:lnTo>
                    <a:pt x="232283" y="87966"/>
                  </a:lnTo>
                  <a:lnTo>
                    <a:pt x="227294" y="84117"/>
                  </a:lnTo>
                  <a:lnTo>
                    <a:pt x="225473" y="79458"/>
                  </a:lnTo>
                  <a:lnTo>
                    <a:pt x="227294" y="74853"/>
                  </a:lnTo>
                  <a:lnTo>
                    <a:pt x="232283" y="71123"/>
                  </a:lnTo>
                  <a:lnTo>
                    <a:pt x="239729" y="68623"/>
                  </a:lnTo>
                  <a:lnTo>
                    <a:pt x="248920" y="67711"/>
                  </a:lnTo>
                  <a:lnTo>
                    <a:pt x="275551" y="67711"/>
                  </a:lnTo>
                  <a:lnTo>
                    <a:pt x="272797" y="65293"/>
                  </a:lnTo>
                  <a:lnTo>
                    <a:pt x="262054" y="60996"/>
                  </a:lnTo>
                  <a:lnTo>
                    <a:pt x="248920" y="59419"/>
                  </a:lnTo>
                  <a:close/>
                </a:path>
                <a:path w="283209" h="100329">
                  <a:moveTo>
                    <a:pt x="275551" y="67711"/>
                  </a:moveTo>
                  <a:lnTo>
                    <a:pt x="248920" y="67711"/>
                  </a:lnTo>
                  <a:lnTo>
                    <a:pt x="258111" y="68623"/>
                  </a:lnTo>
                  <a:lnTo>
                    <a:pt x="265557" y="71123"/>
                  </a:lnTo>
                  <a:lnTo>
                    <a:pt x="270546" y="74853"/>
                  </a:lnTo>
                  <a:lnTo>
                    <a:pt x="272367" y="79458"/>
                  </a:lnTo>
                  <a:lnTo>
                    <a:pt x="270546" y="84117"/>
                  </a:lnTo>
                  <a:lnTo>
                    <a:pt x="265557" y="87966"/>
                  </a:lnTo>
                  <a:lnTo>
                    <a:pt x="258111" y="90584"/>
                  </a:lnTo>
                  <a:lnTo>
                    <a:pt x="248920" y="91550"/>
                  </a:lnTo>
                  <a:lnTo>
                    <a:pt x="275458" y="91550"/>
                  </a:lnTo>
                  <a:lnTo>
                    <a:pt x="280050" y="87453"/>
                  </a:lnTo>
                  <a:lnTo>
                    <a:pt x="282711" y="79458"/>
                  </a:lnTo>
                  <a:lnTo>
                    <a:pt x="280050" y="71663"/>
                  </a:lnTo>
                  <a:lnTo>
                    <a:pt x="275551" y="67711"/>
                  </a:lnTo>
                  <a:close/>
                </a:path>
                <a:path w="283209" h="100329">
                  <a:moveTo>
                    <a:pt x="25157" y="59074"/>
                  </a:moveTo>
                  <a:lnTo>
                    <a:pt x="14824" y="59074"/>
                  </a:lnTo>
                  <a:lnTo>
                    <a:pt x="14824" y="95005"/>
                  </a:lnTo>
                  <a:lnTo>
                    <a:pt x="17233" y="97424"/>
                  </a:lnTo>
                  <a:lnTo>
                    <a:pt x="79986" y="97424"/>
                  </a:lnTo>
                  <a:lnTo>
                    <a:pt x="79986" y="88786"/>
                  </a:lnTo>
                  <a:lnTo>
                    <a:pt x="25157" y="88786"/>
                  </a:lnTo>
                  <a:lnTo>
                    <a:pt x="25157" y="78076"/>
                  </a:lnTo>
                  <a:lnTo>
                    <a:pt x="79986" y="78076"/>
                  </a:lnTo>
                  <a:lnTo>
                    <a:pt x="79986" y="69784"/>
                  </a:lnTo>
                  <a:lnTo>
                    <a:pt x="25157" y="69784"/>
                  </a:lnTo>
                  <a:lnTo>
                    <a:pt x="25157" y="59074"/>
                  </a:lnTo>
                  <a:close/>
                </a:path>
                <a:path w="283209" h="100329">
                  <a:moveTo>
                    <a:pt x="79986" y="78076"/>
                  </a:moveTo>
                  <a:lnTo>
                    <a:pt x="69293" y="78076"/>
                  </a:lnTo>
                  <a:lnTo>
                    <a:pt x="69293" y="88786"/>
                  </a:lnTo>
                  <a:lnTo>
                    <a:pt x="79986" y="88786"/>
                  </a:lnTo>
                  <a:lnTo>
                    <a:pt x="79986" y="78076"/>
                  </a:lnTo>
                  <a:close/>
                </a:path>
                <a:path w="283209" h="100329">
                  <a:moveTo>
                    <a:pt x="79986" y="59074"/>
                  </a:moveTo>
                  <a:lnTo>
                    <a:pt x="69642" y="59074"/>
                  </a:lnTo>
                  <a:lnTo>
                    <a:pt x="69642" y="69784"/>
                  </a:lnTo>
                  <a:lnTo>
                    <a:pt x="79986" y="69784"/>
                  </a:lnTo>
                  <a:lnTo>
                    <a:pt x="79986" y="59074"/>
                  </a:lnTo>
                  <a:close/>
                </a:path>
                <a:path w="283209" h="100329">
                  <a:moveTo>
                    <a:pt x="79986" y="29708"/>
                  </a:moveTo>
                  <a:lnTo>
                    <a:pt x="69642" y="29708"/>
                  </a:lnTo>
                  <a:lnTo>
                    <a:pt x="69642" y="52509"/>
                  </a:lnTo>
                  <a:lnTo>
                    <a:pt x="79986" y="52509"/>
                  </a:lnTo>
                  <a:lnTo>
                    <a:pt x="79986" y="29708"/>
                  </a:lnTo>
                  <a:close/>
                </a:path>
                <a:path w="283209" h="100329">
                  <a:moveTo>
                    <a:pt x="25157" y="2068"/>
                  </a:moveTo>
                  <a:lnTo>
                    <a:pt x="15409" y="3941"/>
                  </a:lnTo>
                  <a:lnTo>
                    <a:pt x="7407" y="9021"/>
                  </a:lnTo>
                  <a:lnTo>
                    <a:pt x="1991" y="16498"/>
                  </a:lnTo>
                  <a:lnTo>
                    <a:pt x="0" y="25561"/>
                  </a:lnTo>
                  <a:lnTo>
                    <a:pt x="1991" y="34571"/>
                  </a:lnTo>
                  <a:lnTo>
                    <a:pt x="7407" y="41929"/>
                  </a:lnTo>
                  <a:lnTo>
                    <a:pt x="15409" y="46890"/>
                  </a:lnTo>
                  <a:lnTo>
                    <a:pt x="25157" y="48709"/>
                  </a:lnTo>
                  <a:lnTo>
                    <a:pt x="33983" y="47295"/>
                  </a:lnTo>
                  <a:lnTo>
                    <a:pt x="41452" y="43354"/>
                  </a:lnTo>
                  <a:lnTo>
                    <a:pt x="43834" y="40763"/>
                  </a:lnTo>
                  <a:lnTo>
                    <a:pt x="17233" y="40763"/>
                  </a:lnTo>
                  <a:lnTo>
                    <a:pt x="10681" y="33853"/>
                  </a:lnTo>
                  <a:lnTo>
                    <a:pt x="10681" y="17270"/>
                  </a:lnTo>
                  <a:lnTo>
                    <a:pt x="17233" y="10360"/>
                  </a:lnTo>
                  <a:lnTo>
                    <a:pt x="43797" y="10360"/>
                  </a:lnTo>
                  <a:lnTo>
                    <a:pt x="41194" y="7553"/>
                  </a:lnTo>
                  <a:lnTo>
                    <a:pt x="33792" y="3531"/>
                  </a:lnTo>
                  <a:lnTo>
                    <a:pt x="25157" y="2068"/>
                  </a:lnTo>
                  <a:close/>
                </a:path>
                <a:path w="283209" h="100329">
                  <a:moveTo>
                    <a:pt x="43797" y="10360"/>
                  </a:moveTo>
                  <a:lnTo>
                    <a:pt x="33442" y="10360"/>
                  </a:lnTo>
                  <a:lnTo>
                    <a:pt x="39993" y="17270"/>
                  </a:lnTo>
                  <a:lnTo>
                    <a:pt x="39993" y="33853"/>
                  </a:lnTo>
                  <a:lnTo>
                    <a:pt x="33442" y="40763"/>
                  </a:lnTo>
                  <a:lnTo>
                    <a:pt x="43834" y="40763"/>
                  </a:lnTo>
                  <a:lnTo>
                    <a:pt x="46981" y="37341"/>
                  </a:lnTo>
                  <a:lnTo>
                    <a:pt x="49988" y="29708"/>
                  </a:lnTo>
                  <a:lnTo>
                    <a:pt x="79986" y="29708"/>
                  </a:lnTo>
                  <a:lnTo>
                    <a:pt x="79986" y="21070"/>
                  </a:lnTo>
                  <a:lnTo>
                    <a:pt x="49988" y="21070"/>
                  </a:lnTo>
                  <a:lnTo>
                    <a:pt x="46786" y="13582"/>
                  </a:lnTo>
                  <a:lnTo>
                    <a:pt x="43797" y="10360"/>
                  </a:lnTo>
                  <a:close/>
                </a:path>
                <a:path w="283209" h="100329">
                  <a:moveTo>
                    <a:pt x="79986" y="2413"/>
                  </a:moveTo>
                  <a:lnTo>
                    <a:pt x="69642" y="2413"/>
                  </a:lnTo>
                  <a:lnTo>
                    <a:pt x="69642" y="21070"/>
                  </a:lnTo>
                  <a:lnTo>
                    <a:pt x="79986" y="21070"/>
                  </a:lnTo>
                  <a:lnTo>
                    <a:pt x="79986" y="2413"/>
                  </a:lnTo>
                  <a:close/>
                </a:path>
                <a:path w="283209" h="100329">
                  <a:moveTo>
                    <a:pt x="123075" y="67021"/>
                  </a:moveTo>
                  <a:lnTo>
                    <a:pt x="112731" y="67021"/>
                  </a:lnTo>
                  <a:lnTo>
                    <a:pt x="112731" y="95005"/>
                  </a:lnTo>
                  <a:lnTo>
                    <a:pt x="115151" y="97424"/>
                  </a:lnTo>
                  <a:lnTo>
                    <a:pt x="180651" y="97424"/>
                  </a:lnTo>
                  <a:lnTo>
                    <a:pt x="180651" y="88786"/>
                  </a:lnTo>
                  <a:lnTo>
                    <a:pt x="123075" y="88786"/>
                  </a:lnTo>
                  <a:lnTo>
                    <a:pt x="123075" y="67021"/>
                  </a:lnTo>
                  <a:close/>
                </a:path>
                <a:path w="283209" h="100329">
                  <a:moveTo>
                    <a:pt x="188238" y="51473"/>
                  </a:moveTo>
                  <a:lnTo>
                    <a:pt x="102049" y="51473"/>
                  </a:lnTo>
                  <a:lnTo>
                    <a:pt x="102049" y="59764"/>
                  </a:lnTo>
                  <a:lnTo>
                    <a:pt x="188238" y="59764"/>
                  </a:lnTo>
                  <a:lnTo>
                    <a:pt x="188238" y="51473"/>
                  </a:lnTo>
                  <a:close/>
                </a:path>
                <a:path w="283209" h="100329">
                  <a:moveTo>
                    <a:pt x="145149" y="0"/>
                  </a:moveTo>
                  <a:lnTo>
                    <a:pt x="131760" y="1694"/>
                  </a:lnTo>
                  <a:lnTo>
                    <a:pt x="120797" y="6302"/>
                  </a:lnTo>
                  <a:lnTo>
                    <a:pt x="113391" y="13113"/>
                  </a:lnTo>
                  <a:lnTo>
                    <a:pt x="110671" y="21415"/>
                  </a:lnTo>
                  <a:lnTo>
                    <a:pt x="113391" y="29918"/>
                  </a:lnTo>
                  <a:lnTo>
                    <a:pt x="120797" y="36833"/>
                  </a:lnTo>
                  <a:lnTo>
                    <a:pt x="131760" y="41481"/>
                  </a:lnTo>
                  <a:lnTo>
                    <a:pt x="145149" y="43181"/>
                  </a:lnTo>
                  <a:lnTo>
                    <a:pt x="158533" y="41481"/>
                  </a:lnTo>
                  <a:lnTo>
                    <a:pt x="169496" y="36833"/>
                  </a:lnTo>
                  <a:lnTo>
                    <a:pt x="171948" y="34544"/>
                  </a:lnTo>
                  <a:lnTo>
                    <a:pt x="145149" y="34544"/>
                  </a:lnTo>
                  <a:lnTo>
                    <a:pt x="135703" y="33513"/>
                  </a:lnTo>
                  <a:lnTo>
                    <a:pt x="128038" y="30701"/>
                  </a:lnTo>
                  <a:lnTo>
                    <a:pt x="122895" y="26528"/>
                  </a:lnTo>
                  <a:lnTo>
                    <a:pt x="121015" y="21415"/>
                  </a:lnTo>
                  <a:lnTo>
                    <a:pt x="122895" y="16303"/>
                  </a:lnTo>
                  <a:lnTo>
                    <a:pt x="128038" y="12130"/>
                  </a:lnTo>
                  <a:lnTo>
                    <a:pt x="135703" y="9318"/>
                  </a:lnTo>
                  <a:lnTo>
                    <a:pt x="145149" y="8286"/>
                  </a:lnTo>
                  <a:lnTo>
                    <a:pt x="171655" y="8286"/>
                  </a:lnTo>
                  <a:lnTo>
                    <a:pt x="169496" y="6302"/>
                  </a:lnTo>
                  <a:lnTo>
                    <a:pt x="158533" y="1694"/>
                  </a:lnTo>
                  <a:lnTo>
                    <a:pt x="145149" y="0"/>
                  </a:lnTo>
                  <a:close/>
                </a:path>
                <a:path w="283209" h="100329">
                  <a:moveTo>
                    <a:pt x="171655" y="8286"/>
                  </a:moveTo>
                  <a:lnTo>
                    <a:pt x="145149" y="8286"/>
                  </a:lnTo>
                  <a:lnTo>
                    <a:pt x="154590" y="9318"/>
                  </a:lnTo>
                  <a:lnTo>
                    <a:pt x="162255" y="12130"/>
                  </a:lnTo>
                  <a:lnTo>
                    <a:pt x="167401" y="16303"/>
                  </a:lnTo>
                  <a:lnTo>
                    <a:pt x="169282" y="21415"/>
                  </a:lnTo>
                  <a:lnTo>
                    <a:pt x="167401" y="26528"/>
                  </a:lnTo>
                  <a:lnTo>
                    <a:pt x="162255" y="30701"/>
                  </a:lnTo>
                  <a:lnTo>
                    <a:pt x="154590" y="33513"/>
                  </a:lnTo>
                  <a:lnTo>
                    <a:pt x="145149" y="34544"/>
                  </a:lnTo>
                  <a:lnTo>
                    <a:pt x="171948" y="34544"/>
                  </a:lnTo>
                  <a:lnTo>
                    <a:pt x="176905" y="29918"/>
                  </a:lnTo>
                  <a:lnTo>
                    <a:pt x="179627" y="21415"/>
                  </a:lnTo>
                  <a:lnTo>
                    <a:pt x="176905" y="13113"/>
                  </a:lnTo>
                  <a:lnTo>
                    <a:pt x="171655" y="8286"/>
                  </a:lnTo>
                  <a:close/>
                </a:path>
              </a:pathLst>
            </a:custGeom>
            <a:solidFill>
              <a:srgbClr val="0036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944" y="6592782"/>
              <a:ext cx="362710" cy="95010"/>
            </a:xfrm>
            <a:prstGeom prst="rect">
              <a:avLst/>
            </a:prstGeom>
          </p:spPr>
        </p:pic>
      </p:grpSp>
      <p:grpSp>
        <p:nvGrpSpPr>
          <p:cNvPr id="31" name="object 11"/>
          <p:cNvGrpSpPr/>
          <p:nvPr/>
        </p:nvGrpSpPr>
        <p:grpSpPr>
          <a:xfrm>
            <a:off x="281942" y="6578272"/>
            <a:ext cx="144780" cy="128270"/>
            <a:chOff x="281942" y="6578272"/>
            <a:chExt cx="144780" cy="128270"/>
          </a:xfrm>
        </p:grpSpPr>
        <p:pic>
          <p:nvPicPr>
            <p:cNvPr id="3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942" y="6595201"/>
              <a:ext cx="77919" cy="110902"/>
            </a:xfrm>
            <a:prstGeom prst="rect">
              <a:avLst/>
            </a:prstGeom>
          </p:spPr>
        </p:pic>
        <p:pic>
          <p:nvPicPr>
            <p:cNvPr id="3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8139" y="6578272"/>
              <a:ext cx="78263" cy="110556"/>
            </a:xfrm>
            <a:prstGeom prst="rect">
              <a:avLst/>
            </a:prstGeom>
          </p:spPr>
        </p:pic>
      </p:grpSp>
      <p:sp>
        <p:nvSpPr>
          <p:cNvPr id="34" name="object 14"/>
          <p:cNvSpPr/>
          <p:nvPr/>
        </p:nvSpPr>
        <p:spPr>
          <a:xfrm>
            <a:off x="1029411" y="6591746"/>
            <a:ext cx="46990" cy="52069"/>
          </a:xfrm>
          <a:custGeom>
            <a:avLst/>
            <a:gdLst/>
            <a:ahLst/>
            <a:cxnLst/>
            <a:rect l="l" t="t" r="r" b="b"/>
            <a:pathLst>
              <a:path w="46990" h="52070">
                <a:moveTo>
                  <a:pt x="37922" y="16583"/>
                </a:moveTo>
                <a:lnTo>
                  <a:pt x="8971" y="16583"/>
                </a:lnTo>
                <a:lnTo>
                  <a:pt x="8622" y="16929"/>
                </a:lnTo>
                <a:lnTo>
                  <a:pt x="4142" y="20729"/>
                </a:lnTo>
                <a:lnTo>
                  <a:pt x="1722" y="25911"/>
                </a:lnTo>
                <a:lnTo>
                  <a:pt x="1722" y="31439"/>
                </a:lnTo>
                <a:lnTo>
                  <a:pt x="3419" y="39235"/>
                </a:lnTo>
                <a:lnTo>
                  <a:pt x="8059" y="45604"/>
                </a:lnTo>
                <a:lnTo>
                  <a:pt x="14961" y="49901"/>
                </a:lnTo>
                <a:lnTo>
                  <a:pt x="23446" y="51477"/>
                </a:lnTo>
                <a:lnTo>
                  <a:pt x="31730" y="49901"/>
                </a:lnTo>
                <a:lnTo>
                  <a:pt x="38528" y="45604"/>
                </a:lnTo>
                <a:lnTo>
                  <a:pt x="40025" y="43532"/>
                </a:lnTo>
                <a:lnTo>
                  <a:pt x="16895" y="43532"/>
                </a:lnTo>
                <a:lnTo>
                  <a:pt x="11729" y="37659"/>
                </a:lnTo>
                <a:lnTo>
                  <a:pt x="11729" y="23839"/>
                </a:lnTo>
                <a:lnTo>
                  <a:pt x="16895" y="18311"/>
                </a:lnTo>
                <a:lnTo>
                  <a:pt x="39900" y="18311"/>
                </a:lnTo>
                <a:lnTo>
                  <a:pt x="38271" y="16929"/>
                </a:lnTo>
                <a:lnTo>
                  <a:pt x="37922" y="16583"/>
                </a:lnTo>
                <a:close/>
              </a:path>
              <a:path w="46990" h="52070">
                <a:moveTo>
                  <a:pt x="39900" y="18311"/>
                </a:moveTo>
                <a:lnTo>
                  <a:pt x="29998" y="18311"/>
                </a:lnTo>
                <a:lnTo>
                  <a:pt x="35164" y="23839"/>
                </a:lnTo>
                <a:lnTo>
                  <a:pt x="35164" y="37659"/>
                </a:lnTo>
                <a:lnTo>
                  <a:pt x="29998" y="43532"/>
                </a:lnTo>
                <a:lnTo>
                  <a:pt x="40025" y="43532"/>
                </a:lnTo>
                <a:lnTo>
                  <a:pt x="43130" y="39235"/>
                </a:lnTo>
                <a:lnTo>
                  <a:pt x="44822" y="31439"/>
                </a:lnTo>
                <a:lnTo>
                  <a:pt x="44822" y="25911"/>
                </a:lnTo>
                <a:lnTo>
                  <a:pt x="42751" y="20729"/>
                </a:lnTo>
                <a:lnTo>
                  <a:pt x="39900" y="18311"/>
                </a:lnTo>
                <a:close/>
              </a:path>
              <a:path w="46990" h="52070">
                <a:moveTo>
                  <a:pt x="46544" y="8291"/>
                </a:moveTo>
                <a:lnTo>
                  <a:pt x="0" y="8291"/>
                </a:lnTo>
                <a:lnTo>
                  <a:pt x="0" y="16583"/>
                </a:lnTo>
                <a:lnTo>
                  <a:pt x="46544" y="16583"/>
                </a:lnTo>
                <a:lnTo>
                  <a:pt x="46544" y="8291"/>
                </a:lnTo>
                <a:close/>
              </a:path>
              <a:path w="46990" h="52070">
                <a:moveTo>
                  <a:pt x="28613" y="0"/>
                </a:moveTo>
                <a:lnTo>
                  <a:pt x="18280" y="0"/>
                </a:lnTo>
                <a:lnTo>
                  <a:pt x="18280" y="8291"/>
                </a:lnTo>
                <a:lnTo>
                  <a:pt x="28613" y="8291"/>
                </a:lnTo>
                <a:lnTo>
                  <a:pt x="28613" y="0"/>
                </a:lnTo>
                <a:close/>
              </a:path>
            </a:pathLst>
          </a:custGeom>
          <a:solidFill>
            <a:srgbClr val="00367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15"/>
          <p:cNvGrpSpPr/>
          <p:nvPr/>
        </p:nvGrpSpPr>
        <p:grpSpPr>
          <a:xfrm>
            <a:off x="6072251" y="6608038"/>
            <a:ext cx="2298065" cy="78740"/>
            <a:chOff x="6072251" y="6608038"/>
            <a:chExt cx="2298065" cy="78740"/>
          </a:xfrm>
        </p:grpSpPr>
        <p:pic>
          <p:nvPicPr>
            <p:cNvPr id="3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72251" y="6609930"/>
              <a:ext cx="436372" cy="76276"/>
            </a:xfrm>
            <a:prstGeom prst="rect">
              <a:avLst/>
            </a:prstGeom>
          </p:spPr>
        </p:pic>
        <p:pic>
          <p:nvPicPr>
            <p:cNvPr id="3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43802" y="6608038"/>
              <a:ext cx="1826132" cy="78168"/>
            </a:xfrm>
            <a:prstGeom prst="rect">
              <a:avLst/>
            </a:prstGeom>
          </p:spPr>
        </p:pic>
      </p:grpSp>
      <p:pic>
        <p:nvPicPr>
          <p:cNvPr id="3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85640" y="6584005"/>
            <a:ext cx="1144122" cy="94990"/>
          </a:xfrm>
          <a:prstGeom prst="rect">
            <a:avLst/>
          </a:prstGeom>
        </p:spPr>
      </p:pic>
      <p:sp>
        <p:nvSpPr>
          <p:cNvPr id="40" name="object 20"/>
          <p:cNvSpPr txBox="1">
            <a:spLocks/>
          </p:cNvSpPr>
          <p:nvPr/>
        </p:nvSpPr>
        <p:spPr>
          <a:xfrm>
            <a:off x="1072997" y="1985594"/>
            <a:ext cx="3103245" cy="10111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 b="0" i="0">
                <a:solidFill>
                  <a:schemeClr val="tx1"/>
                </a:solidFill>
                <a:latin typeface="KDB고딕R_Pro"/>
                <a:ea typeface="+mj-ea"/>
                <a:cs typeface="KDB고딕R_Pro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9pPr>
          </a:lstStyle>
          <a:p>
            <a:pPr marL="12700" marR="5080">
              <a:spcBef>
                <a:spcPts val="105"/>
              </a:spcBef>
            </a:pPr>
            <a:r>
              <a:rPr lang="en-US" altLang="ko-KR" sz="3200" kern="0" dirty="0" smtClean="0">
                <a:latin typeface="맑은 고딕"/>
                <a:cs typeface="맑은 고딕"/>
              </a:rPr>
              <a:t>ESSO </a:t>
            </a:r>
          </a:p>
          <a:p>
            <a:pPr marL="12700" marR="5080">
              <a:spcBef>
                <a:spcPts val="105"/>
              </a:spcBef>
            </a:pPr>
            <a:r>
              <a:rPr lang="ko-KR" altLang="en-US" sz="3200" kern="0" dirty="0" smtClean="0">
                <a:latin typeface="맑은 고딕"/>
                <a:cs typeface="맑은 고딕"/>
              </a:rPr>
              <a:t>연동 가이드</a:t>
            </a:r>
            <a:endParaRPr lang="ko-KR" altLang="en-US" sz="3200" kern="0" dirty="0">
              <a:latin typeface="맑은 고딕"/>
              <a:cs typeface="맑은 고딕"/>
            </a:endParaRPr>
          </a:p>
        </p:txBody>
      </p:sp>
      <p:sp>
        <p:nvSpPr>
          <p:cNvPr id="41" name="object 19"/>
          <p:cNvSpPr txBox="1"/>
          <p:nvPr/>
        </p:nvSpPr>
        <p:spPr>
          <a:xfrm>
            <a:off x="887374" y="3602228"/>
            <a:ext cx="3228975" cy="14670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lang="en-US" sz="1900" dirty="0" smtClean="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lang="en-US" sz="1900" dirty="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r>
              <a:rPr lang="en-US" sz="1900" dirty="0" smtClean="0">
                <a:latin typeface="맑은 고딕"/>
                <a:cs typeface="맑은 고딕"/>
              </a:rPr>
              <a:t>                              V.1.4</a:t>
            </a: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lang="en-US" sz="19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spc="-5" dirty="0" smtClean="0">
                <a:solidFill>
                  <a:srgbClr val="7E7E7E"/>
                </a:solidFill>
                <a:latin typeface="맑은 고딕"/>
                <a:cs typeface="맑은 고딕"/>
              </a:rPr>
              <a:t>202</a:t>
            </a:r>
            <a:r>
              <a:rPr lang="en-US" sz="1600" spc="-5" dirty="0" smtClean="0">
                <a:solidFill>
                  <a:srgbClr val="7E7E7E"/>
                </a:solidFill>
                <a:latin typeface="맑은 고딕"/>
                <a:cs typeface="맑은 고딕"/>
              </a:rPr>
              <a:t>2</a:t>
            </a:r>
            <a:r>
              <a:rPr sz="1600" spc="-5" dirty="0" smtClean="0">
                <a:solidFill>
                  <a:srgbClr val="7E7E7E"/>
                </a:solidFill>
                <a:latin typeface="맑은 고딕"/>
                <a:cs typeface="맑은 고딕"/>
              </a:rPr>
              <a:t>. </a:t>
            </a:r>
            <a:r>
              <a:rPr sz="1600" spc="-10" dirty="0">
                <a:solidFill>
                  <a:srgbClr val="7E7E7E"/>
                </a:solidFill>
                <a:latin typeface="맑은 고딕"/>
                <a:cs typeface="맑은 고딕"/>
              </a:rPr>
              <a:t>10</a:t>
            </a:r>
            <a:endParaRPr sz="1600" dirty="0">
              <a:latin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6079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5"/>
          <p:cNvSpPr>
            <a:spLocks noGrp="1"/>
          </p:cNvSpPr>
          <p:nvPr>
            <p:ph type="title"/>
          </p:nvPr>
        </p:nvSpPr>
        <p:spPr>
          <a:xfrm>
            <a:off x="270751" y="323582"/>
            <a:ext cx="9274082" cy="274638"/>
          </a:xfrm>
          <a:prstGeom prst="rect">
            <a:avLst/>
          </a:prstGeom>
        </p:spPr>
        <p:txBody>
          <a:bodyPr/>
          <a:lstStyle/>
          <a:p>
            <a:pPr algn="ctr">
              <a:tabLst>
                <a:tab pos="3048000" algn="l"/>
              </a:tabLst>
            </a:pPr>
            <a:r>
              <a:rPr lang="ko-KR" altLang="en-US" dirty="0" smtClean="0"/>
              <a:t>재</a:t>
            </a:r>
            <a:r>
              <a:rPr lang="en-US" altLang="ko-KR" dirty="0" smtClean="0"/>
              <a:t>∙</a:t>
            </a:r>
            <a:r>
              <a:rPr lang="ko-KR" altLang="en-US" dirty="0" smtClean="0"/>
              <a:t>개정 이력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Group 8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233536"/>
              </p:ext>
            </p:extLst>
          </p:nvPr>
        </p:nvGraphicFramePr>
        <p:xfrm>
          <a:off x="452438" y="829096"/>
          <a:ext cx="8964611" cy="1920611"/>
        </p:xfrm>
        <a:graphic>
          <a:graphicData uri="http://schemas.openxmlformats.org/drawingml/2006/table">
            <a:tbl>
              <a:tblPr/>
              <a:tblGrid>
                <a:gridCol w="58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92">
                  <a:extLst>
                    <a:ext uri="{9D8B030D-6E8A-4147-A177-3AD203B41FA5}">
                      <a16:colId xmlns:a16="http://schemas.microsoft.com/office/drawing/2014/main" val="2228472768"/>
                    </a:ext>
                  </a:extLst>
                </a:gridCol>
                <a:gridCol w="789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3121783298"/>
                    </a:ext>
                  </a:extLst>
                </a:gridCol>
                <a:gridCol w="4037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5063">
                  <a:extLst>
                    <a:ext uri="{9D8B030D-6E8A-4147-A177-3AD203B41FA5}">
                      <a16:colId xmlns:a16="http://schemas.microsoft.com/office/drawing/2014/main" val="3062000171"/>
                    </a:ext>
                  </a:extLst>
                </a:gridCol>
                <a:gridCol w="1127977">
                  <a:extLst>
                    <a:ext uri="{9D8B030D-6E8A-4147-A177-3AD203B41FA5}">
                      <a16:colId xmlns:a16="http://schemas.microsoft.com/office/drawing/2014/main" val="802190642"/>
                    </a:ext>
                  </a:extLst>
                </a:gridCol>
                <a:gridCol w="503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버전</a:t>
                      </a: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변경일</a:t>
                      </a: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구분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변경 내역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작성자</a:t>
                      </a: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소속</a:t>
                      </a: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직위</a:t>
                      </a: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v0.6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17.12.20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최초 작성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임정훈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펜타시스템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책임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v1.0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18.01.16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KDB 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통합로그인 개념도 추가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임정훈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펜타시스템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책임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v1.1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18.02.22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SSO 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인증서버 주소 </a:t>
                      </a: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DNS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체계로 변경</a:t>
                      </a: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반영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임정훈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펜타시스템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책임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v1.2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18.05.08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SSO </a:t>
                      </a:r>
                      <a:r>
                        <a:rPr kumimoji="1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통신불능 및 에러상황 적용방법</a:t>
                      </a:r>
                      <a:r>
                        <a:rPr kumimoji="1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추가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임정훈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펜타시스템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책임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v1.3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18.06.25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SSO </a:t>
                      </a:r>
                      <a:r>
                        <a:rPr kumimoji="1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연동전 사전 확인사항</a:t>
                      </a:r>
                      <a:r>
                        <a:rPr kumimoji="1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추가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임정훈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펜타시스템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책임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v1.4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22.10.19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인사이동으로 인한 부서</a:t>
                      </a: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팀 변경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유상수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보안인프라팀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수석</a:t>
                      </a: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0" marR="91420" marT="45729" marB="457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408949"/>
                  </a:ext>
                </a:extLst>
              </a:tr>
            </a:tbl>
          </a:graphicData>
        </a:graphic>
      </p:graphicFrame>
      <p:sp>
        <p:nvSpPr>
          <p:cNvPr id="5" name="직사각형 1"/>
          <p:cNvSpPr>
            <a:spLocks noChangeArrowheads="1"/>
          </p:cNvSpPr>
          <p:nvPr/>
        </p:nvSpPr>
        <p:spPr bwMode="auto">
          <a:xfrm>
            <a:off x="381000" y="2921000"/>
            <a:ext cx="4953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sz="13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ctr">
              <a:defRPr sz="13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ctr">
              <a:defRPr sz="13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ctr">
              <a:defRPr sz="13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ctr">
              <a:defRPr sz="13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ko-KR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구분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검토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 → 추가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 중 선택 기입</a:t>
            </a:r>
          </a:p>
          <a:p>
            <a:pPr algn="l"/>
            <a:r>
              <a:rPr lang="ko-KR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※ 변경내용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변경된 위치와 변경내용을 기록</a:t>
            </a:r>
            <a:endParaRPr lang="ko-KR" altLang="en-US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223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5"/>
          <p:cNvSpPr>
            <a:spLocks noGrp="1"/>
          </p:cNvSpPr>
          <p:nvPr>
            <p:ph type="title"/>
          </p:nvPr>
        </p:nvSpPr>
        <p:spPr>
          <a:xfrm>
            <a:off x="431446" y="409349"/>
            <a:ext cx="9274082" cy="274638"/>
          </a:xfrm>
          <a:prstGeom prst="rect">
            <a:avLst/>
          </a:prstGeom>
        </p:spPr>
        <p:txBody>
          <a:bodyPr/>
          <a:lstStyle/>
          <a:p>
            <a:pPr>
              <a:tabLst>
                <a:tab pos="3048000" algn="l"/>
              </a:tabLst>
            </a:pPr>
            <a:r>
              <a:rPr lang="ko-KR" altLang="en-US" dirty="0" smtClean="0">
                <a:solidFill>
                  <a:schemeClr val="tx1"/>
                </a:solidFill>
              </a:rPr>
              <a:t>목차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내용 개체 틀 5"/>
          <p:cNvSpPr>
            <a:spLocks noGrp="1"/>
          </p:cNvSpPr>
          <p:nvPr/>
        </p:nvSpPr>
        <p:spPr>
          <a:xfrm>
            <a:off x="949580" y="692696"/>
            <a:ext cx="3715388" cy="5688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54000" algn="l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4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860425" indent="-285750" algn="l" defTabSz="803275" rtl="0" eaLnBrk="0" fontAlgn="base" latinLnBrk="0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1076325" indent="-179388" algn="l" rtl="0" eaLnBrk="0" fontAlgn="base" latinLnBrk="0" hangingPunct="0">
              <a:spcBef>
                <a:spcPts val="300"/>
              </a:spcBef>
              <a:spcAft>
                <a:spcPct val="0"/>
              </a:spcAft>
              <a:buFont typeface="맑은 고딕" panose="020B0503020000020004" pitchFamily="50" charset="-127"/>
              <a:buChar char="－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1255713" indent="-179388" algn="l" rtl="0" eaLnBrk="0" fontAlgn="base" latinLnBrk="1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>
              <a:lnSpc>
                <a:spcPct val="34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ko-KR" sz="1600" dirty="0" smtClean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altLang="ko-KR" sz="1600" dirty="0">
                <a:solidFill>
                  <a:prstClr val="black"/>
                </a:solidFill>
              </a:rPr>
              <a:t>1. </a:t>
            </a:r>
            <a:r>
              <a:rPr lang="ko-KR" altLang="en-US" sz="1600" dirty="0">
                <a:solidFill>
                  <a:prstClr val="black"/>
                </a:solidFill>
              </a:rPr>
              <a:t>개요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ko-KR" dirty="0" smtClean="0">
                <a:solidFill>
                  <a:prstClr val="black"/>
                </a:solidFill>
              </a:rPr>
              <a:t>    1.1 KDB </a:t>
            </a:r>
            <a:r>
              <a:rPr lang="ko-KR" altLang="en-US" dirty="0" smtClean="0">
                <a:solidFill>
                  <a:prstClr val="black"/>
                </a:solidFill>
              </a:rPr>
              <a:t>통합로그인</a:t>
            </a:r>
            <a:r>
              <a:rPr lang="en-US" altLang="ko-KR" dirty="0" smtClean="0">
                <a:solidFill>
                  <a:prstClr val="black"/>
                </a:solidFill>
              </a:rPr>
              <a:t>(SSO) </a:t>
            </a:r>
            <a:r>
              <a:rPr lang="ko-KR" altLang="en-US" dirty="0" smtClean="0">
                <a:solidFill>
                  <a:prstClr val="black"/>
                </a:solidFill>
              </a:rPr>
              <a:t>개념도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</a:rPr>
              <a:t>   1.2 </a:t>
            </a:r>
            <a:r>
              <a:rPr lang="en-US" altLang="ko-KR" dirty="0"/>
              <a:t>SSO</a:t>
            </a:r>
            <a:r>
              <a:rPr lang="ko-KR" altLang="en-US" dirty="0"/>
              <a:t> 적용을 위한 업무간 </a:t>
            </a:r>
            <a:r>
              <a:rPr lang="en-US" altLang="ko-KR" dirty="0" smtClean="0"/>
              <a:t>R&amp;R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ko-KR" dirty="0" smtClean="0">
                <a:solidFill>
                  <a:prstClr val="black"/>
                </a:solidFill>
              </a:rPr>
              <a:t>    1.3 </a:t>
            </a:r>
            <a:r>
              <a:rPr lang="en-US" altLang="ko-KR" dirty="0">
                <a:solidFill>
                  <a:prstClr val="black"/>
                </a:solidFill>
              </a:rPr>
              <a:t>ESSO </a:t>
            </a:r>
            <a:r>
              <a:rPr lang="ko-KR" altLang="en-US" dirty="0">
                <a:solidFill>
                  <a:prstClr val="black"/>
                </a:solidFill>
              </a:rPr>
              <a:t>솔루션 </a:t>
            </a:r>
            <a:r>
              <a:rPr lang="ko-KR" altLang="en-US" dirty="0" smtClean="0">
                <a:solidFill>
                  <a:prstClr val="black"/>
                </a:solidFill>
              </a:rPr>
              <a:t>구성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ko-KR" dirty="0" smtClean="0">
                <a:solidFill>
                  <a:prstClr val="black"/>
                </a:solidFill>
              </a:rPr>
              <a:t>    1.4 SSO Agent </a:t>
            </a:r>
            <a:r>
              <a:rPr lang="ko-KR" altLang="en-US" dirty="0" smtClean="0">
                <a:solidFill>
                  <a:prstClr val="black"/>
                </a:solidFill>
              </a:rPr>
              <a:t>지원 </a:t>
            </a:r>
            <a:r>
              <a:rPr lang="ko-KR" altLang="en-US" dirty="0">
                <a:solidFill>
                  <a:prstClr val="black"/>
                </a:solidFill>
              </a:rPr>
              <a:t>환경</a:t>
            </a:r>
            <a:endParaRPr lang="en-US" altLang="ko-KR" dirty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ko-KR" sz="1600" dirty="0" smtClean="0">
                <a:solidFill>
                  <a:prstClr val="black"/>
                </a:solidFill>
              </a:rPr>
              <a:t>2. </a:t>
            </a:r>
            <a:r>
              <a:rPr lang="ko-KR" altLang="en-US" sz="1600" dirty="0" smtClean="0">
                <a:solidFill>
                  <a:prstClr val="black"/>
                </a:solidFill>
              </a:rPr>
              <a:t>동작 </a:t>
            </a:r>
            <a:r>
              <a:rPr lang="ko-KR" altLang="en-US" sz="1600" dirty="0">
                <a:solidFill>
                  <a:prstClr val="black"/>
                </a:solidFill>
              </a:rPr>
              <a:t>흐름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ko-KR" altLang="en-US" dirty="0">
                <a:solidFill>
                  <a:prstClr val="black"/>
                </a:solidFill>
              </a:rPr>
              <a:t>  </a:t>
            </a:r>
            <a:r>
              <a:rPr lang="ko-KR" altLang="en-US" dirty="0" smtClean="0">
                <a:solidFill>
                  <a:prstClr val="black"/>
                </a:solidFill>
              </a:rPr>
              <a:t>  </a:t>
            </a:r>
            <a:r>
              <a:rPr lang="en-US" altLang="ko-KR" dirty="0" smtClean="0">
                <a:solidFill>
                  <a:prstClr val="black"/>
                </a:solidFill>
              </a:rPr>
              <a:t>2.1 </a:t>
            </a:r>
            <a:r>
              <a:rPr lang="ko-KR" altLang="en-US" dirty="0">
                <a:solidFill>
                  <a:prstClr val="black"/>
                </a:solidFill>
              </a:rPr>
              <a:t>로그인 흐름도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ko-KR" altLang="en-US" dirty="0">
                <a:solidFill>
                  <a:prstClr val="black"/>
                </a:solidFill>
              </a:rPr>
              <a:t>   </a:t>
            </a:r>
            <a:r>
              <a:rPr lang="ko-KR" altLang="en-US" dirty="0" smtClean="0">
                <a:solidFill>
                  <a:prstClr val="black"/>
                </a:solidFill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</a:rPr>
              <a:t>2.2 </a:t>
            </a:r>
            <a:r>
              <a:rPr lang="ko-KR" altLang="en-US" dirty="0" smtClean="0">
                <a:solidFill>
                  <a:prstClr val="black"/>
                </a:solidFill>
              </a:rPr>
              <a:t>업무 연동 흐름도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ko-KR" sz="1600" dirty="0" smtClean="0">
                <a:solidFill>
                  <a:prstClr val="black"/>
                </a:solidFill>
              </a:rPr>
              <a:t>3. WEB </a:t>
            </a:r>
            <a:r>
              <a:rPr lang="ko-KR" altLang="en-US" sz="1600" dirty="0" smtClean="0">
                <a:solidFill>
                  <a:prstClr val="black"/>
                </a:solidFill>
              </a:rPr>
              <a:t>방식 </a:t>
            </a:r>
            <a:r>
              <a:rPr lang="en-US" altLang="ko-KR" sz="1600" dirty="0" smtClean="0">
                <a:solidFill>
                  <a:prstClr val="black"/>
                </a:solidFill>
              </a:rPr>
              <a:t>SSO </a:t>
            </a:r>
            <a:r>
              <a:rPr lang="en-US" altLang="ko-KR" sz="1600" dirty="0">
                <a:solidFill>
                  <a:prstClr val="black"/>
                </a:solidFill>
              </a:rPr>
              <a:t>Agent </a:t>
            </a:r>
            <a:r>
              <a:rPr lang="ko-KR" altLang="en-US" sz="1600" dirty="0" smtClean="0">
                <a:solidFill>
                  <a:prstClr val="black"/>
                </a:solidFill>
              </a:rPr>
              <a:t>적용 방법</a:t>
            </a:r>
            <a:endParaRPr lang="ko-KR" altLang="en-US" sz="1600" dirty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ko-KR" altLang="en-US" dirty="0">
                <a:solidFill>
                  <a:prstClr val="black"/>
                </a:solidFill>
              </a:rPr>
              <a:t>  </a:t>
            </a:r>
            <a:r>
              <a:rPr lang="ko-KR" altLang="en-US" dirty="0" smtClean="0">
                <a:solidFill>
                  <a:prstClr val="black"/>
                </a:solidFill>
              </a:rPr>
              <a:t>  </a:t>
            </a:r>
            <a:r>
              <a:rPr lang="en-US" altLang="ko-KR" dirty="0" smtClean="0">
                <a:solidFill>
                  <a:prstClr val="black"/>
                </a:solidFill>
              </a:rPr>
              <a:t>3.1 </a:t>
            </a:r>
            <a:r>
              <a:rPr lang="ko-KR" altLang="en-US" dirty="0" smtClean="0">
                <a:solidFill>
                  <a:prstClr val="black"/>
                </a:solidFill>
              </a:rPr>
              <a:t>적용파일 </a:t>
            </a:r>
            <a:r>
              <a:rPr lang="ko-KR" altLang="en-US" dirty="0">
                <a:solidFill>
                  <a:prstClr val="black"/>
                </a:solidFill>
              </a:rPr>
              <a:t>구성</a:t>
            </a:r>
            <a:endParaRPr lang="en-US" altLang="ko-KR" dirty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ko-KR" dirty="0">
                <a:solidFill>
                  <a:prstClr val="black"/>
                </a:solidFill>
              </a:rPr>
              <a:t>    </a:t>
            </a:r>
            <a:r>
              <a:rPr lang="en-US" altLang="ko-KR" dirty="0" smtClean="0">
                <a:solidFill>
                  <a:prstClr val="black"/>
                </a:solidFill>
              </a:rPr>
              <a:t>3.2 </a:t>
            </a:r>
            <a:r>
              <a:rPr lang="en-US" altLang="ko-KR" dirty="0">
                <a:solidFill>
                  <a:prstClr val="black"/>
                </a:solidFill>
              </a:rPr>
              <a:t>Agent </a:t>
            </a:r>
            <a:r>
              <a:rPr lang="ko-KR" altLang="en-US" dirty="0" smtClean="0">
                <a:solidFill>
                  <a:prstClr val="black"/>
                </a:solidFill>
              </a:rPr>
              <a:t>설치 및 적용 </a:t>
            </a:r>
            <a:r>
              <a:rPr lang="ko-KR" altLang="en-US" dirty="0">
                <a:solidFill>
                  <a:prstClr val="black"/>
                </a:solidFill>
              </a:rPr>
              <a:t>절차</a:t>
            </a:r>
            <a:endParaRPr lang="en-US" altLang="ko-KR" dirty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ko-KR" dirty="0">
                <a:solidFill>
                  <a:prstClr val="black"/>
                </a:solidFill>
              </a:rPr>
              <a:t>    </a:t>
            </a:r>
            <a:r>
              <a:rPr lang="en-US" altLang="ko-KR" dirty="0" smtClean="0">
                <a:solidFill>
                  <a:prstClr val="black"/>
                </a:solidFill>
              </a:rPr>
              <a:t>3.3 </a:t>
            </a:r>
            <a:r>
              <a:rPr lang="ko-KR" altLang="en-US" dirty="0">
                <a:solidFill>
                  <a:prstClr val="black"/>
                </a:solidFill>
              </a:rPr>
              <a:t>소스 수정</a:t>
            </a:r>
            <a:endParaRPr lang="en-US" altLang="ko-KR" dirty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ko-KR" dirty="0">
                <a:solidFill>
                  <a:prstClr val="black"/>
                </a:solidFill>
              </a:rPr>
              <a:t>    </a:t>
            </a:r>
            <a:r>
              <a:rPr lang="en-US" altLang="ko-KR" dirty="0" smtClean="0">
                <a:solidFill>
                  <a:prstClr val="black"/>
                </a:solidFill>
              </a:rPr>
              <a:t>3.4 </a:t>
            </a:r>
            <a:r>
              <a:rPr lang="ko-KR" altLang="en-US" dirty="0" smtClean="0">
                <a:solidFill>
                  <a:prstClr val="black"/>
                </a:solidFill>
              </a:rPr>
              <a:t>연동테스트 </a:t>
            </a:r>
            <a:r>
              <a:rPr lang="ko-KR" altLang="en-US" smtClean="0">
                <a:solidFill>
                  <a:prstClr val="black"/>
                </a:solidFill>
              </a:rPr>
              <a:t>확인 방법</a:t>
            </a:r>
            <a:endParaRPr lang="en-US" altLang="ko-KR" smtClean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ko-KR">
                <a:solidFill>
                  <a:prstClr val="black"/>
                </a:solidFill>
              </a:rPr>
              <a:t> </a:t>
            </a:r>
            <a:r>
              <a:rPr lang="en-US" altLang="ko-KR" smtClean="0">
                <a:solidFill>
                  <a:prstClr val="black"/>
                </a:solidFill>
              </a:rPr>
              <a:t>   3.5 SSO </a:t>
            </a:r>
            <a:r>
              <a:rPr lang="ko-KR" altLang="en-US" smtClean="0">
                <a:solidFill>
                  <a:prstClr val="black"/>
                </a:solidFill>
              </a:rPr>
              <a:t>통신불능 및 에러상황 적용방법</a:t>
            </a:r>
            <a:endParaRPr lang="en-US" altLang="ko-KR" smtClean="0">
              <a:solidFill>
                <a:prstClr val="black"/>
              </a:solidFill>
            </a:endParaRPr>
          </a:p>
        </p:txBody>
      </p:sp>
      <p:sp>
        <p:nvSpPr>
          <p:cNvPr id="6" name="내용 개체 틀 5"/>
          <p:cNvSpPr>
            <a:spLocks noGrp="1"/>
          </p:cNvSpPr>
          <p:nvPr/>
        </p:nvSpPr>
        <p:spPr>
          <a:xfrm>
            <a:off x="5414076" y="692696"/>
            <a:ext cx="3715388" cy="5688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54000" algn="l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4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860425" indent="-285750" algn="l" defTabSz="803275" rtl="0" eaLnBrk="0" fontAlgn="base" latinLnBrk="0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1076325" indent="-179388" algn="l" rtl="0" eaLnBrk="0" fontAlgn="base" latinLnBrk="0" hangingPunct="0">
              <a:spcBef>
                <a:spcPts val="300"/>
              </a:spcBef>
              <a:spcAft>
                <a:spcPct val="0"/>
              </a:spcAft>
              <a:buFont typeface="맑은 고딕" panose="020B0503020000020004" pitchFamily="50" charset="-127"/>
              <a:buChar char="－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1255713" indent="-179388" algn="l" rtl="0" eaLnBrk="0" fontAlgn="base" latinLnBrk="1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>
              <a:lnSpc>
                <a:spcPct val="34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ko-KR" sz="1600" dirty="0" smtClean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altLang="ko-KR" sz="1600" dirty="0" smtClean="0">
                <a:solidFill>
                  <a:prstClr val="black"/>
                </a:solidFill>
              </a:rPr>
              <a:t>4. CS </a:t>
            </a:r>
            <a:r>
              <a:rPr lang="ko-KR" altLang="en-US" sz="1600" dirty="0" smtClean="0">
                <a:solidFill>
                  <a:prstClr val="black"/>
                </a:solidFill>
              </a:rPr>
              <a:t>방식 </a:t>
            </a:r>
            <a:r>
              <a:rPr lang="en-US" altLang="ko-KR" sz="1600" dirty="0" smtClean="0">
                <a:solidFill>
                  <a:prstClr val="black"/>
                </a:solidFill>
              </a:rPr>
              <a:t>SSO </a:t>
            </a:r>
            <a:r>
              <a:rPr lang="en-US" altLang="ko-KR" sz="1600" dirty="0">
                <a:solidFill>
                  <a:prstClr val="black"/>
                </a:solidFill>
              </a:rPr>
              <a:t>Agent </a:t>
            </a:r>
            <a:r>
              <a:rPr lang="ko-KR" altLang="en-US" sz="1600" dirty="0" smtClean="0">
                <a:solidFill>
                  <a:prstClr val="black"/>
                </a:solidFill>
              </a:rPr>
              <a:t>적용 방법</a:t>
            </a:r>
            <a:endParaRPr lang="ko-KR" altLang="en-US" sz="1600" dirty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ko-KR" altLang="en-US" dirty="0">
                <a:solidFill>
                  <a:prstClr val="black"/>
                </a:solidFill>
              </a:rPr>
              <a:t>  </a:t>
            </a:r>
            <a:r>
              <a:rPr lang="ko-KR" altLang="en-US" dirty="0" smtClean="0">
                <a:solidFill>
                  <a:prstClr val="black"/>
                </a:solidFill>
              </a:rPr>
              <a:t>  </a:t>
            </a:r>
            <a:r>
              <a:rPr lang="en-US" altLang="ko-KR" dirty="0" smtClean="0">
                <a:solidFill>
                  <a:prstClr val="black"/>
                </a:solidFill>
              </a:rPr>
              <a:t>4.1 </a:t>
            </a:r>
            <a:r>
              <a:rPr lang="ko-KR" altLang="en-US" dirty="0" smtClean="0">
                <a:solidFill>
                  <a:prstClr val="black"/>
                </a:solidFill>
              </a:rPr>
              <a:t>적용파일 </a:t>
            </a:r>
            <a:r>
              <a:rPr lang="ko-KR" altLang="en-US" dirty="0">
                <a:solidFill>
                  <a:prstClr val="black"/>
                </a:solidFill>
              </a:rPr>
              <a:t>구성</a:t>
            </a:r>
            <a:endParaRPr lang="en-US" altLang="ko-KR" dirty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ko-KR" dirty="0">
                <a:solidFill>
                  <a:prstClr val="black"/>
                </a:solidFill>
              </a:rPr>
              <a:t>    </a:t>
            </a:r>
            <a:r>
              <a:rPr lang="en-US" altLang="ko-KR" dirty="0" smtClean="0">
                <a:solidFill>
                  <a:prstClr val="black"/>
                </a:solidFill>
              </a:rPr>
              <a:t>4.2 </a:t>
            </a:r>
            <a:r>
              <a:rPr lang="en-US" altLang="ko-KR" dirty="0">
                <a:solidFill>
                  <a:prstClr val="black"/>
                </a:solidFill>
              </a:rPr>
              <a:t>Agent </a:t>
            </a:r>
            <a:r>
              <a:rPr lang="ko-KR" altLang="en-US" dirty="0" smtClean="0">
                <a:solidFill>
                  <a:prstClr val="black"/>
                </a:solidFill>
              </a:rPr>
              <a:t>설치 및 적용 </a:t>
            </a:r>
            <a:r>
              <a:rPr lang="ko-KR" altLang="en-US" dirty="0">
                <a:solidFill>
                  <a:prstClr val="black"/>
                </a:solidFill>
              </a:rPr>
              <a:t>절차</a:t>
            </a:r>
            <a:endParaRPr lang="en-US" altLang="ko-KR" dirty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ko-KR" dirty="0">
                <a:solidFill>
                  <a:prstClr val="black"/>
                </a:solidFill>
              </a:rPr>
              <a:t>    </a:t>
            </a:r>
            <a:r>
              <a:rPr lang="en-US" altLang="ko-KR" dirty="0" smtClean="0">
                <a:solidFill>
                  <a:prstClr val="black"/>
                </a:solidFill>
              </a:rPr>
              <a:t>4.3 </a:t>
            </a:r>
            <a:r>
              <a:rPr lang="ko-KR" altLang="en-US" dirty="0">
                <a:solidFill>
                  <a:prstClr val="black"/>
                </a:solidFill>
              </a:rPr>
              <a:t>소스 수정</a:t>
            </a:r>
            <a:endParaRPr lang="en-US" altLang="ko-KR" dirty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ko-KR" dirty="0">
                <a:solidFill>
                  <a:prstClr val="black"/>
                </a:solidFill>
              </a:rPr>
              <a:t>    </a:t>
            </a:r>
            <a:r>
              <a:rPr lang="en-US" altLang="ko-KR" dirty="0" smtClean="0">
                <a:solidFill>
                  <a:prstClr val="black"/>
                </a:solidFill>
              </a:rPr>
              <a:t>4.4 </a:t>
            </a:r>
            <a:r>
              <a:rPr lang="ko-KR" altLang="en-US" dirty="0" smtClean="0">
                <a:solidFill>
                  <a:prstClr val="black"/>
                </a:solidFill>
              </a:rPr>
              <a:t>연동테스트 </a:t>
            </a:r>
            <a:r>
              <a:rPr lang="ko-KR" altLang="en-US" smtClean="0">
                <a:solidFill>
                  <a:prstClr val="black"/>
                </a:solidFill>
              </a:rPr>
              <a:t>확인 방법</a:t>
            </a:r>
            <a:endParaRPr lang="en-US" altLang="ko-KR" smtClean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ko-KR" sz="1600" smtClean="0">
                <a:solidFill>
                  <a:prstClr val="black"/>
                </a:solidFill>
              </a:rPr>
              <a:t>5. SSO </a:t>
            </a:r>
            <a:r>
              <a:rPr lang="ko-KR" altLang="en-US" sz="1600" smtClean="0">
                <a:solidFill>
                  <a:prstClr val="black"/>
                </a:solidFill>
              </a:rPr>
              <a:t>연동전 사전 확인사항</a:t>
            </a:r>
            <a:endParaRPr lang="en-US" altLang="ko-KR" sz="16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11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15"/>
          <p:cNvSpPr/>
          <p:nvPr/>
        </p:nvSpPr>
        <p:spPr bwMode="gray">
          <a:xfrm>
            <a:off x="411037" y="4167677"/>
            <a:ext cx="9076131" cy="221365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txBody>
          <a:bodyPr wrap="square" lIns="36000" tIns="36000" rIns="36000" bIns="36000" anchor="ctr" anchorCtr="0">
            <a:noAutofit/>
          </a:bodyPr>
          <a:lstStyle/>
          <a:p>
            <a:pPr marL="92075" latinLnBrk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en-US" altLang="ko-KR" sz="1200" b="1" dirty="0" smtClean="0">
                <a:latin typeface="+mn-ea"/>
                <a:ea typeface="+mn-ea"/>
              </a:rPr>
              <a:t>1. </a:t>
            </a:r>
            <a:r>
              <a:rPr lang="ko-KR" altLang="en-US" sz="1200" b="1" dirty="0" smtClean="0">
                <a:latin typeface="+mn-ea"/>
                <a:ea typeface="+mn-ea"/>
              </a:rPr>
              <a:t>통합계정권한관리</a:t>
            </a:r>
            <a:r>
              <a:rPr lang="en-US" altLang="ko-KR" sz="1200" b="1" dirty="0" smtClean="0">
                <a:latin typeface="+mn-ea"/>
                <a:ea typeface="+mn-ea"/>
              </a:rPr>
              <a:t>(</a:t>
            </a:r>
            <a:r>
              <a:rPr lang="en-US" altLang="ko-KR" sz="1200" b="1" dirty="0">
                <a:latin typeface="+mn-ea"/>
                <a:ea typeface="+mn-ea"/>
              </a:rPr>
              <a:t>IAM</a:t>
            </a:r>
            <a:r>
              <a:rPr lang="en-US" altLang="ko-KR" sz="1200" b="1" dirty="0" smtClean="0">
                <a:latin typeface="+mn-ea"/>
                <a:ea typeface="+mn-ea"/>
              </a:rPr>
              <a:t>)</a:t>
            </a:r>
            <a:r>
              <a:rPr lang="ko-KR" altLang="en-US" sz="1200" b="1" dirty="0" smtClean="0">
                <a:latin typeface="+mn-ea"/>
                <a:ea typeface="+mn-ea"/>
              </a:rPr>
              <a:t>를 통하여 </a:t>
            </a:r>
            <a:r>
              <a:rPr lang="ko-KR" altLang="en-US" sz="1200" b="1" dirty="0">
                <a:latin typeface="+mn-ea"/>
                <a:ea typeface="+mn-ea"/>
              </a:rPr>
              <a:t>사전에 통합 </a:t>
            </a:r>
            <a:r>
              <a:rPr lang="ko-KR" altLang="en-US" sz="1200" b="1" dirty="0" smtClean="0">
                <a:latin typeface="+mn-ea"/>
                <a:ea typeface="+mn-ea"/>
              </a:rPr>
              <a:t>계정정보</a:t>
            </a:r>
            <a:r>
              <a:rPr lang="en-US" altLang="ko-KR" sz="1200" b="1" dirty="0">
                <a:latin typeface="+mn-ea"/>
                <a:ea typeface="+mn-ea"/>
              </a:rPr>
              <a:t>(ID/PW </a:t>
            </a:r>
            <a:r>
              <a:rPr lang="ko-KR" altLang="en-US" sz="1200" b="1" dirty="0">
                <a:latin typeface="+mn-ea"/>
                <a:ea typeface="+mn-ea"/>
              </a:rPr>
              <a:t>등</a:t>
            </a:r>
            <a:r>
              <a:rPr lang="en-US" altLang="ko-KR" sz="1200" b="1" dirty="0">
                <a:latin typeface="+mn-ea"/>
                <a:ea typeface="+mn-ea"/>
              </a:rPr>
              <a:t>)</a:t>
            </a:r>
            <a:r>
              <a:rPr lang="ko-KR" altLang="en-US" sz="1200" b="1" dirty="0">
                <a:latin typeface="+mn-ea"/>
                <a:ea typeface="+mn-ea"/>
              </a:rPr>
              <a:t>를 프로비저닝 </a:t>
            </a:r>
            <a:r>
              <a:rPr lang="ko-KR" altLang="en-US" sz="1200" b="1" dirty="0" smtClean="0">
                <a:latin typeface="+mn-ea"/>
                <a:ea typeface="+mn-ea"/>
              </a:rPr>
              <a:t>받음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marL="92075" latinLnBrk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en-US" altLang="ko-KR" sz="1200" b="1" dirty="0">
                <a:latin typeface="+mn-ea"/>
                <a:ea typeface="+mn-ea"/>
              </a:rPr>
              <a:t> </a:t>
            </a:r>
            <a:r>
              <a:rPr lang="en-US" altLang="ko-KR" sz="1200" b="1" dirty="0" smtClean="0">
                <a:latin typeface="+mn-ea"/>
                <a:ea typeface="+mn-ea"/>
              </a:rPr>
              <a:t>   ☞ </a:t>
            </a:r>
            <a:r>
              <a:rPr lang="ko-KR" altLang="en-US" sz="1200" b="1" dirty="0" smtClean="0">
                <a:latin typeface="+mn-ea"/>
                <a:ea typeface="+mn-ea"/>
              </a:rPr>
              <a:t>통합로그인</a:t>
            </a:r>
            <a:r>
              <a:rPr lang="en-US" altLang="ko-KR" sz="1200" b="1" dirty="0" smtClean="0">
                <a:latin typeface="+mn-ea"/>
                <a:ea typeface="+mn-ea"/>
              </a:rPr>
              <a:t>(</a:t>
            </a:r>
            <a:r>
              <a:rPr lang="en-US" altLang="ko-KR" sz="1200" b="1" dirty="0">
                <a:latin typeface="+mn-ea"/>
                <a:ea typeface="+mn-ea"/>
              </a:rPr>
              <a:t>SSO)</a:t>
            </a:r>
            <a:r>
              <a:rPr lang="ko-KR" altLang="en-US" sz="1200" b="1" dirty="0">
                <a:latin typeface="+mn-ea"/>
                <a:ea typeface="+mn-ea"/>
              </a:rPr>
              <a:t>을 적용하는 모든 업무</a:t>
            </a:r>
            <a:r>
              <a:rPr lang="en-US" altLang="ko-KR" sz="1200" b="1" dirty="0">
                <a:latin typeface="+mn-ea"/>
                <a:ea typeface="+mn-ea"/>
              </a:rPr>
              <a:t>(</a:t>
            </a:r>
            <a:r>
              <a:rPr lang="ko-KR" altLang="en-US" sz="1200" b="1" dirty="0">
                <a:latin typeface="+mn-ea"/>
                <a:ea typeface="+mn-ea"/>
              </a:rPr>
              <a:t>시스템</a:t>
            </a:r>
            <a:r>
              <a:rPr lang="en-US" altLang="ko-KR" sz="1200" b="1" dirty="0">
                <a:latin typeface="+mn-ea"/>
                <a:ea typeface="+mn-ea"/>
              </a:rPr>
              <a:t>)</a:t>
            </a:r>
            <a:r>
              <a:rPr lang="ko-KR" altLang="en-US" sz="1200" b="1" dirty="0">
                <a:latin typeface="+mn-ea"/>
                <a:ea typeface="+mn-ea"/>
              </a:rPr>
              <a:t>의 사용자계정은 동일 </a:t>
            </a:r>
            <a:r>
              <a:rPr lang="en-US" altLang="ko-KR" sz="1200" b="1" dirty="0">
                <a:latin typeface="+mn-ea"/>
                <a:ea typeface="+mn-ea"/>
              </a:rPr>
              <a:t>ID/PW</a:t>
            </a:r>
            <a:r>
              <a:rPr lang="ko-KR" altLang="en-US" sz="1200" b="1" dirty="0"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latin typeface="+mn-ea"/>
                <a:ea typeface="+mn-ea"/>
              </a:rPr>
              <a:t>사용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marL="92075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en-US" altLang="ko-KR" sz="1200" b="1" dirty="0" smtClean="0">
                <a:latin typeface="+mn-ea"/>
                <a:ea typeface="+mn-ea"/>
              </a:rPr>
              <a:t>2. PC</a:t>
            </a:r>
            <a:r>
              <a:rPr lang="ko-KR" altLang="en-US" sz="1200" b="1" dirty="0" smtClean="0">
                <a:latin typeface="+mn-ea"/>
                <a:ea typeface="+mn-ea"/>
              </a:rPr>
              <a:t>통합인증 </a:t>
            </a:r>
            <a:r>
              <a:rPr lang="ko-KR" altLang="en-US" sz="1200" b="1" dirty="0">
                <a:latin typeface="+mn-ea"/>
                <a:ea typeface="+mn-ea"/>
              </a:rPr>
              <a:t>실행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  <a:ea typeface="+mn-ea"/>
              </a:rPr>
              <a:t>(Windows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ea typeface="+mn-ea"/>
              </a:rPr>
              <a:t>로그인 단계에서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  <a:ea typeface="+mn-ea"/>
              </a:rPr>
              <a:t>SSO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ea typeface="+mn-ea"/>
              </a:rPr>
              <a:t>로그인이 시작됨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</a:p>
          <a:p>
            <a:pPr marL="92075" latinLnBrk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ko-KR" altLang="en-US" sz="1200" b="1" dirty="0"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latin typeface="+mn-ea"/>
                <a:ea typeface="+mn-ea"/>
              </a:rPr>
              <a:t>  </a:t>
            </a:r>
            <a:r>
              <a:rPr lang="en-US" altLang="ko-KR" sz="1200" b="1" dirty="0" smtClean="0">
                <a:latin typeface="+mn-ea"/>
                <a:ea typeface="+mn-ea"/>
              </a:rPr>
              <a:t>☞ </a:t>
            </a:r>
            <a:r>
              <a:rPr lang="ko-KR" altLang="en-US" sz="1200" b="1" dirty="0" smtClean="0">
                <a:latin typeface="+mn-ea"/>
                <a:ea typeface="+mn-ea"/>
              </a:rPr>
              <a:t>사용자 </a:t>
            </a:r>
            <a:r>
              <a:rPr lang="ko-KR" altLang="en-US" sz="1200" b="1" dirty="0">
                <a:latin typeface="+mn-ea"/>
                <a:ea typeface="+mn-ea"/>
              </a:rPr>
              <a:t>인증 </a:t>
            </a:r>
            <a:r>
              <a:rPr lang="ko-KR" altLang="en-US" sz="1200" b="1" dirty="0" smtClean="0">
                <a:latin typeface="+mn-ea"/>
                <a:ea typeface="+mn-ea"/>
              </a:rPr>
              <a:t>방식 </a:t>
            </a:r>
            <a:r>
              <a:rPr lang="en-US" altLang="ko-KR" sz="1200" b="1" dirty="0">
                <a:latin typeface="+mn-ea"/>
                <a:ea typeface="+mn-ea"/>
              </a:rPr>
              <a:t>: </a:t>
            </a:r>
            <a:r>
              <a:rPr lang="en-US" altLang="ko-KR" sz="1200" b="1" dirty="0" smtClean="0">
                <a:latin typeface="+mn-ea"/>
                <a:ea typeface="+mn-ea"/>
              </a:rPr>
              <a:t>ID/(PW) + PKI, FIDO, MOTP </a:t>
            </a:r>
            <a:r>
              <a:rPr lang="ko-KR" altLang="en-US" sz="1200" b="1" dirty="0" smtClean="0">
                <a:latin typeface="+mn-ea"/>
                <a:ea typeface="+mn-ea"/>
              </a:rPr>
              <a:t>중 선택 사용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marL="92075" latinLnBrk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en-US" altLang="ko-KR" sz="1200" b="1" dirty="0">
                <a:latin typeface="+mn-ea"/>
                <a:ea typeface="+mn-ea"/>
              </a:rPr>
              <a:t> </a:t>
            </a:r>
            <a:r>
              <a:rPr lang="en-US" altLang="ko-KR" sz="1200" b="1" dirty="0" smtClean="0">
                <a:latin typeface="+mn-ea"/>
                <a:ea typeface="+mn-ea"/>
              </a:rPr>
              <a:t>  ☞ </a:t>
            </a:r>
            <a:r>
              <a:rPr lang="ko-KR" altLang="en-US" sz="1200" b="1" dirty="0" smtClean="0">
                <a:latin typeface="+mn-ea"/>
                <a:ea typeface="+mn-ea"/>
              </a:rPr>
              <a:t>사용자 비밀번호</a:t>
            </a:r>
            <a:r>
              <a:rPr lang="en-US" altLang="ko-KR" sz="1200" b="1" dirty="0" smtClean="0">
                <a:latin typeface="+mn-ea"/>
                <a:ea typeface="+mn-ea"/>
              </a:rPr>
              <a:t>(PW)</a:t>
            </a:r>
            <a:r>
              <a:rPr lang="ko-KR" altLang="en-US" sz="1200" b="1" dirty="0" smtClean="0">
                <a:latin typeface="+mn-ea"/>
                <a:ea typeface="+mn-ea"/>
              </a:rPr>
              <a:t>는 </a:t>
            </a:r>
            <a:r>
              <a:rPr lang="ko-KR" altLang="en-US" sz="1200" b="1" dirty="0">
                <a:latin typeface="+mn-ea"/>
                <a:ea typeface="+mn-ea"/>
              </a:rPr>
              <a:t>입력여부와 관계 없이 비밀번호 관리 정책</a:t>
            </a:r>
            <a:r>
              <a:rPr lang="en-US" altLang="ko-KR" sz="1200" b="1" dirty="0">
                <a:latin typeface="+mn-ea"/>
                <a:ea typeface="+mn-ea"/>
              </a:rPr>
              <a:t>(</a:t>
            </a:r>
            <a:r>
              <a:rPr lang="ko-KR" altLang="en-US" sz="1200" b="1" dirty="0">
                <a:latin typeface="+mn-ea"/>
                <a:ea typeface="+mn-ea"/>
              </a:rPr>
              <a:t>초기비밀번호</a:t>
            </a:r>
            <a:r>
              <a:rPr lang="en-US" altLang="ko-KR" sz="1200" b="1" dirty="0">
                <a:latin typeface="+mn-ea"/>
                <a:ea typeface="+mn-ea"/>
              </a:rPr>
              <a:t>, </a:t>
            </a:r>
            <a:r>
              <a:rPr lang="ko-KR" altLang="en-US" sz="1200" b="1" dirty="0">
                <a:latin typeface="+mn-ea"/>
                <a:ea typeface="+mn-ea"/>
              </a:rPr>
              <a:t>변경기일 등</a:t>
            </a:r>
            <a:r>
              <a:rPr lang="en-US" altLang="ko-KR" sz="1200" b="1" dirty="0" smtClean="0">
                <a:latin typeface="+mn-ea"/>
                <a:ea typeface="+mn-ea"/>
              </a:rPr>
              <a:t>)</a:t>
            </a:r>
            <a:r>
              <a:rPr lang="ko-KR" altLang="en-US" sz="1200" b="1" dirty="0" smtClean="0">
                <a:latin typeface="+mn-ea"/>
                <a:ea typeface="+mn-ea"/>
              </a:rPr>
              <a:t>을 </a:t>
            </a:r>
            <a:r>
              <a:rPr lang="ko-KR" altLang="en-US" sz="1200" b="1" dirty="0">
                <a:latin typeface="+mn-ea"/>
                <a:ea typeface="+mn-ea"/>
              </a:rPr>
              <a:t>동일하게 </a:t>
            </a:r>
            <a:r>
              <a:rPr lang="ko-KR" altLang="en-US" sz="1200" b="1" dirty="0" smtClean="0">
                <a:latin typeface="+mn-ea"/>
                <a:ea typeface="+mn-ea"/>
              </a:rPr>
              <a:t>검증</a:t>
            </a:r>
            <a:r>
              <a:rPr lang="en-US" altLang="ko-KR" sz="1200" b="1" dirty="0" smtClean="0">
                <a:latin typeface="+mn-ea"/>
                <a:ea typeface="+mn-ea"/>
              </a:rPr>
              <a:t>/</a:t>
            </a:r>
            <a:r>
              <a:rPr lang="ko-KR" altLang="en-US" sz="1200" b="1" dirty="0" smtClean="0">
                <a:latin typeface="+mn-ea"/>
                <a:ea typeface="+mn-ea"/>
              </a:rPr>
              <a:t>확인함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marL="92075" latinLnBrk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en-US" altLang="ko-KR" sz="1200" b="1" dirty="0" smtClean="0">
                <a:latin typeface="+mn-ea"/>
                <a:ea typeface="+mn-ea"/>
              </a:rPr>
              <a:t>3. PC</a:t>
            </a:r>
            <a:r>
              <a:rPr lang="ko-KR" altLang="en-US" sz="1200" b="1" dirty="0" smtClean="0">
                <a:latin typeface="+mn-ea"/>
                <a:ea typeface="+mn-ea"/>
              </a:rPr>
              <a:t>통합로그인</a:t>
            </a:r>
            <a:r>
              <a:rPr lang="en-US" altLang="ko-KR" sz="1200" b="1" dirty="0" smtClean="0">
                <a:latin typeface="+mn-ea"/>
                <a:ea typeface="+mn-ea"/>
              </a:rPr>
              <a:t> </a:t>
            </a:r>
            <a:r>
              <a:rPr lang="ko-KR" altLang="en-US" sz="1200" b="1" dirty="0">
                <a:latin typeface="+mn-ea"/>
                <a:ea typeface="+mn-ea"/>
              </a:rPr>
              <a:t>성공시 통합단말</a:t>
            </a:r>
            <a:r>
              <a:rPr lang="en-US" altLang="ko-KR" sz="1200" b="1" dirty="0">
                <a:latin typeface="+mn-ea"/>
                <a:ea typeface="+mn-ea"/>
              </a:rPr>
              <a:t>(K_IBOS) </a:t>
            </a:r>
            <a:r>
              <a:rPr lang="ko-KR" altLang="en-US" sz="1200" b="1" dirty="0">
                <a:latin typeface="+mn-ea"/>
                <a:ea typeface="+mn-ea"/>
              </a:rPr>
              <a:t>시스템이 자동</a:t>
            </a:r>
            <a:r>
              <a:rPr lang="en-US" altLang="ko-KR" sz="1200" b="1" dirty="0">
                <a:latin typeface="+mn-ea"/>
                <a:ea typeface="+mn-ea"/>
              </a:rPr>
              <a:t> 로그인(SSO)</a:t>
            </a:r>
            <a:r>
              <a:rPr lang="ko-KR" altLang="en-US" sz="1200" b="1" dirty="0">
                <a:latin typeface="+mn-ea"/>
                <a:ea typeface="+mn-ea"/>
              </a:rPr>
              <a:t>됨</a:t>
            </a:r>
            <a:endParaRPr lang="en-US" altLang="ko-KR" sz="1200" b="1" dirty="0">
              <a:latin typeface="+mn-ea"/>
              <a:ea typeface="+mn-ea"/>
            </a:endParaRPr>
          </a:p>
          <a:p>
            <a:pPr marL="92075" latinLnBrk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en-US" altLang="ko-KR" sz="1200" b="1" dirty="0" smtClean="0">
                <a:latin typeface="+mn-ea"/>
                <a:ea typeface="+mn-ea"/>
              </a:rPr>
              <a:t>4. </a:t>
            </a:r>
            <a:r>
              <a:rPr lang="ko-KR" altLang="en-US" sz="1200" b="1" dirty="0" smtClean="0">
                <a:latin typeface="+mn-ea"/>
                <a:ea typeface="+mn-ea"/>
              </a:rPr>
              <a:t>이후 </a:t>
            </a:r>
            <a:r>
              <a:rPr lang="en-US" altLang="ko-KR" sz="1200" b="1" dirty="0">
                <a:latin typeface="+mn-ea"/>
                <a:ea typeface="+mn-ea"/>
              </a:rPr>
              <a:t>SSO </a:t>
            </a:r>
            <a:r>
              <a:rPr lang="ko-KR" altLang="en-US" sz="1200" b="1" dirty="0">
                <a:latin typeface="+mn-ea"/>
                <a:ea typeface="+mn-ea"/>
              </a:rPr>
              <a:t>적용된 개별 업무</a:t>
            </a:r>
            <a:r>
              <a:rPr lang="en-US" altLang="ko-KR" sz="1200" b="1" dirty="0">
                <a:latin typeface="+mn-ea"/>
                <a:ea typeface="+mn-ea"/>
              </a:rPr>
              <a:t>(</a:t>
            </a:r>
            <a:r>
              <a:rPr lang="ko-KR" altLang="en-US" sz="1200" b="1" dirty="0">
                <a:latin typeface="+mn-ea"/>
                <a:ea typeface="+mn-ea"/>
              </a:rPr>
              <a:t>시스템</a:t>
            </a:r>
            <a:r>
              <a:rPr lang="en-US" altLang="ko-KR" sz="1200" b="1" dirty="0"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latin typeface="+mn-ea"/>
                <a:ea typeface="+mn-ea"/>
              </a:rPr>
              <a:t>접근시에도 </a:t>
            </a:r>
            <a:r>
              <a:rPr lang="ko-KR" altLang="en-US" sz="1200" b="1" dirty="0">
                <a:latin typeface="+mn-ea"/>
                <a:ea typeface="+mn-ea"/>
              </a:rPr>
              <a:t>별도 로그인 </a:t>
            </a:r>
            <a:r>
              <a:rPr lang="en-US" altLang="ko-KR" sz="1200" b="1" dirty="0">
                <a:latin typeface="+mn-ea"/>
                <a:ea typeface="+mn-ea"/>
              </a:rPr>
              <a:t>없이 </a:t>
            </a:r>
            <a:r>
              <a:rPr lang="ko-KR" altLang="en-US" sz="1200" b="1" dirty="0">
                <a:latin typeface="+mn-ea"/>
                <a:ea typeface="+mn-ea"/>
              </a:rPr>
              <a:t>자동</a:t>
            </a:r>
            <a:r>
              <a:rPr lang="en-US" altLang="ko-KR" sz="1200" b="1" dirty="0">
                <a:latin typeface="+mn-ea"/>
                <a:ea typeface="+mn-ea"/>
              </a:rPr>
              <a:t> 로그인(SSO)</a:t>
            </a:r>
          </a:p>
          <a:p>
            <a:pPr marL="92075" latinLnBrk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☞</a:t>
            </a:r>
            <a:r>
              <a:rPr lang="en-US" altLang="ko-KR" sz="1200" b="1" dirty="0" smtClean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단</a:t>
            </a:r>
            <a:r>
              <a:rPr lang="en-US" altLang="ko-KR" sz="1200" b="1" dirty="0" smtClean="0">
                <a:solidFill>
                  <a:srgbClr val="FF0000"/>
                </a:solidFill>
                <a:latin typeface="+mn-ea"/>
                <a:ea typeface="+mn-ea"/>
              </a:rPr>
              <a:t>, ESSO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  <a:ea typeface="+mn-ea"/>
              </a:rPr>
              <a:t>시스템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  <a:ea typeface="+mn-ea"/>
              </a:rPr>
              <a:t>장애 시에는 </a:t>
            </a:r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업무 연속성을 위해 접근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  <a:ea typeface="+mn-ea"/>
              </a:rPr>
              <a:t>시스템별로 개별 로그인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  <a:ea typeface="+mn-ea"/>
              </a:rPr>
              <a:t>(ID/PW)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  <a:ea typeface="+mn-ea"/>
              </a:rPr>
              <a:t>이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  <a:ea typeface="+mn-ea"/>
              </a:rPr>
              <a:t>필요함</a:t>
            </a:r>
          </a:p>
        </p:txBody>
      </p:sp>
      <p:sp>
        <p:nvSpPr>
          <p:cNvPr id="86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dirty="0" smtClean="0"/>
              <a:t>1.1 KDB </a:t>
            </a:r>
            <a:r>
              <a:rPr lang="ko-KR" altLang="en-US" dirty="0" smtClean="0"/>
              <a:t>통합로그인</a:t>
            </a:r>
            <a:r>
              <a:rPr lang="en-US" altLang="ko-KR" dirty="0" smtClean="0"/>
              <a:t>(SSO) </a:t>
            </a:r>
            <a:r>
              <a:rPr lang="ko-KR" altLang="en-US" dirty="0" smtClean="0"/>
              <a:t>개념도</a:t>
            </a:r>
            <a:endParaRPr lang="ko-KR" altLang="en-US" dirty="0"/>
          </a:p>
        </p:txBody>
      </p:sp>
      <p:sp>
        <p:nvSpPr>
          <p:cNvPr id="87" name="직사각형 86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1.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개요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88" name="내용 개체 틀 2"/>
          <p:cNvSpPr>
            <a:spLocks noGrp="1"/>
          </p:cNvSpPr>
          <p:nvPr>
            <p:ph idx="4294967295"/>
          </p:nvPr>
        </p:nvSpPr>
        <p:spPr>
          <a:xfrm>
            <a:off x="384561" y="797867"/>
            <a:ext cx="8927837" cy="543319"/>
          </a:xfrm>
        </p:spPr>
        <p:txBody>
          <a:bodyPr>
            <a:normAutofit/>
          </a:bodyPr>
          <a:lstStyle/>
          <a:p>
            <a:r>
              <a:rPr lang="en-US" altLang="ko-KR" spc="-50" dirty="0" smtClean="0"/>
              <a:t>PC</a:t>
            </a:r>
            <a:r>
              <a:rPr lang="ko-KR" altLang="en-US" spc="-50" dirty="0" smtClean="0"/>
              <a:t>통합인증으로 로그인 후</a:t>
            </a:r>
            <a:r>
              <a:rPr lang="en-US" altLang="ko-KR" spc="-50" dirty="0" smtClean="0"/>
              <a:t>, SSO Agent</a:t>
            </a:r>
            <a:r>
              <a:rPr lang="ko-KR" altLang="en-US" spc="-50" dirty="0" smtClean="0"/>
              <a:t>를 이용하여 업무시스템</a:t>
            </a:r>
            <a:r>
              <a:rPr lang="en-US" altLang="ko-KR" spc="-50" dirty="0" smtClean="0"/>
              <a:t> </a:t>
            </a:r>
            <a:r>
              <a:rPr lang="ko-KR" altLang="en-US" spc="-50" dirty="0" smtClean="0"/>
              <a:t>연동</a:t>
            </a:r>
            <a:endParaRPr lang="en-US" altLang="ko-KR" dirty="0" smtClean="0"/>
          </a:p>
        </p:txBody>
      </p:sp>
      <p:grpSp>
        <p:nvGrpSpPr>
          <p:cNvPr id="2" name="그룹 1"/>
          <p:cNvGrpSpPr/>
          <p:nvPr/>
        </p:nvGrpSpPr>
        <p:grpSpPr>
          <a:xfrm>
            <a:off x="411037" y="1231132"/>
            <a:ext cx="9076131" cy="2701924"/>
            <a:chOff x="411037" y="1231132"/>
            <a:chExt cx="9076131" cy="2701924"/>
          </a:xfrm>
        </p:grpSpPr>
        <p:pic>
          <p:nvPicPr>
            <p:cNvPr id="33" name="Picture 45" descr="C:\Documents and Settings\Administrator\My Documents\My Pictures\Microsoft Clip Organizer\j0433941.png"/>
            <p:cNvPicPr>
              <a:picLocks noChangeAspect="1" noChangeArrowheads="1"/>
            </p:cNvPicPr>
            <p:nvPr/>
          </p:nvPicPr>
          <p:blipFill rotWithShape="1">
            <a:blip r:embed="rId3">
              <a:grayscl/>
            </a:blip>
            <a:srcRect/>
            <a:stretch>
              <a:fillRect/>
            </a:stretch>
          </p:blipFill>
          <p:spPr>
            <a:xfrm>
              <a:off x="990224" y="1415987"/>
              <a:ext cx="398868" cy="400374"/>
            </a:xfrm>
            <a:prstGeom prst="rect">
              <a:avLst/>
            </a:prstGeom>
            <a:noFill/>
            <a:ln w="9525">
              <a:noFill/>
              <a:miter/>
            </a:ln>
          </p:spPr>
        </p:pic>
        <p:sp>
          <p:nvSpPr>
            <p:cNvPr id="34" name="Text Box 119"/>
            <p:cNvSpPr txBox="1">
              <a:spLocks noChangeArrowheads="1"/>
            </p:cNvSpPr>
            <p:nvPr/>
          </p:nvSpPr>
          <p:spPr bwMode="gray">
            <a:xfrm>
              <a:off x="1365335" y="1611705"/>
              <a:ext cx="411307" cy="1233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algn="ctr">
                <a:defRPr lang="ko-KR" altLang="en-US"/>
              </a:pPr>
              <a:r>
                <a:rPr kumimoji="0" lang="ko-KR" altLang="en-US" sz="800" b="1">
                  <a:latin typeface="+mn-ea"/>
                  <a:ea typeface="+mn-ea"/>
                </a:rPr>
                <a:t>사용자</a:t>
              </a:r>
              <a:endParaRPr kumimoji="0" lang="en-US" altLang="ko-KR" sz="800" b="1">
                <a:latin typeface="+mn-ea"/>
                <a:ea typeface="+mn-ea"/>
              </a:endParaRPr>
            </a:p>
          </p:txBody>
        </p:sp>
        <p:sp>
          <p:nvSpPr>
            <p:cNvPr id="35" name="모서리가 둥근 직사각형 208"/>
            <p:cNvSpPr/>
            <p:nvPr/>
          </p:nvSpPr>
          <p:spPr>
            <a:xfrm>
              <a:off x="1886716" y="1465010"/>
              <a:ext cx="1783552" cy="1461913"/>
            </a:xfrm>
            <a:prstGeom prst="roundRect">
              <a:avLst>
                <a:gd name="adj" fmla="val 6309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ko-KR" altLang="en-US" sz="800" b="1">
                <a:latin typeface="+mn-ea"/>
              </a:endParaRPr>
            </a:p>
          </p:txBody>
        </p:sp>
        <p:grpSp>
          <p:nvGrpSpPr>
            <p:cNvPr id="36" name="그룹 210"/>
            <p:cNvGrpSpPr/>
            <p:nvPr/>
          </p:nvGrpSpPr>
          <p:grpSpPr>
            <a:xfrm>
              <a:off x="2457299" y="1546543"/>
              <a:ext cx="1052394" cy="319842"/>
              <a:chOff x="1567510" y="3194326"/>
              <a:chExt cx="937132" cy="319842"/>
            </a:xfrm>
          </p:grpSpPr>
          <p:sp>
            <p:nvSpPr>
              <p:cNvPr id="37" name="모서리가 둥근 직사각형 211"/>
              <p:cNvSpPr/>
              <p:nvPr/>
            </p:nvSpPr>
            <p:spPr>
              <a:xfrm>
                <a:off x="1567510" y="3194326"/>
                <a:ext cx="937132" cy="319842"/>
              </a:xfrm>
              <a:prstGeom prst="roundRect">
                <a:avLst>
                  <a:gd name="adj" fmla="val 6309"/>
                </a:avLst>
              </a:prstGeom>
              <a:solidFill>
                <a:srgbClr val="00B0F0"/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 lang="ko-KR" altLang="en-US"/>
                </a:pPr>
                <a:endParaRPr lang="ko-KR" altLang="en-US" sz="800" b="1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38" name="그림 212" descr="에이전트_o.emf"/>
              <p:cNvPicPr>
                <a:picLocks noChangeAspect="1"/>
              </p:cNvPicPr>
              <p:nvPr/>
            </p:nvPicPr>
            <p:blipFill rotWithShape="1">
              <a:blip r:embed="rId4"/>
              <a:stretch>
                <a:fillRect/>
              </a:stretch>
            </p:blipFill>
            <p:spPr>
              <a:xfrm>
                <a:off x="1603161" y="3273472"/>
                <a:ext cx="227536" cy="227536"/>
              </a:xfrm>
              <a:prstGeom prst="rect">
                <a:avLst/>
              </a:prstGeom>
            </p:spPr>
          </p:pic>
          <p:sp>
            <p:nvSpPr>
              <p:cNvPr id="39" name="TextBox 213"/>
              <p:cNvSpPr txBox="1">
                <a:spLocks noChangeArrowheads="1"/>
              </p:cNvSpPr>
              <p:nvPr/>
            </p:nvSpPr>
            <p:spPr>
              <a:xfrm>
                <a:off x="1717665" y="3213892"/>
                <a:ext cx="634748" cy="246799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defRPr lang="ko-KR" altLang="en-US"/>
                </a:pPr>
                <a:r>
                  <a:rPr lang="en-US" altLang="ko-KR" sz="800" b="1" dirty="0">
                    <a:latin typeface="+mn-ea"/>
                    <a:ea typeface="+mn-ea"/>
                  </a:rPr>
                  <a:t>PC </a:t>
                </a:r>
                <a:r>
                  <a:rPr lang="ko-KR" altLang="en-US" sz="800" b="1" dirty="0" smtClean="0">
                    <a:latin typeface="+mn-ea"/>
                    <a:ea typeface="+mn-ea"/>
                  </a:rPr>
                  <a:t>통합인증</a:t>
                </a:r>
                <a:endParaRPr lang="ko-KR" altLang="en-US" sz="800" b="1" dirty="0">
                  <a:latin typeface="+mn-ea"/>
                  <a:ea typeface="+mn-ea"/>
                </a:endParaRPr>
              </a:p>
              <a:p>
                <a:pPr algn="ctr">
                  <a:defRPr lang="ko-KR" altLang="en-US"/>
                </a:pPr>
                <a:r>
                  <a:rPr lang="ko-KR" altLang="en-US" sz="800" b="1" dirty="0">
                    <a:latin typeface="+mn-ea"/>
                    <a:ea typeface="+mn-ea"/>
                  </a:rPr>
                  <a:t> </a:t>
                </a:r>
                <a:r>
                  <a:rPr lang="en-US" altLang="ko-KR" sz="800" b="1" dirty="0">
                    <a:latin typeface="+mn-ea"/>
                    <a:ea typeface="+mn-ea"/>
                  </a:rPr>
                  <a:t>Agent</a:t>
                </a:r>
                <a:endParaRPr lang="ko-KR" altLang="en-US" sz="800" b="1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40" name="Picture 12" descr="computer, display, monitor icon"/>
            <p:cNvPicPr>
              <a:picLocks noChangeAspect="1" noChangeArrowheads="1"/>
            </p:cNvPicPr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1944261" y="1969066"/>
              <a:ext cx="168817" cy="241412"/>
            </a:xfrm>
            <a:prstGeom prst="rect">
              <a:avLst/>
            </a:prstGeom>
            <a:noFill/>
            <a:ln w="9525">
              <a:noFill/>
              <a:miter/>
            </a:ln>
          </p:spPr>
        </p:pic>
        <p:sp>
          <p:nvSpPr>
            <p:cNvPr id="41" name="모서리가 둥근 직사각형 216"/>
            <p:cNvSpPr/>
            <p:nvPr/>
          </p:nvSpPr>
          <p:spPr>
            <a:xfrm>
              <a:off x="2376570" y="2144059"/>
              <a:ext cx="1212834" cy="329063"/>
            </a:xfrm>
            <a:prstGeom prst="roundRect">
              <a:avLst>
                <a:gd name="adj" fmla="val 6309"/>
              </a:avLst>
            </a:prstGeom>
            <a:solidFill>
              <a:schemeClr val="bg1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ko-KR" altLang="en-US" sz="800" b="1">
                <a:solidFill>
                  <a:schemeClr val="tx1"/>
                </a:solidFill>
                <a:latin typeface="+mn-ea"/>
              </a:endParaRPr>
            </a:p>
          </p:txBody>
        </p:sp>
        <p:grpSp>
          <p:nvGrpSpPr>
            <p:cNvPr id="42" name="그룹 217"/>
            <p:cNvGrpSpPr/>
            <p:nvPr/>
          </p:nvGrpSpPr>
          <p:grpSpPr>
            <a:xfrm>
              <a:off x="2305742" y="1919862"/>
              <a:ext cx="1224515" cy="489298"/>
              <a:chOff x="3158778" y="3822318"/>
              <a:chExt cx="1090402" cy="474002"/>
            </a:xfrm>
          </p:grpSpPr>
          <p:sp>
            <p:nvSpPr>
              <p:cNvPr id="43" name="TextBox 218"/>
              <p:cNvSpPr txBox="1">
                <a:spLocks noChangeArrowheads="1"/>
              </p:cNvSpPr>
              <p:nvPr/>
            </p:nvSpPr>
            <p:spPr>
              <a:xfrm>
                <a:off x="3158778" y="3822318"/>
                <a:ext cx="858808" cy="123479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defRPr lang="ko-KR" altLang="en-US"/>
                </a:pPr>
                <a:endParaRPr lang="ko-KR" altLang="en-US" sz="800" b="1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44" name="그룹 219"/>
              <p:cNvGrpSpPr/>
              <p:nvPr/>
            </p:nvGrpSpPr>
            <p:grpSpPr>
              <a:xfrm>
                <a:off x="3260850" y="4090015"/>
                <a:ext cx="988329" cy="206305"/>
                <a:chOff x="1579366" y="4168229"/>
                <a:chExt cx="988330" cy="206305"/>
              </a:xfrm>
            </p:grpSpPr>
            <p:sp>
              <p:nvSpPr>
                <p:cNvPr id="45" name="Rectangle 78"/>
                <p:cNvSpPr>
                  <a:spLocks noChangeArrowheads="1"/>
                </p:cNvSpPr>
                <p:nvPr/>
              </p:nvSpPr>
              <p:spPr>
                <a:xfrm>
                  <a:off x="1579366" y="4168229"/>
                  <a:ext cx="324000" cy="206305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  <a:miter/>
                </a:ln>
              </p:spPr>
              <p:txBody>
                <a:bodyPr lIns="0" tIns="36000" rIns="0" bIns="0" anchor="t"/>
                <a:lstStyle/>
                <a:p>
                  <a:pPr algn="ctr" defTabSz="1010396" eaLnBrk="0" latinLnBrk="0" hangingPunct="0">
                    <a:lnSpc>
                      <a:spcPct val="110000"/>
                    </a:lnSpc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738336" algn="l"/>
                    </a:tabLst>
                    <a:defRPr lang="ko-KR" altLang="en-US"/>
                  </a:pPr>
                  <a:r>
                    <a:rPr lang="en-US" altLang="ko-KR" sz="800" b="1" dirty="0" smtClean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  <a:sym typeface="Monotype Sorts"/>
                    </a:rPr>
                    <a:t>PKI</a:t>
                  </a:r>
                  <a:endParaRPr lang="en-US" altLang="ko-KR" sz="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  <a:sym typeface="Monotype Sorts"/>
                  </a:endParaRPr>
                </a:p>
              </p:txBody>
            </p:sp>
            <p:sp>
              <p:nvSpPr>
                <p:cNvPr id="46" name="Rectangle 78"/>
                <p:cNvSpPr>
                  <a:spLocks noChangeArrowheads="1"/>
                </p:cNvSpPr>
                <p:nvPr/>
              </p:nvSpPr>
              <p:spPr>
                <a:xfrm>
                  <a:off x="1948534" y="4168229"/>
                  <a:ext cx="288000" cy="206305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  <a:miter/>
                </a:ln>
              </p:spPr>
              <p:txBody>
                <a:bodyPr lIns="0" tIns="36000" rIns="0" bIns="0" anchor="t"/>
                <a:lstStyle/>
                <a:p>
                  <a:pPr algn="ctr" defTabSz="1010396" eaLnBrk="0" latinLnBrk="0" hangingPunct="0">
                    <a:lnSpc>
                      <a:spcPct val="110000"/>
                    </a:lnSpc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738336" algn="l"/>
                    </a:tabLst>
                    <a:defRPr lang="ko-KR"/>
                  </a:pPr>
                  <a:r>
                    <a:rPr lang="en-US" altLang="ko-KR" sz="8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  <a:sym typeface="Monotype Sorts"/>
                    </a:rPr>
                    <a:t>FIDO</a:t>
                  </a:r>
                </a:p>
              </p:txBody>
            </p:sp>
            <p:sp>
              <p:nvSpPr>
                <p:cNvPr id="47" name="Rectangle 78"/>
                <p:cNvSpPr>
                  <a:spLocks noChangeArrowheads="1"/>
                </p:cNvSpPr>
                <p:nvPr/>
              </p:nvSpPr>
              <p:spPr>
                <a:xfrm>
                  <a:off x="2279696" y="4168229"/>
                  <a:ext cx="288000" cy="206305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  <a:miter/>
                </a:ln>
              </p:spPr>
              <p:txBody>
                <a:bodyPr lIns="0" tIns="36000" rIns="0" bIns="0" anchor="t"/>
                <a:lstStyle/>
                <a:p>
                  <a:pPr algn="ctr" defTabSz="1010396" eaLnBrk="0" latinLnBrk="0" hangingPunct="0">
                    <a:lnSpc>
                      <a:spcPct val="110000"/>
                    </a:lnSpc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738336" algn="l"/>
                    </a:tabLst>
                    <a:defRPr lang="ko-KR"/>
                  </a:pPr>
                  <a:r>
                    <a:rPr lang="en-US" altLang="ko-KR" sz="800" b="1" dirty="0" smtClean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  <a:sym typeface="Monotype Sorts"/>
                    </a:rPr>
                    <a:t>MOTP</a:t>
                  </a:r>
                  <a:endParaRPr lang="en-US" altLang="ko-KR" sz="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  <a:sym typeface="Monotype Sorts"/>
                  </a:endParaRPr>
                </a:p>
              </p:txBody>
            </p:sp>
          </p:grpSp>
        </p:grpSp>
        <p:cxnSp>
          <p:nvCxnSpPr>
            <p:cNvPr id="48" name="직선 화살표 연결선 223"/>
            <p:cNvCxnSpPr>
              <a:stCxn id="37" idx="2"/>
              <a:endCxn id="41" idx="0"/>
            </p:cNvCxnSpPr>
            <p:nvPr/>
          </p:nvCxnSpPr>
          <p:spPr>
            <a:xfrm flipH="1">
              <a:off x="2982987" y="1866385"/>
              <a:ext cx="509" cy="277674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꺾인 연결선 224"/>
            <p:cNvCxnSpPr>
              <a:stCxn id="34" idx="2"/>
              <a:endCxn id="35" idx="1"/>
            </p:cNvCxnSpPr>
            <p:nvPr/>
          </p:nvCxnSpPr>
          <p:spPr>
            <a:xfrm rot="5400000" flipV="1">
              <a:off x="1607724" y="1729065"/>
              <a:ext cx="273000" cy="284983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Picture 47"/>
            <p:cNvPicPr>
              <a:picLocks noChangeAspect="1" noChangeArrowheads="1"/>
            </p:cNvPicPr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8387429" y="1345557"/>
              <a:ext cx="509388" cy="344699"/>
            </a:xfrm>
            <a:prstGeom prst="rect">
              <a:avLst/>
            </a:prstGeom>
            <a:noFill/>
            <a:ln w="9525">
              <a:noFill/>
              <a:miter/>
            </a:ln>
          </p:spPr>
        </p:pic>
        <p:sp>
          <p:nvSpPr>
            <p:cNvPr id="51" name="Text Box 119"/>
            <p:cNvSpPr txBox="1">
              <a:spLocks noChangeArrowheads="1"/>
            </p:cNvSpPr>
            <p:nvPr/>
          </p:nvSpPr>
          <p:spPr bwMode="gray">
            <a:xfrm>
              <a:off x="8461414" y="1369946"/>
              <a:ext cx="371258" cy="1237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algn="ctr">
                <a:defRPr lang="ko-KR" altLang="en-US"/>
              </a:pPr>
              <a:r>
                <a:rPr kumimoji="0" lang="en-US" altLang="ko-KR" sz="800" b="1" dirty="0">
                  <a:latin typeface="+mn-ea"/>
                  <a:ea typeface="+mn-ea"/>
                </a:rPr>
                <a:t>HR DB</a:t>
              </a:r>
              <a:endParaRPr kumimoji="0" lang="ko-KR" altLang="en-US" sz="800" b="1" dirty="0">
                <a:latin typeface="+mn-ea"/>
                <a:ea typeface="+mn-ea"/>
              </a:endParaRPr>
            </a:p>
          </p:txBody>
        </p:sp>
        <p:sp>
          <p:nvSpPr>
            <p:cNvPr id="52" name="Text Box 119"/>
            <p:cNvSpPr txBox="1">
              <a:spLocks noChangeArrowheads="1"/>
            </p:cNvSpPr>
            <p:nvPr/>
          </p:nvSpPr>
          <p:spPr bwMode="gray">
            <a:xfrm>
              <a:off x="1972108" y="2218998"/>
              <a:ext cx="166484" cy="1237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algn="ctr">
                <a:defRPr lang="ko-KR" altLang="en-US"/>
              </a:pPr>
              <a:r>
                <a:rPr kumimoji="0" lang="en-US" altLang="ko-KR" sz="800" b="1">
                  <a:latin typeface="+mn-ea"/>
                  <a:ea typeface="+mn-ea"/>
                </a:rPr>
                <a:t>PC</a:t>
              </a:r>
              <a:endParaRPr kumimoji="0" lang="ko-KR" altLang="en-US" sz="800" b="1">
                <a:latin typeface="+mn-ea"/>
                <a:ea typeface="+mn-ea"/>
              </a:endParaRPr>
            </a:p>
          </p:txBody>
        </p:sp>
        <p:cxnSp>
          <p:nvCxnSpPr>
            <p:cNvPr id="53" name="꺾인 연결선 230"/>
            <p:cNvCxnSpPr>
              <a:stCxn id="40" idx="0"/>
              <a:endCxn id="37" idx="1"/>
            </p:cNvCxnSpPr>
            <p:nvPr/>
          </p:nvCxnSpPr>
          <p:spPr>
            <a:xfrm rot="5400000" flipH="1" flipV="1">
              <a:off x="2116875" y="1628641"/>
              <a:ext cx="262602" cy="418248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 Box 119"/>
            <p:cNvSpPr txBox="1">
              <a:spLocks noChangeArrowheads="1"/>
            </p:cNvSpPr>
            <p:nvPr/>
          </p:nvSpPr>
          <p:spPr bwMode="gray">
            <a:xfrm>
              <a:off x="6894880" y="1378809"/>
              <a:ext cx="916871" cy="1231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algn="ctr">
                <a:defRPr lang="ko-KR" altLang="en-US"/>
              </a:pPr>
              <a:r>
                <a:rPr kumimoji="0" lang="en-US" altLang="ko-KR" sz="800" b="1" dirty="0" smtClean="0">
                  <a:latin typeface="+mn-ea"/>
                  <a:ea typeface="+mn-ea"/>
                </a:rPr>
                <a:t>0. </a:t>
              </a:r>
              <a:r>
                <a:rPr kumimoji="0" lang="ko-KR" altLang="en-US" sz="800" b="1" dirty="0" smtClean="0">
                  <a:latin typeface="+mn-ea"/>
                  <a:ea typeface="+mn-ea"/>
                </a:rPr>
                <a:t>인사정보 동기화</a:t>
              </a:r>
              <a:endParaRPr kumimoji="0"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55" name="직사각형 233"/>
            <p:cNvSpPr/>
            <p:nvPr/>
          </p:nvSpPr>
          <p:spPr>
            <a:xfrm>
              <a:off x="4701577" y="1417160"/>
              <a:ext cx="1343365" cy="289304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>
              <a:solidFill>
                <a:schemeClr val="bg1">
                  <a:lumMod val="75000"/>
                </a:schemeClr>
              </a:solidFill>
              <a:miter/>
            </a:ln>
          </p:spPr>
          <p:txBody>
            <a:bodyPr lIns="0" tIns="0" rIns="0" bIns="0" anchor="ctr" anchorCtr="0"/>
            <a:lstStyle/>
            <a:p>
              <a:pPr algn="ctr" defTabSz="994484" eaLnBrk="0" latinLnBrk="0" hangingPunct="0">
                <a:lnSpc>
                  <a:spcPct val="110000"/>
                </a:lnSpc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783341" algn="l"/>
                </a:tabLst>
              </a:pPr>
              <a:r>
                <a:rPr lang="ko-KR" altLang="en-US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통합계정권한관리</a:t>
              </a:r>
              <a:r>
                <a:rPr lang="en-US" altLang="ko-KR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(IAM)</a:t>
              </a:r>
            </a:p>
          </p:txBody>
        </p:sp>
        <p:sp>
          <p:nvSpPr>
            <p:cNvPr id="56" name="직사각형 457"/>
            <p:cNvSpPr/>
            <p:nvPr/>
          </p:nvSpPr>
          <p:spPr>
            <a:xfrm>
              <a:off x="4662632" y="2035240"/>
              <a:ext cx="1455400" cy="421199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</a:ln>
            <a:effectLst/>
          </p:spPr>
          <p:txBody>
            <a:bodyPr lIns="0" tIns="0" rIns="0" bIns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r>
                <a:rPr lang="en-US" altLang="ko-KR" sz="900" b="1" kern="0" dirty="0">
                  <a:latin typeface="+mn-ea"/>
                  <a:ea typeface="+mn-ea"/>
                </a:rPr>
                <a:t>ESSO </a:t>
              </a:r>
              <a:r>
                <a:rPr lang="ko-KR" altLang="en-US" sz="900" b="1" kern="0" dirty="0" smtClean="0">
                  <a:latin typeface="+mn-ea"/>
                  <a:ea typeface="+mn-ea"/>
                </a:rPr>
                <a:t>시스템</a:t>
              </a:r>
              <a:endParaRPr lang="en-US" altLang="ko-KR" sz="900" b="1" kern="0" dirty="0" smtClean="0">
                <a:latin typeface="+mn-ea"/>
                <a:ea typeface="+mn-ea"/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r>
                <a:rPr lang="en-US" altLang="ko-KR" sz="900" b="1" kern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(ISign+ </a:t>
              </a:r>
              <a:r>
                <a:rPr lang="ko-KR" altLang="en-US" sz="900" b="1" kern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서버</a:t>
              </a:r>
              <a:r>
                <a:rPr lang="en-US" altLang="ko-KR" sz="900" b="1" kern="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900" b="1" kern="0" dirty="0">
                <a:latin typeface="+mn-ea"/>
                <a:ea typeface="+mn-ea"/>
              </a:endParaRPr>
            </a:p>
          </p:txBody>
        </p:sp>
        <p:sp>
          <p:nvSpPr>
            <p:cNvPr id="57" name="Text Box 119"/>
            <p:cNvSpPr txBox="1">
              <a:spLocks noChangeArrowheads="1"/>
            </p:cNvSpPr>
            <p:nvPr/>
          </p:nvSpPr>
          <p:spPr bwMode="gray">
            <a:xfrm>
              <a:off x="5886768" y="1767477"/>
              <a:ext cx="1569783" cy="1231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algn="ctr">
                <a:defRPr lang="ko-KR" altLang="en-US"/>
              </a:pPr>
              <a:r>
                <a:rPr kumimoji="0" lang="en-US" altLang="ko-KR" sz="800" b="1" dirty="0" smtClean="0">
                  <a:latin typeface="+mn-ea"/>
                  <a:ea typeface="+mn-ea"/>
                </a:rPr>
                <a:t>1. </a:t>
              </a:r>
              <a:r>
                <a:rPr kumimoji="0" lang="ko-KR" altLang="en-US" sz="800" b="1" dirty="0" smtClean="0">
                  <a:latin typeface="+mn-ea"/>
                  <a:ea typeface="+mn-ea"/>
                </a:rPr>
                <a:t>계정</a:t>
              </a:r>
              <a:r>
                <a:rPr kumimoji="0" lang="en-US" altLang="ko-KR" sz="800" b="1" dirty="0">
                  <a:latin typeface="+mn-ea"/>
                  <a:ea typeface="+mn-ea"/>
                </a:rPr>
                <a:t>/</a:t>
              </a:r>
              <a:r>
                <a:rPr kumimoji="0" lang="ko-KR" altLang="en-US" sz="800" b="1" dirty="0">
                  <a:latin typeface="+mn-ea"/>
                  <a:ea typeface="+mn-ea"/>
                </a:rPr>
                <a:t>권한 </a:t>
              </a:r>
              <a:r>
                <a:rPr kumimoji="0" lang="en-US" altLang="ko-KR" sz="800" b="1" dirty="0">
                  <a:latin typeface="+mn-ea"/>
                  <a:ea typeface="+mn-ea"/>
                </a:rPr>
                <a:t>Provisioning</a:t>
              </a:r>
            </a:p>
          </p:txBody>
        </p:sp>
        <p:pic>
          <p:nvPicPr>
            <p:cNvPr id="58" name="Picture 43"/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</a:blip>
            <a:srcRect/>
            <a:stretch>
              <a:fillRect/>
            </a:stretch>
          </p:blipFill>
          <p:spPr>
            <a:xfrm>
              <a:off x="5170946" y="2536441"/>
              <a:ext cx="290455" cy="302251"/>
            </a:xfrm>
            <a:prstGeom prst="rect">
              <a:avLst/>
            </a:prstGeom>
            <a:noFill/>
            <a:ln w="9525">
              <a:noFill/>
              <a:miter/>
            </a:ln>
          </p:spPr>
        </p:pic>
        <p:grpSp>
          <p:nvGrpSpPr>
            <p:cNvPr id="59" name="그룹 252"/>
            <p:cNvGrpSpPr/>
            <p:nvPr/>
          </p:nvGrpSpPr>
          <p:grpSpPr>
            <a:xfrm>
              <a:off x="6764717" y="2061768"/>
              <a:ext cx="1335066" cy="385247"/>
              <a:chOff x="4243443" y="4549817"/>
              <a:chExt cx="1188845" cy="385247"/>
            </a:xfrm>
            <a:solidFill>
              <a:srgbClr val="00B0F0"/>
            </a:solidFill>
          </p:grpSpPr>
          <p:sp>
            <p:nvSpPr>
              <p:cNvPr id="60" name="직사각형 253"/>
              <p:cNvSpPr/>
              <p:nvPr/>
            </p:nvSpPr>
            <p:spPr>
              <a:xfrm>
                <a:off x="4243443" y="4549817"/>
                <a:ext cx="1188845" cy="385247"/>
              </a:xfrm>
              <a:prstGeom prst="rect">
                <a:avLst/>
              </a:prstGeom>
              <a:grpFill/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</a:ln>
              <a:effectLst/>
            </p:spPr>
            <p:txBody>
              <a:bodyPr lIns="0" tIns="36000" rIns="0" bIns="0" anchor="t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 lang="ko-KR" altLang="en-US"/>
                </a:pPr>
                <a:endParaRPr lang="ko-KR" altLang="en-US" sz="900" b="1" kern="0">
                  <a:solidFill>
                    <a:prstClr val="black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61" name="Rectangle 78"/>
              <p:cNvSpPr>
                <a:spLocks noChangeArrowheads="1"/>
              </p:cNvSpPr>
              <p:nvPr/>
            </p:nvSpPr>
            <p:spPr>
              <a:xfrm>
                <a:off x="4276360" y="4744194"/>
                <a:ext cx="354941" cy="167305"/>
              </a:xfrm>
              <a:prstGeom prst="rect">
                <a:avLst/>
              </a:prstGeom>
              <a:grpFill/>
              <a:ln w="9525">
                <a:solidFill>
                  <a:schemeClr val="bg1">
                    <a:lumMod val="75000"/>
                  </a:schemeClr>
                </a:solidFill>
                <a:miter/>
              </a:ln>
            </p:spPr>
            <p:txBody>
              <a:bodyPr lIns="0" tIns="0" rIns="0" bIns="0" anchor="ctr" anchorCtr="0"/>
              <a:lstStyle/>
              <a:p>
                <a:pPr algn="ctr" defTabSz="1010396" eaLnBrk="0" latinLnBrk="0" hangingPunct="0">
                  <a:lnSpc>
                    <a:spcPct val="110000"/>
                  </a:lnSpc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738336" algn="l"/>
                  </a:tabLst>
                  <a:defRPr lang="ko-KR"/>
                </a:pPr>
                <a:r>
                  <a:rPr lang="en-US" altLang="ko-KR" sz="8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  <a:sym typeface="Monotype Sorts"/>
                  </a:rPr>
                  <a:t>PKI</a:t>
                </a:r>
                <a:endParaRPr lang="en-US" altLang="ko-KR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  <a:sym typeface="Monotype Sorts"/>
                </a:endParaRPr>
              </a:p>
            </p:txBody>
          </p:sp>
          <p:sp>
            <p:nvSpPr>
              <p:cNvPr id="62" name="Rectangle 78"/>
              <p:cNvSpPr>
                <a:spLocks noChangeArrowheads="1"/>
              </p:cNvSpPr>
              <p:nvPr/>
            </p:nvSpPr>
            <p:spPr>
              <a:xfrm>
                <a:off x="4652150" y="4736310"/>
                <a:ext cx="360000" cy="174102"/>
              </a:xfrm>
              <a:prstGeom prst="rect">
                <a:avLst/>
              </a:prstGeom>
              <a:grpFill/>
              <a:ln w="9525">
                <a:solidFill>
                  <a:schemeClr val="bg1">
                    <a:lumMod val="75000"/>
                  </a:schemeClr>
                </a:solidFill>
                <a:miter/>
              </a:ln>
            </p:spPr>
            <p:txBody>
              <a:bodyPr lIns="0" tIns="36000" rIns="0" bIns="0" anchor="t" anchorCtr="0"/>
              <a:lstStyle/>
              <a:p>
                <a:pPr algn="ctr" defTabSz="1010396" eaLnBrk="0" latinLnBrk="0" hangingPunct="0">
                  <a:lnSpc>
                    <a:spcPct val="110000"/>
                  </a:lnSpc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738336" algn="l"/>
                  </a:tabLst>
                  <a:defRPr lang="ko-KR"/>
                </a:pPr>
                <a:r>
                  <a:rPr lang="en-US" altLang="ko-KR" sz="800" b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  <a:sym typeface="Monotype Sorts"/>
                  </a:rPr>
                  <a:t>FIDO</a:t>
                </a:r>
              </a:p>
            </p:txBody>
          </p:sp>
          <p:sp>
            <p:nvSpPr>
              <p:cNvPr id="63" name="Rectangle 78"/>
              <p:cNvSpPr>
                <a:spLocks noChangeArrowheads="1"/>
              </p:cNvSpPr>
              <p:nvPr/>
            </p:nvSpPr>
            <p:spPr>
              <a:xfrm>
                <a:off x="5038750" y="4747181"/>
                <a:ext cx="354940" cy="167719"/>
              </a:xfrm>
              <a:prstGeom prst="rect">
                <a:avLst/>
              </a:prstGeom>
              <a:grpFill/>
              <a:ln w="9525">
                <a:solidFill>
                  <a:schemeClr val="bg1">
                    <a:lumMod val="75000"/>
                  </a:schemeClr>
                </a:solidFill>
                <a:miter/>
              </a:ln>
            </p:spPr>
            <p:txBody>
              <a:bodyPr lIns="0" tIns="0" rIns="0" bIns="0" anchor="ctr" anchorCtr="0"/>
              <a:lstStyle/>
              <a:p>
                <a:pPr algn="ctr" defTabSz="1010396" eaLnBrk="0" latinLnBrk="0" hangingPunct="0">
                  <a:lnSpc>
                    <a:spcPct val="110000"/>
                  </a:lnSpc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738336" algn="l"/>
                  </a:tabLst>
                  <a:defRPr lang="ko-KR"/>
                </a:pPr>
                <a:r>
                  <a:rPr lang="en-US" altLang="ko-KR" sz="8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  <a:sym typeface="Monotype Sorts"/>
                  </a:rPr>
                  <a:t>MOTP</a:t>
                </a:r>
                <a:endParaRPr lang="en-US" altLang="ko-KR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  <a:sym typeface="Monotype Sorts"/>
                </a:endParaRPr>
              </a:p>
            </p:txBody>
          </p:sp>
        </p:grpSp>
        <p:sp>
          <p:nvSpPr>
            <p:cNvPr id="64" name="직사각형 259"/>
            <p:cNvSpPr/>
            <p:nvPr/>
          </p:nvSpPr>
          <p:spPr>
            <a:xfrm>
              <a:off x="6846815" y="2095264"/>
              <a:ext cx="1170869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r>
                <a:rPr lang="en-US" altLang="ko-KR" sz="900" b="1" kern="0" dirty="0">
                  <a:solidFill>
                    <a:prstClr val="black"/>
                  </a:solidFill>
                  <a:latin typeface="+mn-ea"/>
                  <a:ea typeface="+mn-ea"/>
                </a:rPr>
                <a:t> </a:t>
              </a:r>
              <a:r>
                <a:rPr lang="ko-KR" altLang="en-US" sz="900" b="1" kern="0" dirty="0">
                  <a:solidFill>
                    <a:prstClr val="black"/>
                  </a:solidFill>
                  <a:latin typeface="+mn-ea"/>
                  <a:ea typeface="+mn-ea"/>
                </a:rPr>
                <a:t>인증매체시스템</a:t>
              </a:r>
            </a:p>
          </p:txBody>
        </p:sp>
        <p:cxnSp>
          <p:nvCxnSpPr>
            <p:cNvPr id="65" name="구부러진 연결선 261"/>
            <p:cNvCxnSpPr>
              <a:stCxn id="55" idx="3"/>
              <a:endCxn id="56" idx="3"/>
            </p:cNvCxnSpPr>
            <p:nvPr/>
          </p:nvCxnSpPr>
          <p:spPr>
            <a:xfrm>
              <a:off x="6044942" y="1561812"/>
              <a:ext cx="73090" cy="701840"/>
            </a:xfrm>
            <a:prstGeom prst="curvedConnector3">
              <a:avLst>
                <a:gd name="adj1" fmla="val 412765"/>
              </a:avLst>
            </a:prstGeom>
            <a:ln>
              <a:solidFill>
                <a:schemeClr val="bg1">
                  <a:lumMod val="50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구부러진 연결선 262"/>
            <p:cNvCxnSpPr>
              <a:stCxn id="55" idx="3"/>
              <a:endCxn id="64" idx="0"/>
            </p:cNvCxnSpPr>
            <p:nvPr/>
          </p:nvCxnSpPr>
          <p:spPr>
            <a:xfrm>
              <a:off x="6044942" y="1561812"/>
              <a:ext cx="1387308" cy="533452"/>
            </a:xfrm>
            <a:prstGeom prst="curvedConnector2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직사각형 263"/>
            <p:cNvSpPr/>
            <p:nvPr/>
          </p:nvSpPr>
          <p:spPr>
            <a:xfrm>
              <a:off x="3762116" y="2885100"/>
              <a:ext cx="684492" cy="1231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marL="85725" indent="-85725" algn="ctr">
                <a:defRPr lang="ko-KR" altLang="en-US"/>
              </a:pPr>
              <a:r>
                <a:rPr kumimoji="0" lang="en-US" altLang="ko-KR" sz="800" b="1" dirty="0" smtClean="0">
                  <a:latin typeface="+mn-ea"/>
                  <a:ea typeface="+mn-ea"/>
                </a:rPr>
                <a:t>3. SSO</a:t>
              </a:r>
              <a:r>
                <a:rPr kumimoji="0" lang="ko-KR" altLang="en-US" sz="800" b="1" dirty="0" smtClean="0">
                  <a:latin typeface="+mn-ea"/>
                  <a:ea typeface="+mn-ea"/>
                </a:rPr>
                <a:t>연동</a:t>
              </a:r>
              <a:endParaRPr kumimoji="0" lang="ko-KR" altLang="en-US" sz="800" b="1" dirty="0">
                <a:latin typeface="+mn-ea"/>
                <a:ea typeface="+mn-ea"/>
              </a:endParaRPr>
            </a:p>
          </p:txBody>
        </p:sp>
        <p:cxnSp>
          <p:nvCxnSpPr>
            <p:cNvPr id="68" name="꺾인 연결선 275"/>
            <p:cNvCxnSpPr/>
            <p:nvPr/>
          </p:nvCxnSpPr>
          <p:spPr>
            <a:xfrm rot="16200000" flipH="1">
              <a:off x="3698655" y="2088046"/>
              <a:ext cx="43814" cy="1884141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직사각형 6"/>
            <p:cNvSpPr/>
            <p:nvPr/>
          </p:nvSpPr>
          <p:spPr bwMode="gray">
            <a:xfrm>
              <a:off x="411037" y="1231132"/>
              <a:ext cx="9076131" cy="2701924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txBody>
            <a:bodyPr wrap="square" tIns="72000" bIns="72000" anchor="t" anchorCtr="0">
              <a:noAutofit/>
            </a:bodyPr>
            <a:lstStyle/>
            <a:p>
              <a:pPr marL="228600" indent="-136525" latinLnBrk="1">
                <a:spcBef>
                  <a:spcPct val="20000"/>
                </a:spcBef>
                <a:spcAft>
                  <a:spcPts val="0"/>
                </a:spcAft>
                <a:buSzPct val="75000"/>
                <a:buFont typeface="Arial"/>
                <a:buChar char="•"/>
                <a:defRPr lang="ko-KR" altLang="en-US"/>
              </a:pPr>
              <a:endParaRPr lang="en-US" altLang="ko-KR" sz="1200" b="1" dirty="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71" name="직선 화살표 연결선 70"/>
            <p:cNvCxnSpPr>
              <a:stCxn id="56" idx="1"/>
            </p:cNvCxnSpPr>
            <p:nvPr/>
          </p:nvCxnSpPr>
          <p:spPr>
            <a:xfrm flipH="1" flipV="1">
              <a:off x="3670268" y="2263618"/>
              <a:ext cx="992364" cy="34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/>
            <p:cNvCxnSpPr>
              <a:stCxn id="56" idx="3"/>
              <a:endCxn id="60" idx="1"/>
            </p:cNvCxnSpPr>
            <p:nvPr/>
          </p:nvCxnSpPr>
          <p:spPr>
            <a:xfrm flipV="1">
              <a:off x="6118032" y="2254392"/>
              <a:ext cx="646685" cy="926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/>
            <p:cNvCxnSpPr>
              <a:stCxn id="50" idx="1"/>
            </p:cNvCxnSpPr>
            <p:nvPr/>
          </p:nvCxnSpPr>
          <p:spPr>
            <a:xfrm flipH="1" flipV="1">
              <a:off x="6044943" y="1515910"/>
              <a:ext cx="2342486" cy="1997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 Box 119"/>
            <p:cNvSpPr txBox="1">
              <a:spLocks noChangeArrowheads="1"/>
            </p:cNvSpPr>
            <p:nvPr/>
          </p:nvSpPr>
          <p:spPr bwMode="gray">
            <a:xfrm>
              <a:off x="3734841" y="2125845"/>
              <a:ext cx="889287" cy="1231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algn="ctr">
                <a:defRPr lang="ko-KR" altLang="en-US"/>
              </a:pPr>
              <a:r>
                <a:rPr lang="en-US" altLang="ko-KR" sz="800" b="1" dirty="0">
                  <a:latin typeface="+mn-ea"/>
                  <a:ea typeface="+mn-ea"/>
                </a:rPr>
                <a:t>2</a:t>
              </a:r>
              <a:r>
                <a:rPr kumimoji="0" lang="en-US" altLang="ko-KR" sz="800" b="1" dirty="0" smtClean="0">
                  <a:latin typeface="+mn-ea"/>
                  <a:ea typeface="+mn-ea"/>
                </a:rPr>
                <a:t>.</a:t>
              </a:r>
              <a:r>
                <a:rPr kumimoji="0" lang="ko-KR" altLang="en-US" sz="800" b="1" dirty="0" smtClean="0">
                  <a:latin typeface="+mn-ea"/>
                  <a:ea typeface="+mn-ea"/>
                </a:rPr>
                <a:t>로그인</a:t>
              </a:r>
              <a:r>
                <a:rPr kumimoji="0" lang="en-US" altLang="ko-KR" sz="800" b="1" dirty="0" smtClean="0">
                  <a:latin typeface="+mn-ea"/>
                  <a:ea typeface="+mn-ea"/>
                </a:rPr>
                <a:t>(</a:t>
              </a:r>
              <a:r>
                <a:rPr kumimoji="0" lang="ko-KR" altLang="en-US" sz="800" b="1" dirty="0" smtClean="0">
                  <a:latin typeface="+mn-ea"/>
                  <a:ea typeface="+mn-ea"/>
                </a:rPr>
                <a:t>인증토큰</a:t>
              </a:r>
              <a:r>
                <a:rPr kumimoji="0" lang="en-US" altLang="ko-KR" sz="800" b="1" dirty="0" smtClean="0">
                  <a:latin typeface="+mn-ea"/>
                  <a:ea typeface="+mn-ea"/>
                </a:rPr>
                <a:t>)</a:t>
              </a:r>
              <a:endParaRPr kumimoji="0" lang="en-US" altLang="ko-KR" sz="800" b="1" dirty="0">
                <a:latin typeface="+mn-ea"/>
                <a:ea typeface="+mn-ea"/>
              </a:endParaRPr>
            </a:p>
          </p:txBody>
        </p:sp>
        <p:cxnSp>
          <p:nvCxnSpPr>
            <p:cNvPr id="75" name="구부러진 연결선 74"/>
            <p:cNvCxnSpPr>
              <a:stCxn id="55" idx="3"/>
              <a:endCxn id="58" idx="1"/>
            </p:cNvCxnSpPr>
            <p:nvPr/>
          </p:nvCxnSpPr>
          <p:spPr>
            <a:xfrm flipH="1">
              <a:off x="5170946" y="1561812"/>
              <a:ext cx="873996" cy="1125755"/>
            </a:xfrm>
            <a:prstGeom prst="curvedConnector5">
              <a:avLst>
                <a:gd name="adj1" fmla="val -26156"/>
                <a:gd name="adj2" fmla="val 49712"/>
                <a:gd name="adj3" fmla="val 126156"/>
              </a:avLst>
            </a:prstGeom>
            <a:ln>
              <a:solidFill>
                <a:schemeClr val="bg1">
                  <a:lumMod val="50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직사각형 457"/>
            <p:cNvSpPr/>
            <p:nvPr/>
          </p:nvSpPr>
          <p:spPr>
            <a:xfrm>
              <a:off x="6249144" y="2933859"/>
              <a:ext cx="1944216" cy="83791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</a:ln>
            <a:effectLst/>
          </p:spPr>
          <p:txBody>
            <a:bodyPr lIns="0" tIns="89999" rIns="0" bIns="0" anchor="t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lang="ko-KR" altLang="en-US"/>
              </a:pPr>
              <a:endParaRPr lang="ko-KR" altLang="en-US" sz="900" b="1" kern="0">
                <a:latin typeface="+mn-ea"/>
                <a:ea typeface="+mn-ea"/>
              </a:endParaRPr>
            </a:p>
          </p:txBody>
        </p:sp>
        <p:sp>
          <p:nvSpPr>
            <p:cNvPr id="77" name="Rectangle 78"/>
            <p:cNvSpPr>
              <a:spLocks noChangeArrowheads="1"/>
            </p:cNvSpPr>
            <p:nvPr/>
          </p:nvSpPr>
          <p:spPr>
            <a:xfrm>
              <a:off x="6338570" y="3060940"/>
              <a:ext cx="1761213" cy="178320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>
              <a:solidFill>
                <a:schemeClr val="bg1">
                  <a:lumMod val="75000"/>
                </a:schemeClr>
              </a:solidFill>
              <a:miter/>
            </a:ln>
          </p:spPr>
          <p:txBody>
            <a:bodyPr lIns="0" tIns="0" rIns="0" bIns="0" anchor="ctr" anchorCtr="0"/>
            <a:lstStyle/>
            <a:p>
              <a:pPr defTabSz="994484" eaLnBrk="0" latinLnBrk="0" hangingPunct="0">
                <a:lnSpc>
                  <a:spcPct val="110000"/>
                </a:lnSpc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783341" algn="l"/>
                </a:tabLst>
                <a:defRPr lang="ko-KR"/>
              </a:pPr>
              <a:r>
                <a:rPr lang="en-US" altLang="ko-KR" sz="75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  <a:sym typeface="Monotype Sorts"/>
                </a:rPr>
                <a:t>ITSM</a:t>
              </a:r>
              <a:endParaRPr lang="en-US" altLang="ko-KR" sz="7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Monotype Sorts"/>
              </a:endParaRPr>
            </a:p>
          </p:txBody>
        </p:sp>
        <p:pic>
          <p:nvPicPr>
            <p:cNvPr id="78" name="Picture 43"/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</a:blip>
            <a:srcRect/>
            <a:stretch>
              <a:fillRect/>
            </a:stretch>
          </p:blipFill>
          <p:spPr>
            <a:xfrm>
              <a:off x="6534753" y="2752465"/>
              <a:ext cx="290455" cy="302251"/>
            </a:xfrm>
            <a:prstGeom prst="rect">
              <a:avLst/>
            </a:prstGeom>
            <a:noFill/>
            <a:ln w="9525">
              <a:noFill/>
              <a:miter/>
            </a:ln>
          </p:spPr>
        </p:pic>
        <p:sp>
          <p:nvSpPr>
            <p:cNvPr id="79" name="Rectangle 78"/>
            <p:cNvSpPr>
              <a:spLocks noChangeArrowheads="1"/>
            </p:cNvSpPr>
            <p:nvPr/>
          </p:nvSpPr>
          <p:spPr>
            <a:xfrm>
              <a:off x="6342342" y="3274058"/>
              <a:ext cx="1757441" cy="210504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>
              <a:solidFill>
                <a:schemeClr val="bg1">
                  <a:lumMod val="75000"/>
                </a:schemeClr>
              </a:solidFill>
              <a:miter/>
            </a:ln>
          </p:spPr>
          <p:txBody>
            <a:bodyPr lIns="0" tIns="0" rIns="0" bIns="0" anchor="ctr" anchorCtr="0"/>
            <a:lstStyle/>
            <a:p>
              <a:pPr defTabSz="994484" eaLnBrk="0" hangingPunct="0">
                <a:lnSpc>
                  <a:spcPct val="110000"/>
                </a:lnSpc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783341" algn="l"/>
                </a:tabLst>
                <a:defRPr lang="ko-KR"/>
              </a:pPr>
              <a:r>
                <a:rPr lang="en-US" altLang="ko-KR" sz="75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  <a:sym typeface="Monotype Sorts"/>
                </a:rPr>
                <a:t>…</a:t>
              </a:r>
              <a:endParaRPr lang="en-US" altLang="ko-KR" sz="7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Monotype Sorts"/>
              </a:endParaRPr>
            </a:p>
          </p:txBody>
        </p:sp>
        <p:sp>
          <p:nvSpPr>
            <p:cNvPr id="80" name="Rectangle 78"/>
            <p:cNvSpPr>
              <a:spLocks noChangeArrowheads="1"/>
            </p:cNvSpPr>
            <p:nvPr/>
          </p:nvSpPr>
          <p:spPr>
            <a:xfrm>
              <a:off x="6342342" y="3509132"/>
              <a:ext cx="1757441" cy="20491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>
              <a:solidFill>
                <a:schemeClr val="bg1">
                  <a:lumMod val="75000"/>
                </a:schemeClr>
              </a:solidFill>
              <a:miter/>
            </a:ln>
          </p:spPr>
          <p:txBody>
            <a:bodyPr lIns="0" tIns="0" rIns="0" bIns="0" anchor="ctr" anchorCtr="0"/>
            <a:lstStyle/>
            <a:p>
              <a:pPr defTabSz="994484" eaLnBrk="0" latinLnBrk="0" hangingPunct="0">
                <a:lnSpc>
                  <a:spcPct val="110000"/>
                </a:lnSpc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783341" algn="l"/>
                </a:tabLst>
                <a:defRPr lang="ko-KR"/>
              </a:pPr>
              <a:r>
                <a:rPr lang="ko-KR" altLang="en-US" sz="75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  <a:sym typeface="Monotype Sorts"/>
                </a:rPr>
                <a:t>그룹웨어</a:t>
              </a:r>
              <a:endParaRPr lang="en-US" altLang="ko-KR" sz="7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Monotype Sorts"/>
              </a:endParaRPr>
            </a:p>
          </p:txBody>
        </p:sp>
        <p:cxnSp>
          <p:nvCxnSpPr>
            <p:cNvPr id="81" name="꺾인 연결선 275"/>
            <p:cNvCxnSpPr>
              <a:stCxn id="35" idx="2"/>
              <a:endCxn id="76" idx="1"/>
            </p:cNvCxnSpPr>
            <p:nvPr/>
          </p:nvCxnSpPr>
          <p:spPr>
            <a:xfrm rot="16200000" flipH="1">
              <a:off x="4300871" y="1404544"/>
              <a:ext cx="425894" cy="3470652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직사각형 263"/>
            <p:cNvSpPr/>
            <p:nvPr/>
          </p:nvSpPr>
          <p:spPr>
            <a:xfrm>
              <a:off x="3754991" y="3205418"/>
              <a:ext cx="684492" cy="1231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marL="85725" indent="-85725" algn="ctr">
                <a:defRPr lang="ko-KR" altLang="en-US"/>
              </a:pPr>
              <a:r>
                <a:rPr kumimoji="0" lang="en-US" altLang="ko-KR" sz="800" b="1" dirty="0" smtClean="0">
                  <a:latin typeface="+mn-ea"/>
                  <a:ea typeface="+mn-ea"/>
                </a:rPr>
                <a:t>4. SSO</a:t>
              </a:r>
              <a:r>
                <a:rPr kumimoji="0" lang="ko-KR" altLang="en-US" sz="800" b="1" dirty="0" smtClean="0">
                  <a:latin typeface="+mn-ea"/>
                  <a:ea typeface="+mn-ea"/>
                </a:rPr>
                <a:t>연동</a:t>
              </a:r>
              <a:endParaRPr kumimoji="0" lang="ko-KR" altLang="en-US" sz="800" b="1" dirty="0">
                <a:latin typeface="+mn-ea"/>
                <a:ea typeface="+mn-ea"/>
              </a:endParaRPr>
            </a:p>
          </p:txBody>
        </p:sp>
        <p:cxnSp>
          <p:nvCxnSpPr>
            <p:cNvPr id="83" name="구부러진 연결선 82"/>
            <p:cNvCxnSpPr>
              <a:stCxn id="55" idx="3"/>
              <a:endCxn id="78" idx="1"/>
            </p:cNvCxnSpPr>
            <p:nvPr/>
          </p:nvCxnSpPr>
          <p:spPr>
            <a:xfrm>
              <a:off x="6044942" y="1561812"/>
              <a:ext cx="489811" cy="1341779"/>
            </a:xfrm>
            <a:prstGeom prst="curvedConnector3">
              <a:avLst>
                <a:gd name="adj1" fmla="val 50000"/>
              </a:avLst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78"/>
            <p:cNvSpPr>
              <a:spLocks noChangeArrowheads="1"/>
            </p:cNvSpPr>
            <p:nvPr/>
          </p:nvSpPr>
          <p:spPr>
            <a:xfrm>
              <a:off x="4670945" y="2903005"/>
              <a:ext cx="1374545" cy="27319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>
              <a:solidFill>
                <a:schemeClr val="bg1">
                  <a:lumMod val="75000"/>
                </a:schemeClr>
              </a:solidFill>
              <a:miter/>
            </a:ln>
          </p:spPr>
          <p:txBody>
            <a:bodyPr lIns="0" tIns="0" rIns="0" bIns="0" anchor="ctr" anchorCtr="0"/>
            <a:lstStyle/>
            <a:p>
              <a:pPr algn="ctr" defTabSz="994484" eaLnBrk="0" latinLnBrk="0" hangingPunct="0">
                <a:lnSpc>
                  <a:spcPct val="110000"/>
                </a:lnSpc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783341" algn="l"/>
                </a:tabLst>
                <a:defRPr lang="ko-KR"/>
              </a:pPr>
              <a:r>
                <a:rPr lang="ko-KR" altLang="en-US" sz="9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  <a:sym typeface="Monotype Sorts"/>
                </a:rPr>
                <a:t>통합단말</a:t>
              </a:r>
              <a:r>
                <a:rPr lang="en-US" altLang="ko-KR" sz="9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  <a:sym typeface="Monotype Sorts"/>
                </a:rPr>
                <a:t>(K_IBOS)</a:t>
              </a:r>
              <a:endPara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Monotype Sorts"/>
              </a:endParaRPr>
            </a:p>
          </p:txBody>
        </p:sp>
        <p:grpSp>
          <p:nvGrpSpPr>
            <p:cNvPr id="89" name="그룹 210"/>
            <p:cNvGrpSpPr/>
            <p:nvPr/>
          </p:nvGrpSpPr>
          <p:grpSpPr>
            <a:xfrm>
              <a:off x="2460446" y="2574015"/>
              <a:ext cx="1052394" cy="230018"/>
              <a:chOff x="1567510" y="3194326"/>
              <a:chExt cx="937132" cy="319842"/>
            </a:xfrm>
          </p:grpSpPr>
          <p:sp>
            <p:nvSpPr>
              <p:cNvPr id="90" name="모서리가 둥근 직사각형 211"/>
              <p:cNvSpPr/>
              <p:nvPr/>
            </p:nvSpPr>
            <p:spPr>
              <a:xfrm>
                <a:off x="1567510" y="3194326"/>
                <a:ext cx="937132" cy="319842"/>
              </a:xfrm>
              <a:prstGeom prst="roundRect">
                <a:avLst>
                  <a:gd name="adj" fmla="val 6309"/>
                </a:avLst>
              </a:prstGeom>
              <a:solidFill>
                <a:srgbClr val="FFC000"/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 lang="ko-KR" altLang="en-US"/>
                </a:pPr>
                <a:endParaRPr lang="ko-KR" altLang="en-US" sz="8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1" name="TextBox 213"/>
              <p:cNvSpPr txBox="1">
                <a:spLocks noChangeArrowheads="1"/>
              </p:cNvSpPr>
              <p:nvPr/>
            </p:nvSpPr>
            <p:spPr>
              <a:xfrm>
                <a:off x="1779673" y="3277802"/>
                <a:ext cx="634748" cy="123111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defRPr lang="ko-KR" altLang="en-US"/>
                </a:pPr>
                <a:r>
                  <a:rPr lang="en-US" altLang="ko-KR" sz="800" b="1" dirty="0" smtClean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D’AmoWA</a:t>
                </a:r>
                <a:endParaRPr lang="ko-KR" altLang="en-US" sz="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92" name="그림 91" descr="에이전트_gr.emf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05419" y="2564904"/>
              <a:ext cx="263954" cy="263954"/>
            </a:xfrm>
            <a:prstGeom prst="rect">
              <a:avLst/>
            </a:prstGeom>
          </p:spPr>
        </p:pic>
        <p:sp>
          <p:nvSpPr>
            <p:cNvPr id="93" name="TextBox 213"/>
            <p:cNvSpPr txBox="1">
              <a:spLocks noChangeArrowheads="1"/>
            </p:cNvSpPr>
            <p:nvPr/>
          </p:nvSpPr>
          <p:spPr>
            <a:xfrm>
              <a:off x="7204254" y="3094915"/>
              <a:ext cx="799995" cy="12799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noFill/>
              <a:miter/>
            </a:ln>
          </p:spPr>
          <p:txBody>
            <a:bodyPr wrap="square" lIns="0" tIns="0" rIns="0" bIns="0">
              <a:spAutoFit/>
            </a:bodyPr>
            <a:lstStyle/>
            <a:p>
              <a:pPr>
                <a:defRPr lang="ko-KR" altLang="en-US"/>
              </a:pPr>
              <a:r>
                <a:rPr lang="en-US" altLang="ko-KR" sz="8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SA-WEB Agent</a:t>
              </a:r>
              <a:endPara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94" name="그림 93" descr="에이전트_b.emf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05727" y="3047542"/>
              <a:ext cx="270044" cy="270044"/>
            </a:xfrm>
            <a:prstGeom prst="rect">
              <a:avLst/>
            </a:prstGeom>
          </p:spPr>
        </p:pic>
        <p:sp>
          <p:nvSpPr>
            <p:cNvPr id="95" name="TextBox 213"/>
            <p:cNvSpPr txBox="1">
              <a:spLocks noChangeArrowheads="1"/>
            </p:cNvSpPr>
            <p:nvPr/>
          </p:nvSpPr>
          <p:spPr>
            <a:xfrm>
              <a:off x="7206590" y="3321882"/>
              <a:ext cx="788950" cy="12237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noFill/>
              <a:miter/>
            </a:ln>
          </p:spPr>
          <p:txBody>
            <a:bodyPr wrap="square" lIns="0" tIns="0" rIns="0" bIns="0">
              <a:spAutoFit/>
            </a:bodyPr>
            <a:lstStyle/>
            <a:p>
              <a:pPr>
                <a:defRPr lang="ko-KR" altLang="en-US"/>
              </a:pPr>
              <a:r>
                <a:rPr lang="en-US" altLang="ko-KR" sz="8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SA-WEB Agent</a:t>
              </a:r>
              <a:endPara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96" name="그림 95" descr="에이전트_b.emf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05727" y="3257091"/>
              <a:ext cx="270044" cy="270044"/>
            </a:xfrm>
            <a:prstGeom prst="rect">
              <a:avLst/>
            </a:prstGeom>
          </p:spPr>
        </p:pic>
        <p:sp>
          <p:nvSpPr>
            <p:cNvPr id="97" name="TextBox 213"/>
            <p:cNvSpPr txBox="1">
              <a:spLocks noChangeArrowheads="1"/>
            </p:cNvSpPr>
            <p:nvPr/>
          </p:nvSpPr>
          <p:spPr>
            <a:xfrm>
              <a:off x="7206788" y="3566369"/>
              <a:ext cx="797461" cy="12311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noFill/>
              <a:miter/>
            </a:ln>
          </p:spPr>
          <p:txBody>
            <a:bodyPr wrap="square" lIns="0" tIns="0" rIns="0" bIns="0">
              <a:spAutoFit/>
            </a:bodyPr>
            <a:lstStyle/>
            <a:p>
              <a:pPr>
                <a:defRPr lang="ko-KR" altLang="en-US"/>
              </a:pPr>
              <a:r>
                <a:rPr lang="en-US" altLang="ko-KR" sz="8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SA-WEB Agent</a:t>
              </a:r>
              <a:endPara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98" name="그림 97" descr="에이전트_b.emf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97216" y="3518996"/>
              <a:ext cx="270044" cy="270044"/>
            </a:xfrm>
            <a:prstGeom prst="rect">
              <a:avLst/>
            </a:prstGeom>
          </p:spPr>
        </p:pic>
        <p:sp>
          <p:nvSpPr>
            <p:cNvPr id="85" name="TextBox 213"/>
            <p:cNvSpPr txBox="1">
              <a:spLocks noChangeArrowheads="1"/>
            </p:cNvSpPr>
            <p:nvPr/>
          </p:nvSpPr>
          <p:spPr>
            <a:xfrm>
              <a:off x="5281160" y="3143031"/>
              <a:ext cx="772642" cy="123111"/>
            </a:xfrm>
            <a:prstGeom prst="rect">
              <a:avLst/>
            </a:prstGeom>
            <a:solidFill>
              <a:srgbClr val="92D050"/>
            </a:solidFill>
            <a:ln w="9525">
              <a:noFill/>
              <a:miter/>
            </a:ln>
          </p:spPr>
          <p:txBody>
            <a:bodyPr wrap="square" lIns="0" tIns="0" rIns="0" bIns="0">
              <a:spAutoFit/>
            </a:bodyPr>
            <a:lstStyle/>
            <a:p>
              <a:pPr>
                <a:defRPr lang="ko-KR" altLang="en-US"/>
              </a:pPr>
              <a:r>
                <a:rPr lang="en-US" altLang="ko-KR" sz="8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SA-CSI Agent</a:t>
              </a:r>
              <a:endPara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99" name="그림 98" descr="에이전트_b.emf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79697" y="3078239"/>
              <a:ext cx="270044" cy="2700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4997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dirty="0" smtClean="0"/>
              <a:t>1.2 SSO</a:t>
            </a:r>
            <a:r>
              <a:rPr lang="ko-KR" altLang="en-US" dirty="0" smtClean="0"/>
              <a:t> 적용을 위한 업무간 </a:t>
            </a:r>
            <a:r>
              <a:rPr lang="en-US" altLang="ko-KR" dirty="0" smtClean="0"/>
              <a:t>R&amp;R</a:t>
            </a:r>
            <a:endParaRPr lang="ko-KR" altLang="en-US" dirty="0"/>
          </a:p>
        </p:txBody>
      </p:sp>
      <p:sp>
        <p:nvSpPr>
          <p:cNvPr id="7" name="내용 개체 틀 1"/>
          <p:cNvSpPr>
            <a:spLocks noGrp="1"/>
          </p:cNvSpPr>
          <p:nvPr>
            <p:ph idx="1"/>
          </p:nvPr>
        </p:nvSpPr>
        <p:spPr>
          <a:xfrm>
            <a:off x="272480" y="778690"/>
            <a:ext cx="9360476" cy="354367"/>
          </a:xfrm>
        </p:spPr>
        <p:txBody>
          <a:bodyPr>
            <a:normAutofit/>
          </a:bodyPr>
          <a:lstStyle/>
          <a:p>
            <a:pPr algn="just" latinLnBrk="1">
              <a:lnSpc>
                <a:spcPct val="92000"/>
              </a:lnSpc>
              <a:buSzPct val="75000"/>
              <a:defRPr lang="ko-KR" altLang="en-US"/>
            </a:pPr>
            <a:r>
              <a:rPr lang="en-US" altLang="ko-KR" spc="-50" dirty="0" smtClean="0"/>
              <a:t>SSO</a:t>
            </a:r>
            <a:r>
              <a:rPr lang="ko-KR" altLang="en-US" spc="-50" dirty="0" smtClean="0"/>
              <a:t> 적용을 위한 시스템 등록</a:t>
            </a:r>
            <a:r>
              <a:rPr lang="en-US" altLang="ko-KR" spc="-50" dirty="0" smtClean="0"/>
              <a:t>, Agent </a:t>
            </a:r>
            <a:r>
              <a:rPr lang="ko-KR" altLang="en-US" spc="-50" dirty="0" smtClean="0"/>
              <a:t>설치 </a:t>
            </a:r>
            <a:r>
              <a:rPr lang="ko-KR" altLang="en-US" spc="-50" dirty="0"/>
              <a:t>및 일부 소스 </a:t>
            </a:r>
            <a:r>
              <a:rPr lang="ko-KR" altLang="en-US" spc="-50" dirty="0" smtClean="0"/>
              <a:t>수정 후</a:t>
            </a:r>
            <a:r>
              <a:rPr lang="en-US" altLang="ko-KR" spc="-50" dirty="0" smtClean="0"/>
              <a:t>,</a:t>
            </a:r>
            <a:r>
              <a:rPr lang="ko-KR" altLang="en-US" spc="-50" dirty="0" smtClean="0"/>
              <a:t> 연동 </a:t>
            </a:r>
            <a:r>
              <a:rPr lang="ko-KR" altLang="en-US" spc="-50" dirty="0"/>
              <a:t>테스트 필요</a:t>
            </a:r>
          </a:p>
        </p:txBody>
      </p:sp>
      <p:sp>
        <p:nvSpPr>
          <p:cNvPr id="8" name="직사각형 15"/>
          <p:cNvSpPr/>
          <p:nvPr/>
        </p:nvSpPr>
        <p:spPr bwMode="gray">
          <a:xfrm>
            <a:off x="344489" y="1124744"/>
            <a:ext cx="9145016" cy="4104456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  <a:effectLst/>
        </p:spPr>
        <p:txBody>
          <a:bodyPr wrap="square" lIns="36000" tIns="36000" rIns="36000" bIns="36000" anchor="ctr" anchorCtr="0">
            <a:noAutofit/>
          </a:bodyPr>
          <a:lstStyle/>
          <a:p>
            <a:pPr indent="-72000" latinLnBrk="1">
              <a:spcBef>
                <a:spcPts val="600"/>
              </a:spcBef>
              <a:spcAft>
                <a:spcPts val="0"/>
              </a:spcAft>
              <a:buSzPct val="75000"/>
              <a:buFont typeface="Wingdings"/>
              <a:buNone/>
              <a:defRPr lang="ko-KR" altLang="en-US"/>
            </a:pPr>
            <a:r>
              <a:rPr lang="ko-KR" altLang="en-US" sz="16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▣ </a:t>
            </a:r>
            <a:r>
              <a:rPr lang="ko-KR" altLang="en-US" sz="1600" b="1" u="sng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적용 업무팀</a:t>
            </a:r>
            <a:r>
              <a:rPr lang="ko-KR" altLang="en-US" sz="16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해당 사항</a:t>
            </a:r>
            <a:endParaRPr lang="en-US" altLang="ko-KR" sz="1600" b="1" dirty="0" smtClean="0">
              <a:solidFill>
                <a:srgbClr val="1F497D">
                  <a:lumMod val="50000"/>
                </a:srgbClr>
              </a:solidFill>
              <a:latin typeface="+mn-ea"/>
              <a:ea typeface="+mn-ea"/>
            </a:endParaRPr>
          </a:p>
          <a:p>
            <a:pPr indent="-72000" latinLnBrk="1">
              <a:spcBef>
                <a:spcPts val="600"/>
              </a:spcBef>
              <a:spcAft>
                <a:spcPts val="0"/>
              </a:spcAft>
              <a:buSzPct val="75000"/>
              <a:buFont typeface="Wingdings"/>
              <a:buNone/>
              <a:defRPr lang="ko-KR" altLang="en-US"/>
            </a:pPr>
            <a:r>
              <a:rPr lang="en-US" altLang="ko-KR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   1. ESSO</a:t>
            </a:r>
            <a:r>
              <a:rPr lang="ko-KR" altLang="en-US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팀에 </a:t>
            </a:r>
            <a:r>
              <a:rPr lang="en-US" altLang="ko-KR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SSO </a:t>
            </a:r>
            <a:r>
              <a:rPr lang="ko-KR" altLang="en-US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적용을 </a:t>
            </a:r>
            <a:r>
              <a:rPr lang="ko-KR" altLang="en-US" sz="1400" b="1" dirty="0" smtClean="0">
                <a:latin typeface="+mn-ea"/>
                <a:ea typeface="+mn-ea"/>
              </a:rPr>
              <a:t>위한 정보항목 제공 및 등록 요청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indent="-72000" latinLnBrk="1">
              <a:spcBef>
                <a:spcPts val="600"/>
              </a:spcBef>
              <a:spcAft>
                <a:spcPts val="0"/>
              </a:spcAft>
              <a:buSzPct val="75000"/>
              <a:buFont typeface="Wingdings"/>
              <a:buNone/>
              <a:defRPr lang="ko-KR" altLang="en-US"/>
            </a:pPr>
            <a:r>
              <a:rPr lang="en-US" altLang="ko-KR" sz="1400" b="1" dirty="0" smtClean="0">
                <a:solidFill>
                  <a:srgbClr val="0000FF"/>
                </a:solidFill>
                <a:latin typeface="+mn-ea"/>
                <a:ea typeface="+mn-ea"/>
              </a:rPr>
              <a:t>    </a:t>
            </a:r>
            <a:r>
              <a:rPr lang="en-US" altLang="ko-KR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2. </a:t>
            </a:r>
            <a:r>
              <a:rPr lang="en-US" altLang="ko-KR" sz="1400" b="1" dirty="0" smtClean="0">
                <a:latin typeface="+mn-ea"/>
                <a:ea typeface="+mn-ea"/>
              </a:rPr>
              <a:t>SSO Agent </a:t>
            </a:r>
            <a:r>
              <a:rPr lang="ko-KR" altLang="en-US" sz="1400" b="1" dirty="0" smtClean="0">
                <a:latin typeface="+mn-ea"/>
                <a:ea typeface="+mn-ea"/>
              </a:rPr>
              <a:t>설치 및 일부 소스 수정 후</a:t>
            </a:r>
            <a:r>
              <a:rPr lang="en-US" altLang="ko-KR" sz="1400" b="1" dirty="0" smtClean="0">
                <a:latin typeface="+mn-ea"/>
                <a:ea typeface="+mn-ea"/>
              </a:rPr>
              <a:t>,</a:t>
            </a:r>
            <a:r>
              <a:rPr lang="ko-KR" altLang="en-US" sz="1400" b="1" dirty="0" smtClean="0">
                <a:latin typeface="+mn-ea"/>
                <a:ea typeface="+mn-ea"/>
              </a:rPr>
              <a:t> 연동 테스트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indent="-72000" latinLnBrk="1">
              <a:spcBef>
                <a:spcPts val="600"/>
              </a:spcBef>
              <a:spcAft>
                <a:spcPts val="0"/>
              </a:spcAft>
              <a:buSzPct val="75000"/>
              <a:buFont typeface="Wingdings"/>
              <a:buNone/>
              <a:defRPr lang="ko-KR" altLang="en-US"/>
            </a:pPr>
            <a:r>
              <a:rPr lang="en-US" altLang="ko-KR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   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  <a:ea typeface="+mn-ea"/>
              </a:rPr>
              <a:t>3. SSO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  <a:ea typeface="+mn-ea"/>
              </a:rPr>
              <a:t>장애시 업무연속성을 위해 업무시스템별 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  <a:ea typeface="+mn-ea"/>
              </a:rPr>
              <a:t>[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  <a:ea typeface="+mn-ea"/>
              </a:rPr>
              <a:t>로그인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  <a:ea typeface="+mn-ea"/>
              </a:rPr>
              <a:t>(ID/PW)]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  <a:ea typeface="+mn-ea"/>
              </a:rPr>
              <a:t>페이지 개발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  <a:ea typeface="+mn-ea"/>
              </a:rPr>
              <a:t>/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  <a:ea typeface="+mn-ea"/>
              </a:rPr>
              <a:t>적용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  <a:ea typeface="+mn-ea"/>
              </a:rPr>
              <a:t>필요</a:t>
            </a:r>
            <a:endParaRPr lang="en-US" altLang="ko-KR" sz="1400" b="1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indent="-72000">
              <a:spcBef>
                <a:spcPts val="600"/>
              </a:spcBef>
              <a:spcAft>
                <a:spcPts val="0"/>
              </a:spcAft>
              <a:buSzPct val="75000"/>
              <a:defRPr lang="ko-KR" altLang="en-US"/>
            </a:pPr>
            <a:r>
              <a:rPr lang="en-US" altLang="ko-KR" sz="1400" b="1" dirty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  </a:t>
            </a:r>
            <a:r>
              <a:rPr lang="en-US" altLang="ko-KR" sz="1400" b="1" dirty="0" smtClean="0">
                <a:latin typeface="+mn-ea"/>
                <a:ea typeface="+mn-ea"/>
              </a:rPr>
              <a:t>☞ </a:t>
            </a:r>
            <a:r>
              <a:rPr lang="ko-KR" altLang="en-US" sz="1400" b="1" dirty="0" smtClean="0">
                <a:latin typeface="+mn-ea"/>
                <a:ea typeface="+mn-ea"/>
              </a:rPr>
              <a:t>로그인용 사용자정보의 별도 보유가 </a:t>
            </a:r>
            <a:r>
              <a:rPr lang="ko-KR" altLang="en-US" sz="1400" b="1" dirty="0">
                <a:latin typeface="+mn-ea"/>
                <a:ea typeface="+mn-ea"/>
              </a:rPr>
              <a:t>필요한 </a:t>
            </a:r>
            <a:r>
              <a:rPr lang="ko-KR" altLang="en-US" sz="1400" b="1" dirty="0" smtClean="0">
                <a:latin typeface="+mn-ea"/>
                <a:ea typeface="+mn-ea"/>
              </a:rPr>
              <a:t>업무시스템은 통합계정권한관리팀</a:t>
            </a:r>
            <a:r>
              <a:rPr lang="en-US" altLang="ko-KR" sz="1400" b="1" dirty="0" smtClean="0">
                <a:latin typeface="+mn-ea"/>
                <a:ea typeface="+mn-ea"/>
              </a:rPr>
              <a:t>(</a:t>
            </a:r>
            <a:r>
              <a:rPr lang="ko-KR" altLang="en-US" sz="1400" b="1" dirty="0" smtClean="0">
                <a:latin typeface="+mn-ea"/>
                <a:ea typeface="+mn-ea"/>
              </a:rPr>
              <a:t>IAM</a:t>
            </a:r>
            <a:r>
              <a:rPr lang="en-US" altLang="ko-KR" sz="1400" b="1" dirty="0" smtClean="0">
                <a:latin typeface="+mn-ea"/>
                <a:ea typeface="+mn-ea"/>
              </a:rPr>
              <a:t>)</a:t>
            </a:r>
            <a:r>
              <a:rPr lang="ko-KR" altLang="en-US" sz="1400" b="1" dirty="0" smtClean="0">
                <a:latin typeface="+mn-ea"/>
                <a:ea typeface="+mn-ea"/>
              </a:rPr>
              <a:t>과 사전협의 필요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indent="-72000" latinLnBrk="1">
              <a:spcBef>
                <a:spcPts val="600"/>
              </a:spcBef>
              <a:spcAft>
                <a:spcPts val="0"/>
              </a:spcAft>
              <a:buSzPct val="75000"/>
              <a:buFont typeface="Wingdings"/>
              <a:buNone/>
              <a:defRPr lang="ko-KR" altLang="en-US"/>
            </a:pPr>
            <a:endParaRPr lang="en-US" altLang="ko-KR" sz="1400" b="1" dirty="0" smtClean="0">
              <a:latin typeface="+mn-ea"/>
              <a:ea typeface="+mn-ea"/>
            </a:endParaRPr>
          </a:p>
          <a:p>
            <a:pPr indent="-72000" latinLnBrk="1">
              <a:spcBef>
                <a:spcPts val="600"/>
              </a:spcBef>
              <a:spcAft>
                <a:spcPts val="0"/>
              </a:spcAft>
              <a:buSzPct val="75000"/>
              <a:defRPr lang="ko-KR" altLang="en-US"/>
            </a:pPr>
            <a:r>
              <a:rPr lang="ko-KR" altLang="en-US" sz="1600" b="1" dirty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▣</a:t>
            </a:r>
            <a:r>
              <a:rPr lang="ko-KR" altLang="en-US" sz="16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</a:t>
            </a:r>
            <a:r>
              <a:rPr lang="en-US" altLang="ko-KR" sz="1600" b="1" u="sng" dirty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ESSO</a:t>
            </a:r>
            <a:r>
              <a:rPr lang="ko-KR" altLang="en-US" sz="1600" b="1" u="sng" dirty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팀</a:t>
            </a:r>
            <a:r>
              <a:rPr lang="ko-KR" altLang="en-US" sz="1600" b="1" dirty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해당 사항</a:t>
            </a:r>
            <a:endParaRPr lang="en-US" altLang="ko-KR" sz="1600" b="1" dirty="0">
              <a:solidFill>
                <a:srgbClr val="1F497D">
                  <a:lumMod val="50000"/>
                </a:srgbClr>
              </a:solidFill>
              <a:latin typeface="+mn-ea"/>
              <a:ea typeface="+mn-ea"/>
            </a:endParaRPr>
          </a:p>
          <a:p>
            <a:pPr indent="-72000" latinLnBrk="1">
              <a:spcBef>
                <a:spcPts val="600"/>
              </a:spcBef>
              <a:spcAft>
                <a:spcPts val="0"/>
              </a:spcAft>
              <a:buSzPct val="75000"/>
              <a:defRPr lang="ko-KR" altLang="en-US"/>
            </a:pPr>
            <a:r>
              <a:rPr lang="en-US" altLang="ko-KR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   1. SSO </a:t>
            </a:r>
            <a:r>
              <a:rPr lang="ko-KR" altLang="en-US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적용 관련 </a:t>
            </a:r>
            <a:r>
              <a:rPr lang="ko-KR" altLang="en-US" sz="1400" b="1" dirty="0">
                <a:latin typeface="+mn-ea"/>
                <a:ea typeface="+mn-ea"/>
              </a:rPr>
              <a:t>개발자 </a:t>
            </a:r>
            <a:r>
              <a:rPr lang="ko-KR" altLang="en-US" sz="1400" b="1" dirty="0" smtClean="0">
                <a:latin typeface="+mn-ea"/>
                <a:ea typeface="+mn-ea"/>
              </a:rPr>
              <a:t>교육</a:t>
            </a:r>
            <a:endParaRPr lang="ko-KR" altLang="en-US" sz="1400" b="1" dirty="0" smtClean="0">
              <a:solidFill>
                <a:srgbClr val="1F497D">
                  <a:lumMod val="50000"/>
                </a:srgbClr>
              </a:solidFill>
              <a:latin typeface="+mn-ea"/>
              <a:ea typeface="+mn-ea"/>
            </a:endParaRPr>
          </a:p>
          <a:p>
            <a:pPr indent="-72000">
              <a:spcBef>
                <a:spcPts val="600"/>
              </a:spcBef>
              <a:spcAft>
                <a:spcPts val="0"/>
              </a:spcAft>
              <a:buSzPct val="75000"/>
              <a:defRPr lang="ko-KR" altLang="en-US"/>
            </a:pPr>
            <a:r>
              <a:rPr lang="ko-KR" altLang="en-US" sz="1400" b="1" dirty="0" smtClean="0">
                <a:latin typeface="+mn-ea"/>
                <a:ea typeface="+mn-ea"/>
              </a:rPr>
              <a:t>        </a:t>
            </a:r>
            <a:r>
              <a:rPr lang="en-US" altLang="ko-KR" sz="1400" b="1" dirty="0" smtClean="0">
                <a:latin typeface="+mn-ea"/>
                <a:ea typeface="+mn-ea"/>
              </a:rPr>
              <a:t>☞</a:t>
            </a:r>
            <a:r>
              <a:rPr lang="ko-KR" altLang="en-US" sz="1400" b="1" dirty="0" smtClean="0"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latin typeface="+mn-ea"/>
                <a:ea typeface="+mn-ea"/>
              </a:rPr>
              <a:t>SSO </a:t>
            </a:r>
            <a:r>
              <a:rPr lang="ko-KR" altLang="en-US" sz="1400" b="1" dirty="0" smtClean="0">
                <a:latin typeface="+mn-ea"/>
                <a:ea typeface="+mn-ea"/>
              </a:rPr>
              <a:t>연동 매뉴얼 및 </a:t>
            </a:r>
            <a:r>
              <a:rPr lang="en-US" altLang="ko-KR" sz="1400" b="1" dirty="0" smtClean="0">
                <a:latin typeface="+mn-ea"/>
                <a:ea typeface="+mn-ea"/>
              </a:rPr>
              <a:t>Agent </a:t>
            </a:r>
            <a:r>
              <a:rPr lang="ko-KR" altLang="en-US" sz="1400" b="1" dirty="0" smtClean="0">
                <a:latin typeface="+mn-ea"/>
                <a:ea typeface="+mn-ea"/>
              </a:rPr>
              <a:t>파일 제공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indent="-72000" latinLnBrk="1">
              <a:spcBef>
                <a:spcPts val="600"/>
              </a:spcBef>
              <a:spcAft>
                <a:spcPts val="0"/>
              </a:spcAft>
              <a:buSzPct val="75000"/>
              <a:buFont typeface="Wingdings"/>
              <a:buNone/>
              <a:defRPr lang="ko-KR" altLang="en-US"/>
            </a:pPr>
            <a:r>
              <a:rPr lang="en-US" altLang="ko-KR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   2. SSO </a:t>
            </a:r>
            <a:r>
              <a:rPr lang="ko-KR" altLang="en-US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연동 적용신청서 접수 후</a:t>
            </a:r>
            <a:r>
              <a:rPr lang="en-US" altLang="ko-KR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,</a:t>
            </a:r>
            <a:r>
              <a:rPr lang="ko-KR" altLang="en-US" sz="1400" b="1" dirty="0" smtClean="0">
                <a:latin typeface="+mn-ea"/>
                <a:ea typeface="+mn-ea"/>
              </a:rPr>
              <a:t> 업무팀에 </a:t>
            </a:r>
            <a:r>
              <a:rPr lang="en-US" altLang="ko-KR" sz="1400" b="1" dirty="0">
                <a:solidFill>
                  <a:srgbClr val="0000FF"/>
                </a:solidFill>
                <a:latin typeface="+mn-ea"/>
                <a:ea typeface="+mn-ea"/>
              </a:rPr>
              <a:t>SSID </a:t>
            </a:r>
            <a:r>
              <a:rPr lang="ko-KR" altLang="en-US" sz="1400" b="1" dirty="0" smtClean="0">
                <a:solidFill>
                  <a:srgbClr val="0000FF"/>
                </a:solidFill>
                <a:latin typeface="+mn-ea"/>
                <a:ea typeface="+mn-ea"/>
              </a:rPr>
              <a:t>등록 및 통보</a:t>
            </a:r>
            <a:endParaRPr lang="en-US" altLang="ko-KR" sz="14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indent="-72000">
              <a:spcBef>
                <a:spcPts val="600"/>
              </a:spcBef>
              <a:spcAft>
                <a:spcPts val="0"/>
              </a:spcAft>
              <a:buSzPct val="75000"/>
              <a:defRPr lang="ko-KR" altLang="en-US"/>
            </a:pPr>
            <a:r>
              <a:rPr lang="en-US" altLang="ko-KR" sz="1400" b="1" dirty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      </a:t>
            </a:r>
            <a:r>
              <a:rPr lang="en-US" altLang="ko-KR" sz="1400" b="1" dirty="0" smtClean="0">
                <a:latin typeface="+mn-ea"/>
                <a:ea typeface="+mn-ea"/>
              </a:rPr>
              <a:t>☞</a:t>
            </a:r>
            <a:r>
              <a:rPr lang="en-US" altLang="ko-KR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</a:t>
            </a:r>
            <a:r>
              <a:rPr lang="ko-KR" altLang="en-US" sz="1400" b="1" dirty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SSID : </a:t>
            </a:r>
            <a:r>
              <a:rPr lang="en-US" altLang="ko-KR" sz="1400" b="1" dirty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E</a:t>
            </a:r>
            <a:r>
              <a:rPr lang="ko-KR" altLang="en-US" sz="1400" b="1" dirty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SSO 시스템에서</a:t>
            </a:r>
            <a:r>
              <a:rPr lang="en-US" altLang="ko-KR" sz="1400" b="1" dirty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SSO </a:t>
            </a:r>
            <a:r>
              <a:rPr lang="ko-KR" altLang="en-US" sz="1400" b="1" dirty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대상 시스템을 식별하는 시스템 고유번호로서 소스 수정 시 </a:t>
            </a:r>
            <a:r>
              <a:rPr lang="ko-KR" altLang="en-US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필요</a:t>
            </a:r>
            <a:endParaRPr lang="en-US" altLang="ko-KR" sz="1400" b="1" dirty="0" smtClean="0">
              <a:solidFill>
                <a:srgbClr val="1F497D">
                  <a:lumMod val="50000"/>
                </a:srgbClr>
              </a:solidFill>
              <a:latin typeface="+mn-ea"/>
              <a:ea typeface="+mn-ea"/>
            </a:endParaRPr>
          </a:p>
          <a:p>
            <a:pPr indent="-72000">
              <a:spcBef>
                <a:spcPts val="600"/>
              </a:spcBef>
              <a:spcAft>
                <a:spcPts val="0"/>
              </a:spcAft>
              <a:buSzPct val="75000"/>
              <a:defRPr lang="ko-KR" altLang="en-US"/>
            </a:pPr>
            <a:r>
              <a:rPr lang="ko-KR" altLang="en-US" sz="1400" b="1" dirty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</a:t>
            </a:r>
            <a:r>
              <a:rPr lang="ko-KR" altLang="en-US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   </a:t>
            </a:r>
            <a:r>
              <a:rPr lang="en-US" altLang="ko-KR" sz="1400" b="1" dirty="0" smtClean="0">
                <a:solidFill>
                  <a:srgbClr val="1F497D">
                    <a:lumMod val="50000"/>
                  </a:srgbClr>
                </a:solidFill>
                <a:latin typeface="+mn-ea"/>
                <a:ea typeface="+mn-ea"/>
              </a:rPr>
              <a:t>3. </a:t>
            </a:r>
            <a:r>
              <a:rPr lang="en-US" altLang="ko-KR" sz="1400" b="1" dirty="0">
                <a:latin typeface="+mn-ea"/>
                <a:ea typeface="+mn-ea"/>
              </a:rPr>
              <a:t>SSO Agent </a:t>
            </a:r>
            <a:r>
              <a:rPr lang="ko-KR" altLang="en-US" sz="1400" b="1" dirty="0">
                <a:latin typeface="+mn-ea"/>
                <a:ea typeface="+mn-ea"/>
              </a:rPr>
              <a:t>적용 </a:t>
            </a:r>
            <a:r>
              <a:rPr lang="ko-KR" altLang="en-US" sz="1400" b="1" dirty="0" smtClean="0">
                <a:latin typeface="+mn-ea"/>
                <a:ea typeface="+mn-ea"/>
              </a:rPr>
              <a:t>지원</a:t>
            </a:r>
            <a:endParaRPr lang="en-US" altLang="ko-KR" sz="1400" b="1" dirty="0">
              <a:solidFill>
                <a:srgbClr val="1F497D">
                  <a:lumMod val="50000"/>
                </a:srgbClr>
              </a:solidFill>
              <a:latin typeface="+mn-ea"/>
              <a:ea typeface="+mn-ea"/>
            </a:endParaRPr>
          </a:p>
          <a:p>
            <a:pPr indent="-72000">
              <a:spcBef>
                <a:spcPts val="600"/>
              </a:spcBef>
              <a:spcAft>
                <a:spcPts val="0"/>
              </a:spcAft>
              <a:buSzPct val="75000"/>
              <a:defRPr lang="ko-KR" altLang="en-US"/>
            </a:pPr>
            <a:r>
              <a:rPr lang="en-US" altLang="ko-KR" sz="1400" b="1" dirty="0">
                <a:solidFill>
                  <a:srgbClr val="0000FF"/>
                </a:solidFill>
                <a:latin typeface="+mn-ea"/>
                <a:ea typeface="+mn-ea"/>
              </a:rPr>
              <a:t>        </a:t>
            </a:r>
            <a:r>
              <a:rPr lang="en-US" altLang="ko-KR" sz="1400" b="1" dirty="0">
                <a:latin typeface="+mn-ea"/>
                <a:ea typeface="+mn-ea"/>
              </a:rPr>
              <a:t>☞ </a:t>
            </a:r>
            <a:r>
              <a:rPr lang="ko-KR" altLang="en-US" sz="1400" b="1" dirty="0">
                <a:latin typeface="+mn-ea"/>
                <a:ea typeface="+mn-ea"/>
              </a:rPr>
              <a:t>관련 소스 수정시 가이드 및 </a:t>
            </a:r>
            <a:r>
              <a:rPr lang="ko-KR" altLang="en-US" sz="1400" b="1" dirty="0" smtClean="0">
                <a:latin typeface="+mn-ea"/>
                <a:ea typeface="+mn-ea"/>
              </a:rPr>
              <a:t>연동 </a:t>
            </a:r>
            <a:r>
              <a:rPr lang="ko-KR" altLang="en-US" sz="1400" b="1" dirty="0">
                <a:latin typeface="+mn-ea"/>
                <a:ea typeface="+mn-ea"/>
              </a:rPr>
              <a:t>테스트 지원</a:t>
            </a:r>
            <a:r>
              <a:rPr lang="en-US" altLang="ko-KR" sz="1400" b="1" dirty="0">
                <a:latin typeface="+mn-ea"/>
                <a:ea typeface="+mn-ea"/>
              </a:rPr>
              <a:t> 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1.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개요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6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dirty="0" smtClean="0"/>
              <a:t>1.3 ESSO </a:t>
            </a:r>
            <a:r>
              <a:rPr lang="ko-KR" altLang="en-US" dirty="0" smtClean="0"/>
              <a:t>솔루션 구성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1.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개요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5" name="내용 개체 틀 2"/>
          <p:cNvSpPr>
            <a:spLocks noGrp="1"/>
          </p:cNvSpPr>
          <p:nvPr>
            <p:ph idx="4294967295"/>
          </p:nvPr>
        </p:nvSpPr>
        <p:spPr>
          <a:xfrm>
            <a:off x="384561" y="797867"/>
            <a:ext cx="9192449" cy="730857"/>
          </a:xfrm>
        </p:spPr>
        <p:txBody>
          <a:bodyPr>
            <a:noAutofit/>
          </a:bodyPr>
          <a:lstStyle/>
          <a:p>
            <a:r>
              <a:rPr lang="en-US" altLang="ko-KR" dirty="0" smtClean="0"/>
              <a:t>ESSO </a:t>
            </a:r>
            <a:r>
              <a:rPr lang="ko-KR" altLang="en-US" dirty="0" smtClean="0"/>
              <a:t>솔루션은 </a:t>
            </a:r>
            <a:r>
              <a:rPr lang="en-US" altLang="ko-KR" dirty="0" smtClean="0"/>
              <a:t>PC</a:t>
            </a:r>
            <a:r>
              <a:rPr lang="ko-KR" altLang="en-US" dirty="0" smtClean="0"/>
              <a:t>통합인증</a:t>
            </a:r>
            <a:r>
              <a:rPr lang="en-US" altLang="ko-KR" dirty="0" smtClean="0"/>
              <a:t>(ISign+ EE-WIN), ESSO(ISign+ </a:t>
            </a:r>
            <a:r>
              <a:rPr lang="ko-KR" altLang="en-US" dirty="0" smtClean="0"/>
              <a:t>통합</a:t>
            </a:r>
            <a:r>
              <a:rPr lang="en-US" altLang="ko-KR" dirty="0" smtClean="0"/>
              <a:t>)</a:t>
            </a:r>
            <a:r>
              <a:rPr lang="ko-KR" altLang="en-US" dirty="0" smtClean="0"/>
              <a:t>서버</a:t>
            </a:r>
            <a:r>
              <a:rPr lang="en-US" altLang="ko-KR" dirty="0" smtClean="0"/>
              <a:t>, ISign+ Agent, D’AmoWA </a:t>
            </a:r>
            <a:r>
              <a:rPr lang="ko-KR" altLang="en-US" dirty="0" smtClean="0"/>
              <a:t>로 구성됨</a:t>
            </a:r>
            <a:endParaRPr lang="en-US" altLang="ko-KR" dirty="0"/>
          </a:p>
        </p:txBody>
      </p:sp>
      <p:sp>
        <p:nvSpPr>
          <p:cNvPr id="8" name="모서리가 둥근 직사각형 39"/>
          <p:cNvSpPr>
            <a:spLocks noChangeArrowheads="1"/>
          </p:cNvSpPr>
          <p:nvPr/>
        </p:nvSpPr>
        <p:spPr bwMode="auto">
          <a:xfrm>
            <a:off x="523337" y="4079525"/>
            <a:ext cx="1836438" cy="274703"/>
          </a:xfrm>
          <a:prstGeom prst="roundRect">
            <a:avLst>
              <a:gd name="adj" fmla="val 16667"/>
            </a:avLst>
          </a:prstGeom>
          <a:solidFill>
            <a:srgbClr val="2159B7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kumimoji="0" lang="en-US" altLang="ko-KR" sz="1000" b="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ISign+ </a:t>
            </a:r>
            <a:r>
              <a:rPr kumimoji="0" lang="en-US" altLang="ko-KR" sz="1000" b="1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EE-WIN</a:t>
            </a:r>
            <a:endParaRPr kumimoji="0" lang="en-US" altLang="ko-KR" sz="1000" b="1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3"/>
          <p:cNvSpPr txBox="1">
            <a:spLocks noChangeArrowheads="1"/>
          </p:cNvSpPr>
          <p:nvPr/>
        </p:nvSpPr>
        <p:spPr bwMode="auto">
          <a:xfrm>
            <a:off x="485601" y="4397015"/>
            <a:ext cx="192876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88900" indent="-8890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kumimoji="0" lang="ko-KR" altLang="en-US" sz="1000" b="1" dirty="0" smtClean="0">
                <a:latin typeface="+mn-ea"/>
                <a:ea typeface="+mn-ea"/>
              </a:rPr>
              <a:t>사용자 </a:t>
            </a:r>
            <a:r>
              <a:rPr kumimoji="0" lang="en-US" altLang="ko-KR" sz="1000" b="1" dirty="0" smtClean="0">
                <a:latin typeface="+mn-ea"/>
                <a:ea typeface="+mn-ea"/>
              </a:rPr>
              <a:t>PC </a:t>
            </a:r>
            <a:r>
              <a:rPr kumimoji="0" lang="ko-KR" altLang="en-US" sz="1000" b="1" dirty="0" smtClean="0">
                <a:latin typeface="+mn-ea"/>
                <a:ea typeface="+mn-ea"/>
              </a:rPr>
              <a:t>통합로그인 기능</a:t>
            </a:r>
            <a:endParaRPr kumimoji="0" lang="en-US" altLang="ko-KR" sz="1000" b="1" dirty="0" smtClean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kumimoji="0" lang="en-US" altLang="ko-KR" sz="1000" b="1" dirty="0" smtClean="0">
                <a:latin typeface="+mn-ea"/>
                <a:ea typeface="+mn-ea"/>
              </a:rPr>
              <a:t>PKI, MOTP, FIDO, </a:t>
            </a:r>
            <a:r>
              <a:rPr kumimoji="0" lang="ko-KR" altLang="en-US" sz="1000" b="1" dirty="0" smtClean="0">
                <a:latin typeface="+mn-ea"/>
                <a:ea typeface="+mn-ea"/>
              </a:rPr>
              <a:t>예외로그인</a:t>
            </a:r>
            <a:r>
              <a:rPr kumimoji="0" lang="en-US" altLang="ko-KR" sz="1000" b="1" dirty="0" smtClean="0">
                <a:latin typeface="+mn-ea"/>
                <a:ea typeface="+mn-ea"/>
              </a:rPr>
              <a:t>(ID/PW) </a:t>
            </a:r>
            <a:r>
              <a:rPr kumimoji="0" lang="ko-KR" altLang="en-US" sz="1000" b="1" dirty="0" smtClean="0">
                <a:latin typeface="+mn-ea"/>
                <a:ea typeface="+mn-ea"/>
              </a:rPr>
              <a:t>로그인 유형 제공</a:t>
            </a:r>
            <a:endParaRPr kumimoji="0" lang="en-US" altLang="ko-KR" sz="1000" b="1" dirty="0" smtClean="0">
              <a:latin typeface="+mn-ea"/>
              <a:ea typeface="+mn-ea"/>
            </a:endParaRPr>
          </a:p>
        </p:txBody>
      </p:sp>
      <p:grpSp>
        <p:nvGrpSpPr>
          <p:cNvPr id="12" name="그룹 21"/>
          <p:cNvGrpSpPr>
            <a:grpSpLocks/>
          </p:cNvGrpSpPr>
          <p:nvPr/>
        </p:nvGrpSpPr>
        <p:grpSpPr bwMode="auto">
          <a:xfrm>
            <a:off x="4723259" y="2968625"/>
            <a:ext cx="342900" cy="342900"/>
            <a:chOff x="933450" y="2076450"/>
            <a:chExt cx="638175" cy="638175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933450" y="2265539"/>
              <a:ext cx="638175" cy="259997"/>
            </a:xfrm>
            <a:prstGeom prst="round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1">
                <a:defRPr/>
              </a:pPr>
              <a:endPara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모서리가 둥근 직사각형 13"/>
            <p:cNvSpPr/>
            <p:nvPr/>
          </p:nvSpPr>
          <p:spPr>
            <a:xfrm rot="16200000">
              <a:off x="933450" y="2265539"/>
              <a:ext cx="638175" cy="259997"/>
            </a:xfrm>
            <a:prstGeom prst="round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1">
                <a:defRPr/>
              </a:pPr>
              <a:endPara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5" name="그룹 24"/>
          <p:cNvGrpSpPr>
            <a:grpSpLocks/>
          </p:cNvGrpSpPr>
          <p:nvPr/>
        </p:nvGrpSpPr>
        <p:grpSpPr bwMode="auto">
          <a:xfrm>
            <a:off x="2202979" y="2942084"/>
            <a:ext cx="342900" cy="342900"/>
            <a:chOff x="933450" y="2076450"/>
            <a:chExt cx="638175" cy="638175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933450" y="2265539"/>
              <a:ext cx="638175" cy="259997"/>
            </a:xfrm>
            <a:prstGeom prst="round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1">
                <a:defRPr/>
              </a:pPr>
              <a:endPara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모서리가 둥근 직사각형 16"/>
            <p:cNvSpPr/>
            <p:nvPr/>
          </p:nvSpPr>
          <p:spPr>
            <a:xfrm rot="16200000">
              <a:off x="933450" y="2265539"/>
              <a:ext cx="638175" cy="259997"/>
            </a:xfrm>
            <a:prstGeom prst="round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1">
                <a:defRPr/>
              </a:pPr>
              <a:endPara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8" name="그룹 32"/>
          <p:cNvGrpSpPr>
            <a:grpSpLocks/>
          </p:cNvGrpSpPr>
          <p:nvPr/>
        </p:nvGrpSpPr>
        <p:grpSpPr bwMode="auto">
          <a:xfrm>
            <a:off x="5083299" y="2495550"/>
            <a:ext cx="1973808" cy="2936641"/>
            <a:chOff x="772864" y="2660322"/>
            <a:chExt cx="1972882" cy="2938884"/>
          </a:xfrm>
        </p:grpSpPr>
        <p:sp>
          <p:nvSpPr>
            <p:cNvPr id="19" name="TextBox 76"/>
            <p:cNvSpPr txBox="1">
              <a:spLocks noChangeArrowheads="1"/>
            </p:cNvSpPr>
            <p:nvPr/>
          </p:nvSpPr>
          <p:spPr bwMode="auto">
            <a:xfrm>
              <a:off x="772864" y="4582767"/>
              <a:ext cx="1972882" cy="1016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88900" indent="-889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kumimoji="0" lang="ko-KR" altLang="en-US" sz="1000" b="1" dirty="0" smtClean="0">
                  <a:latin typeface="+mn-ea"/>
                  <a:ea typeface="+mn-ea"/>
                </a:rPr>
                <a:t>업무시스템 </a:t>
              </a:r>
              <a:r>
                <a:rPr kumimoji="0" lang="en-US" altLang="ko-KR" sz="1000" b="1" dirty="0" smtClean="0">
                  <a:latin typeface="+mn-ea"/>
                  <a:ea typeface="+mn-ea"/>
                </a:rPr>
                <a:t>SSO</a:t>
              </a:r>
              <a:r>
                <a:rPr kumimoji="0" lang="ko-KR" altLang="en-US" sz="1000" b="1" dirty="0" smtClean="0">
                  <a:latin typeface="+mn-ea"/>
                  <a:ea typeface="+mn-ea"/>
                </a:rPr>
                <a:t>연동 기능</a:t>
              </a:r>
              <a:endParaRPr kumimoji="0" lang="en-US" altLang="ko-KR" sz="1000" b="1" dirty="0" smtClean="0">
                <a:latin typeface="+mn-ea"/>
                <a:ea typeface="+mn-ea"/>
              </a:endParaRP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kumimoji="0" lang="ko-KR" altLang="en-US" sz="1000" b="1" dirty="0" smtClean="0">
                  <a:latin typeface="+mn-ea"/>
                  <a:ea typeface="+mn-ea"/>
                </a:rPr>
                <a:t>업무 </a:t>
              </a:r>
              <a:r>
                <a:rPr kumimoji="0" lang="ko-KR" altLang="en-US" sz="1000" b="1" dirty="0">
                  <a:latin typeface="+mn-ea"/>
                  <a:ea typeface="+mn-ea"/>
                </a:rPr>
                <a:t>시스템 서버에 최소한의 설정만으로 연동 </a:t>
              </a:r>
              <a:r>
                <a:rPr kumimoji="0" lang="ko-KR" altLang="en-US" sz="1000" b="1" dirty="0" smtClean="0">
                  <a:latin typeface="+mn-ea"/>
                  <a:ea typeface="+mn-ea"/>
                </a:rPr>
                <a:t>가능</a:t>
              </a:r>
              <a:endParaRPr kumimoji="0" lang="en-US" altLang="ko-KR" sz="1000" b="1" dirty="0" smtClean="0">
                <a:latin typeface="+mn-ea"/>
                <a:ea typeface="+mn-ea"/>
              </a:endParaRP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kumimoji="0" lang="en-US" altLang="ko-KR" sz="1000" b="1" dirty="0">
                  <a:latin typeface="+mn-ea"/>
                  <a:ea typeface="+mn-ea"/>
                </a:rPr>
                <a:t>Non-ActiveX </a:t>
              </a:r>
              <a:r>
                <a:rPr kumimoji="0" lang="ko-KR" altLang="en-US" sz="1000" b="1" dirty="0">
                  <a:latin typeface="+mn-ea"/>
                  <a:ea typeface="+mn-ea"/>
                </a:rPr>
                <a:t>기반 </a:t>
              </a:r>
              <a:r>
                <a:rPr kumimoji="0" lang="ko-KR" altLang="en-US" sz="1000" b="1" dirty="0" smtClean="0">
                  <a:latin typeface="+mn-ea"/>
                  <a:ea typeface="+mn-ea"/>
                </a:rPr>
                <a:t>업무서버연동모듈</a:t>
              </a:r>
              <a:endParaRPr kumimoji="0" lang="en-US" altLang="ko-KR" sz="1000" b="1" dirty="0" smtClean="0">
                <a:latin typeface="+mn-ea"/>
                <a:ea typeface="+mn-ea"/>
              </a:endParaRP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kumimoji="0" lang="en-US" altLang="ko-KR" sz="1000" b="1" dirty="0" smtClean="0">
                  <a:latin typeface="+mn-ea"/>
                  <a:ea typeface="+mn-ea"/>
                </a:rPr>
                <a:t>C/S, WEB, </a:t>
              </a:r>
              <a:r>
                <a:rPr kumimoji="0" lang="ko-KR" altLang="en-US" sz="1000" b="1" dirty="0" smtClean="0">
                  <a:latin typeface="+mn-ea"/>
                  <a:ea typeface="+mn-ea"/>
                </a:rPr>
                <a:t>모바일 연동 기능</a:t>
              </a:r>
              <a:endParaRPr kumimoji="0" lang="en-US" altLang="ko-KR" sz="1000" b="1" dirty="0">
                <a:latin typeface="+mn-ea"/>
                <a:ea typeface="+mn-ea"/>
              </a:endParaRPr>
            </a:p>
          </p:txBody>
        </p:sp>
        <p:sp>
          <p:nvSpPr>
            <p:cNvPr id="20" name="모서리가 둥근 직사각형 39"/>
            <p:cNvSpPr>
              <a:spLocks noChangeArrowheads="1"/>
            </p:cNvSpPr>
            <p:nvPr/>
          </p:nvSpPr>
          <p:spPr bwMode="auto">
            <a:xfrm>
              <a:off x="812566" y="4254154"/>
              <a:ext cx="1836738" cy="274638"/>
            </a:xfrm>
            <a:prstGeom prst="roundRect">
              <a:avLst>
                <a:gd name="adj" fmla="val 16667"/>
              </a:avLst>
            </a:prstGeom>
            <a:solidFill>
              <a:srgbClr val="2159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Clr>
                  <a:schemeClr val="accent2"/>
                </a:buClr>
                <a:buFont typeface="Arial" panose="020B0604020202020204" pitchFamily="34" charset="0"/>
                <a:buNone/>
              </a:pPr>
              <a:r>
                <a:rPr kumimoji="0" lang="en-US" altLang="ko-KR" sz="1000" b="1" dirty="0">
                  <a:solidFill>
                    <a:srgbClr val="FFFFFF"/>
                  </a:solidFill>
                  <a:latin typeface="+mn-ea"/>
                  <a:ea typeface="+mn-ea"/>
                </a:rPr>
                <a:t>ISign+ Agent</a:t>
              </a:r>
            </a:p>
          </p:txBody>
        </p:sp>
        <p:grpSp>
          <p:nvGrpSpPr>
            <p:cNvPr id="21" name="그룹 31"/>
            <p:cNvGrpSpPr>
              <a:grpSpLocks/>
            </p:cNvGrpSpPr>
            <p:nvPr/>
          </p:nvGrpSpPr>
          <p:grpSpPr bwMode="auto">
            <a:xfrm>
              <a:off x="1062445" y="2660322"/>
              <a:ext cx="1250731" cy="1250731"/>
              <a:chOff x="788276" y="2575034"/>
              <a:chExt cx="1250731" cy="1250731"/>
            </a:xfrm>
          </p:grpSpPr>
          <p:sp>
            <p:nvSpPr>
              <p:cNvPr id="22" name="타원 21"/>
              <p:cNvSpPr/>
              <p:nvPr/>
            </p:nvSpPr>
            <p:spPr>
              <a:xfrm>
                <a:off x="787484" y="2575034"/>
                <a:ext cx="1251949" cy="125031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latinLnBrk="1" hangingPunct="1">
                  <a:defRPr/>
                </a:pPr>
                <a:endParaRPr lang="ko-KR" altLang="en-US" dirty="0">
                  <a:latin typeface="+mn-ea"/>
                </a:endParaRPr>
              </a:p>
            </p:txBody>
          </p:sp>
          <p:grpSp>
            <p:nvGrpSpPr>
              <p:cNvPr id="23" name="그룹 30"/>
              <p:cNvGrpSpPr>
                <a:grpSpLocks/>
              </p:cNvGrpSpPr>
              <p:nvPr/>
            </p:nvGrpSpPr>
            <p:grpSpPr bwMode="auto">
              <a:xfrm>
                <a:off x="983331" y="2813205"/>
                <a:ext cx="860620" cy="774389"/>
                <a:chOff x="1577780" y="2063075"/>
                <a:chExt cx="860620" cy="774389"/>
              </a:xfrm>
            </p:grpSpPr>
            <p:pic>
              <p:nvPicPr>
                <p:cNvPr id="24" name="그림 27" descr="패키지박스.emf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05137" y="2063075"/>
                  <a:ext cx="733263" cy="7383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5" name="그림 28" descr="CD.emf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577780" y="2415007"/>
                  <a:ext cx="440207" cy="4224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grpSp>
        <p:nvGrpSpPr>
          <p:cNvPr id="26" name="그룹 32"/>
          <p:cNvGrpSpPr>
            <a:grpSpLocks/>
          </p:cNvGrpSpPr>
          <p:nvPr/>
        </p:nvGrpSpPr>
        <p:grpSpPr bwMode="auto">
          <a:xfrm>
            <a:off x="2707035" y="2714625"/>
            <a:ext cx="2087562" cy="2235199"/>
            <a:chOff x="3529013" y="2874013"/>
            <a:chExt cx="2087562" cy="2236452"/>
          </a:xfrm>
        </p:grpSpPr>
        <p:sp>
          <p:nvSpPr>
            <p:cNvPr id="27" name="모서리가 둥근 직사각형 39"/>
            <p:cNvSpPr>
              <a:spLocks noChangeArrowheads="1"/>
            </p:cNvSpPr>
            <p:nvPr/>
          </p:nvSpPr>
          <p:spPr bwMode="auto">
            <a:xfrm>
              <a:off x="3655143" y="4237237"/>
              <a:ext cx="1835301" cy="274562"/>
            </a:xfrm>
            <a:prstGeom prst="roundRect">
              <a:avLst>
                <a:gd name="adj" fmla="val 16667"/>
              </a:avLst>
            </a:prstGeom>
            <a:solidFill>
              <a:srgbClr val="2159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kumimoji="0" lang="en-US" altLang="ko-KR" sz="1000" b="1" dirty="0">
                  <a:solidFill>
                    <a:srgbClr val="FFFFFF"/>
                  </a:solidFill>
                  <a:latin typeface="+mn-ea"/>
                  <a:ea typeface="+mn-ea"/>
                </a:rPr>
                <a:t>ISign+ </a:t>
              </a:r>
              <a:r>
                <a:rPr kumimoji="0" lang="ko-KR" altLang="en-US" sz="1000" b="1" dirty="0">
                  <a:solidFill>
                    <a:srgbClr val="FFFFFF"/>
                  </a:solidFill>
                  <a:latin typeface="+mn-ea"/>
                  <a:ea typeface="+mn-ea"/>
                </a:rPr>
                <a:t>통합서버</a:t>
              </a:r>
              <a:endParaRPr kumimoji="0" lang="en-US" altLang="ko-KR" sz="1000" b="1" dirty="0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  <p:sp>
          <p:nvSpPr>
            <p:cNvPr id="28" name="TextBox 82"/>
            <p:cNvSpPr txBox="1">
              <a:spLocks noChangeArrowheads="1"/>
            </p:cNvSpPr>
            <p:nvPr/>
          </p:nvSpPr>
          <p:spPr bwMode="auto">
            <a:xfrm>
              <a:off x="3529013" y="4556156"/>
              <a:ext cx="2087562" cy="554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88900" indent="-889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kumimoji="0" lang="ko-KR" altLang="en-US" sz="1000" b="1" dirty="0">
                  <a:latin typeface="+mn-ea"/>
                  <a:ea typeface="+mn-ea"/>
                </a:rPr>
                <a:t>인증서버</a:t>
              </a:r>
              <a:r>
                <a:rPr kumimoji="0" lang="en-US" altLang="ko-KR" sz="1000" b="1" dirty="0">
                  <a:latin typeface="+mn-ea"/>
                  <a:ea typeface="+mn-ea"/>
                </a:rPr>
                <a:t>, DB</a:t>
              </a:r>
              <a:r>
                <a:rPr kumimoji="0" lang="ko-KR" altLang="en-US" sz="1000" b="1" dirty="0">
                  <a:latin typeface="+mn-ea"/>
                  <a:ea typeface="+mn-ea"/>
                </a:rPr>
                <a:t>서버</a:t>
              </a:r>
              <a:r>
                <a:rPr kumimoji="0" lang="en-US" altLang="ko-KR" sz="1000" b="1" dirty="0">
                  <a:latin typeface="+mn-ea"/>
                  <a:ea typeface="+mn-ea"/>
                </a:rPr>
                <a:t>, </a:t>
              </a:r>
              <a:r>
                <a:rPr kumimoji="0" lang="ko-KR" altLang="en-US" sz="1000" b="1" dirty="0">
                  <a:latin typeface="+mn-ea"/>
                  <a:ea typeface="+mn-ea"/>
                </a:rPr>
                <a:t>관리도구 등이 통합되어 탑재된 </a:t>
              </a:r>
              <a:r>
                <a:rPr kumimoji="0" lang="en-US" altLang="ko-KR" sz="1000" b="1" dirty="0">
                  <a:latin typeface="+mn-ea"/>
                  <a:ea typeface="+mn-ea"/>
                </a:rPr>
                <a:t>Appliance </a:t>
              </a:r>
              <a:r>
                <a:rPr kumimoji="0" lang="ko-KR" altLang="en-US" sz="1000" b="1" dirty="0">
                  <a:latin typeface="+mn-ea"/>
                  <a:ea typeface="+mn-ea"/>
                </a:rPr>
                <a:t>장비</a:t>
              </a:r>
              <a:endParaRPr kumimoji="0" lang="en-US" altLang="ko-KR" sz="1000" b="1" dirty="0">
                <a:latin typeface="+mn-ea"/>
                <a:ea typeface="+mn-ea"/>
              </a:endParaRPr>
            </a:p>
          </p:txBody>
        </p:sp>
        <p:pic>
          <p:nvPicPr>
            <p:cNvPr id="29" name="그림 21" descr="HW_ISign+.em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6463" y="2874013"/>
              <a:ext cx="1435372" cy="893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모서리가 둥근 직사각형 44"/>
          <p:cNvSpPr/>
          <p:nvPr/>
        </p:nvSpPr>
        <p:spPr>
          <a:xfrm>
            <a:off x="899963" y="2495551"/>
            <a:ext cx="983968" cy="494638"/>
          </a:xfrm>
          <a:prstGeom prst="roundRect">
            <a:avLst>
              <a:gd name="adj" fmla="val 782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88000" bIns="288000"/>
          <a:lstStyle/>
          <a:p>
            <a:pPr algn="ctr">
              <a:defRPr/>
            </a:pPr>
            <a:endParaRPr lang="ko-KR" altLang="en-US" sz="1000" b="1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40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963" y="2495550"/>
            <a:ext cx="983968" cy="1281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" name="그룹 21"/>
          <p:cNvGrpSpPr>
            <a:grpSpLocks/>
          </p:cNvGrpSpPr>
          <p:nvPr/>
        </p:nvGrpSpPr>
        <p:grpSpPr bwMode="auto">
          <a:xfrm>
            <a:off x="6955507" y="2971304"/>
            <a:ext cx="342900" cy="342900"/>
            <a:chOff x="933450" y="2076450"/>
            <a:chExt cx="638175" cy="638175"/>
          </a:xfrm>
        </p:grpSpPr>
        <p:sp>
          <p:nvSpPr>
            <p:cNvPr id="42" name="모서리가 둥근 직사각형 41"/>
            <p:cNvSpPr/>
            <p:nvPr/>
          </p:nvSpPr>
          <p:spPr>
            <a:xfrm>
              <a:off x="933450" y="2265539"/>
              <a:ext cx="638175" cy="259997"/>
            </a:xfrm>
            <a:prstGeom prst="round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1">
                <a:defRPr/>
              </a:pPr>
              <a:endPara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모서리가 둥근 직사각형 42"/>
            <p:cNvSpPr/>
            <p:nvPr/>
          </p:nvSpPr>
          <p:spPr>
            <a:xfrm rot="16200000">
              <a:off x="933450" y="2265539"/>
              <a:ext cx="638175" cy="259997"/>
            </a:xfrm>
            <a:prstGeom prst="round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1">
                <a:defRPr/>
              </a:pPr>
              <a:endPara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45" name="TextBox 76"/>
          <p:cNvSpPr txBox="1">
            <a:spLocks noChangeArrowheads="1"/>
          </p:cNvSpPr>
          <p:nvPr/>
        </p:nvSpPr>
        <p:spPr bwMode="auto">
          <a:xfrm>
            <a:off x="7372917" y="4419207"/>
            <a:ext cx="19725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88900" indent="-8890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kumimoji="0" lang="en-US" altLang="ko-KR" sz="1000" b="1" dirty="0" smtClean="0">
                <a:latin typeface="+mn-ea"/>
                <a:ea typeface="+mn-ea"/>
              </a:rPr>
              <a:t>C/S to WEB </a:t>
            </a:r>
            <a:r>
              <a:rPr kumimoji="0" lang="ko-KR" altLang="en-US" sz="1000" b="1" dirty="0" smtClean="0">
                <a:latin typeface="+mn-ea"/>
                <a:ea typeface="+mn-ea"/>
              </a:rPr>
              <a:t>방식의 연동지원</a:t>
            </a:r>
            <a:endParaRPr kumimoji="0" lang="en-US" altLang="ko-KR" sz="1000" b="1" dirty="0" smtClean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kumimoji="0" lang="ko-KR" altLang="en-US" sz="1000" b="1" dirty="0" smtClean="0">
                <a:latin typeface="+mn-ea"/>
                <a:ea typeface="+mn-ea"/>
              </a:rPr>
              <a:t>구간암호화 기능</a:t>
            </a:r>
            <a:endParaRPr kumimoji="0" lang="en-US" altLang="ko-KR" sz="1000" b="1" dirty="0" smtClean="0">
              <a:latin typeface="+mn-ea"/>
              <a:ea typeface="+mn-ea"/>
            </a:endParaRPr>
          </a:p>
        </p:txBody>
      </p:sp>
      <p:sp>
        <p:nvSpPr>
          <p:cNvPr id="46" name="모서리가 둥근 직사각형 39"/>
          <p:cNvSpPr>
            <a:spLocks noChangeArrowheads="1"/>
          </p:cNvSpPr>
          <p:nvPr/>
        </p:nvSpPr>
        <p:spPr bwMode="auto">
          <a:xfrm>
            <a:off x="7412638" y="4090845"/>
            <a:ext cx="1837600" cy="274428"/>
          </a:xfrm>
          <a:prstGeom prst="roundRect">
            <a:avLst>
              <a:gd name="adj" fmla="val 16667"/>
            </a:avLst>
          </a:prstGeom>
          <a:solidFill>
            <a:srgbClr val="2159B7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kumimoji="0" lang="en-US" altLang="ko-KR" sz="1000" b="1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D’AmoWA</a:t>
            </a:r>
            <a:endParaRPr kumimoji="0" lang="en-US" altLang="ko-KR" sz="1000" b="1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2" name="그림 51" descr="에이전트_sb.em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826617" y="2826405"/>
            <a:ext cx="713958" cy="71395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948068" y="1528724"/>
            <a:ext cx="2248740" cy="4564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72132" y="1662438"/>
            <a:ext cx="1743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+mn-ea"/>
                <a:ea typeface="+mn-ea"/>
              </a:rPr>
              <a:t>업무서버 적용</a:t>
            </a:r>
            <a:endParaRPr lang="ko-KR" altLang="en-US" b="1" dirty="0">
              <a:latin typeface="+mn-ea"/>
              <a:ea typeface="+mn-ea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7299768" y="1528725"/>
            <a:ext cx="2028840" cy="456457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89304" y="166286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n-ea"/>
                <a:ea typeface="+mn-ea"/>
              </a:rPr>
              <a:t>PC</a:t>
            </a:r>
            <a:r>
              <a:rPr lang="ko-KR" altLang="en-US" b="1" smtClean="0">
                <a:latin typeface="+mn-ea"/>
                <a:ea typeface="+mn-ea"/>
              </a:rPr>
              <a:t>에 설치</a:t>
            </a:r>
            <a:endParaRPr lang="ko-KR" altLang="en-US" b="1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786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dirty="0" smtClean="0"/>
              <a:t>1.4 SSO Agent </a:t>
            </a:r>
            <a:r>
              <a:rPr lang="ko-KR" altLang="en-US" dirty="0" smtClean="0"/>
              <a:t>지원 환경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1.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개요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48" name="내용 개체 틀 2"/>
          <p:cNvSpPr txBox="1">
            <a:spLocks/>
          </p:cNvSpPr>
          <p:nvPr/>
        </p:nvSpPr>
        <p:spPr>
          <a:xfrm>
            <a:off x="384561" y="797868"/>
            <a:ext cx="9192449" cy="6149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smtClean="0"/>
              <a:t>WEB</a:t>
            </a:r>
            <a:r>
              <a:rPr lang="ko-KR" altLang="en-US" kern="0" smtClean="0"/>
              <a:t>방식</a:t>
            </a:r>
            <a:r>
              <a:rPr lang="en-US" altLang="ko-KR" kern="0" smtClean="0"/>
              <a:t>, C/S </a:t>
            </a:r>
            <a:r>
              <a:rPr lang="ko-KR" altLang="en-US" kern="0" smtClean="0"/>
              <a:t>방식</a:t>
            </a:r>
            <a:r>
              <a:rPr lang="en-US" altLang="ko-KR" kern="0" smtClean="0"/>
              <a:t>, </a:t>
            </a:r>
            <a:r>
              <a:rPr lang="ko-KR" altLang="en-US" kern="0" smtClean="0"/>
              <a:t>모바일 등 다양한 연동 </a:t>
            </a:r>
            <a:r>
              <a:rPr lang="en-US" altLang="ko-KR" kern="0" smtClean="0"/>
              <a:t>Agent</a:t>
            </a:r>
            <a:r>
              <a:rPr lang="ko-KR" altLang="en-US" kern="0" smtClean="0"/>
              <a:t>를 지원함</a:t>
            </a:r>
            <a:endParaRPr lang="en-US" altLang="ko-KR" kern="0" dirty="0" smtClean="0"/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42144" y="1814413"/>
            <a:ext cx="4154487" cy="854075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ko-KR" i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142181" y="1662013"/>
            <a:ext cx="1452563" cy="25241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>
            <a:normAutofit lnSpcReduction="10000"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algn="ctr" latinLnBrk="1">
              <a:lnSpc>
                <a:spcPct val="150000"/>
              </a:lnSpc>
              <a:defRPr/>
            </a:pP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Web Agent</a:t>
            </a:r>
            <a:endParaRPr lang="ko-KR" altLang="en-US" sz="10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0" name="그룹 43"/>
          <p:cNvGrpSpPr>
            <a:grpSpLocks/>
          </p:cNvGrpSpPr>
          <p:nvPr/>
        </p:nvGrpSpPr>
        <p:grpSpPr bwMode="auto">
          <a:xfrm>
            <a:off x="975494" y="2066825"/>
            <a:ext cx="3159125" cy="441325"/>
            <a:chOff x="827088" y="2447925"/>
            <a:chExt cx="4214812" cy="588963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3750"/>
            <a:stretch>
              <a:fillRect/>
            </a:stretch>
          </p:blipFill>
          <p:spPr bwMode="auto">
            <a:xfrm>
              <a:off x="827088" y="2492375"/>
              <a:ext cx="889000" cy="500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91" t="20000" r="15076" b="26666"/>
            <a:stretch>
              <a:fillRect/>
            </a:stretch>
          </p:blipFill>
          <p:spPr bwMode="auto">
            <a:xfrm>
              <a:off x="1970088" y="2528094"/>
              <a:ext cx="803275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088" y="2447925"/>
              <a:ext cx="785812" cy="588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895"/>
            <a:stretch>
              <a:fillRect/>
            </a:stretch>
          </p:blipFill>
          <p:spPr bwMode="auto">
            <a:xfrm>
              <a:off x="3041650" y="2528094"/>
              <a:ext cx="917575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AutoShape 3"/>
          <p:cNvSpPr>
            <a:spLocks noChangeArrowheads="1"/>
          </p:cNvSpPr>
          <p:nvPr/>
        </p:nvSpPr>
        <p:spPr bwMode="auto">
          <a:xfrm>
            <a:off x="5287144" y="1814413"/>
            <a:ext cx="3770312" cy="2081212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ko-KR" i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474469" y="1662013"/>
            <a:ext cx="1452562" cy="25241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>
            <a:normAutofit lnSpcReduction="10000"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algn="ctr" latinLnBrk="1">
              <a:lnSpc>
                <a:spcPct val="150000"/>
              </a:lnSpc>
              <a:defRPr/>
            </a:pP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C/S Agent</a:t>
            </a:r>
            <a:endParaRPr lang="ko-KR" altLang="en-US" sz="10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AutoShape 3"/>
          <p:cNvSpPr>
            <a:spLocks noChangeArrowheads="1"/>
          </p:cNvSpPr>
          <p:nvPr/>
        </p:nvSpPr>
        <p:spPr bwMode="auto">
          <a:xfrm>
            <a:off x="862781" y="3041550"/>
            <a:ext cx="4154488" cy="854075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ko-KR" i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1102494" y="2889150"/>
            <a:ext cx="1452562" cy="25241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>
            <a:normAutofit lnSpcReduction="10000"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algn="ctr" latinLnBrk="1">
              <a:lnSpc>
                <a:spcPct val="150000"/>
              </a:lnSpc>
              <a:defRPr/>
            </a:pP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Mobile Agent</a:t>
            </a:r>
            <a:endParaRPr lang="ko-KR" altLang="en-US" sz="10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AutoShape 3"/>
          <p:cNvSpPr>
            <a:spLocks noChangeArrowheads="1"/>
          </p:cNvSpPr>
          <p:nvPr/>
        </p:nvSpPr>
        <p:spPr bwMode="auto">
          <a:xfrm>
            <a:off x="842144" y="4213125"/>
            <a:ext cx="8215312" cy="1808163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ko-KR" i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1081856" y="4092475"/>
            <a:ext cx="2217738" cy="25241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>
            <a:normAutofit lnSpcReduction="10000"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algn="ctr" latinLnBrk="1">
              <a:lnSpc>
                <a:spcPct val="150000"/>
              </a:lnSpc>
              <a:defRPr/>
            </a:pP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기타 </a:t>
            </a: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Business Application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용 </a:t>
            </a: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Agent</a:t>
            </a:r>
            <a:endParaRPr lang="ko-KR" altLang="en-US" sz="10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3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03" t="16560" r="11905" b="23726"/>
          <a:stretch>
            <a:fillRect/>
          </a:stretch>
        </p:blipFill>
        <p:spPr bwMode="auto">
          <a:xfrm>
            <a:off x="5587181" y="2197000"/>
            <a:ext cx="65722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38" descr="google_co_kr_20130322_110823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969" y="2184300"/>
            <a:ext cx="539750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3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801744" y="2244625"/>
            <a:ext cx="82073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</p:pic>
      <p:pic>
        <p:nvPicPr>
          <p:cNvPr id="26" name="그림 46" descr="google_co_kr_20130322_111544.jpg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431" y="3095525"/>
            <a:ext cx="122713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그룹 63"/>
          <p:cNvGrpSpPr>
            <a:grpSpLocks/>
          </p:cNvGrpSpPr>
          <p:nvPr/>
        </p:nvGrpSpPr>
        <p:grpSpPr bwMode="auto">
          <a:xfrm>
            <a:off x="1186631" y="3287613"/>
            <a:ext cx="1382713" cy="488950"/>
            <a:chOff x="836613" y="4678363"/>
            <a:chExt cx="1847850" cy="654050"/>
          </a:xfrm>
        </p:grpSpPr>
        <p:pic>
          <p:nvPicPr>
            <p:cNvPr id="28" name="Picture 8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43" t="20547" r="34169" b="21233"/>
            <a:stretch>
              <a:fillRect/>
            </a:stretch>
          </p:blipFill>
          <p:spPr bwMode="auto">
            <a:xfrm>
              <a:off x="836613" y="4754563"/>
              <a:ext cx="857250" cy="501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9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8988" y="4678363"/>
              <a:ext cx="625475" cy="654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0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206" y="4478238"/>
            <a:ext cx="7969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1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8731" y="5225950"/>
            <a:ext cx="73025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1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169" y="4576663"/>
            <a:ext cx="13176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" name="그룹 76"/>
          <p:cNvGrpSpPr>
            <a:grpSpLocks/>
          </p:cNvGrpSpPr>
          <p:nvPr/>
        </p:nvGrpSpPr>
        <p:grpSpPr bwMode="auto">
          <a:xfrm>
            <a:off x="6466656" y="4448075"/>
            <a:ext cx="628650" cy="639763"/>
            <a:chOff x="6198659" y="5527840"/>
            <a:chExt cx="627508" cy="640268"/>
          </a:xfrm>
        </p:grpSpPr>
        <p:pic>
          <p:nvPicPr>
            <p:cNvPr id="34" name="Picture 10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5791" y="5527840"/>
              <a:ext cx="546943" cy="627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Box 29"/>
            <p:cNvSpPr txBox="1">
              <a:spLocks noChangeArrowheads="1"/>
            </p:cNvSpPr>
            <p:nvPr/>
          </p:nvSpPr>
          <p:spPr bwMode="auto">
            <a:xfrm>
              <a:off x="6198659" y="5906316"/>
              <a:ext cx="627508" cy="261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ko-KR" sz="1100" b="1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Notes</a:t>
              </a:r>
              <a:endParaRPr lang="ko-KR" altLang="en-US" sz="1100" b="1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36" name="Picture 7" descr="http://www.cmich.edu/colleges/cba/academic_programs/institutes/sapua/PublishingImages/sap.gif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631" y="4635400"/>
            <a:ext cx="779463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10" descr="https://encrypted-tbn2.gstatic.com/images?q=tbn:ANd9GcSC2ZEy0cLzQ8YyGqQHSJzQ33ti4P0wKhGdGbCQllL-mtQYBStq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181" y="4563963"/>
            <a:ext cx="6302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그림 38" descr="goldpitcher_co_kr_20131219_112632.bmp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181" y="5362475"/>
            <a:ext cx="968375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그림 1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756" y="5341838"/>
            <a:ext cx="1028700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그림 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506" y="5246588"/>
            <a:ext cx="1077913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13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194" y="5291038"/>
            <a:ext cx="9763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그림 2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6706" y="3049488"/>
            <a:ext cx="89376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2" descr="http://www.tsnetsystems.com/images_gen/juniper.gif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669" y="4695725"/>
            <a:ext cx="9921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2" descr="ColdFusion 11 Enterprise">
            <a:hlinkClick r:id="rId24"/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244" y="2023963"/>
            <a:ext cx="4889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593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366986"/>
              </p:ext>
            </p:extLst>
          </p:nvPr>
        </p:nvGraphicFramePr>
        <p:xfrm>
          <a:off x="776536" y="1052737"/>
          <a:ext cx="8323263" cy="51125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2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8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51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6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종류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지원환경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E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956A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181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Server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Web</a:t>
                      </a:r>
                    </a:p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Agent</a:t>
                      </a: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WAS</a:t>
                      </a: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52425" lvl="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Tomcat</a:t>
                      </a:r>
                    </a:p>
                    <a:p>
                      <a:pPr marL="352425" lvl="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IIS</a:t>
                      </a:r>
                    </a:p>
                    <a:p>
                      <a:pPr marL="352425" lvl="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WebSphere</a:t>
                      </a: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52425" lvl="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Weblogic</a:t>
                      </a:r>
                    </a:p>
                    <a:p>
                      <a:pPr marL="352425" lvl="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WebToB/Jeus</a:t>
                      </a:r>
                    </a:p>
                    <a:p>
                      <a:pPr marL="180975" lvl="0" indent="0" algn="l" latinLnBrk="1">
                        <a:buFont typeface="Wingdings" panose="05000000000000000000" pitchFamily="2" charset="2"/>
                        <a:buNone/>
                      </a:pP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5721" marR="45721" marT="45662" marB="4566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1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언어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lvl="0" indent="182563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ASP 1.0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이상</a:t>
                      </a:r>
                    </a:p>
                    <a:p>
                      <a:pPr marL="171450" lvl="0" indent="182563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PHP 5.3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이상</a:t>
                      </a:r>
                    </a:p>
                    <a:p>
                      <a:pPr marL="171450" lvl="0" indent="182563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ASP.NET 1.1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이상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lvl="0" indent="182563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6" marR="91426" marT="45719" marB="4571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 JDK</a:t>
                      </a: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182563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JDK 1.4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이상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 OS</a:t>
                      </a: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182563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SunOS 5.5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이상</a:t>
                      </a:r>
                    </a:p>
                    <a:p>
                      <a:pPr marL="171450" lvl="0" indent="182563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AIX 4.3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이상</a:t>
                      </a: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Linux 2.0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이상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HP-UX 11.0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이상</a:t>
                      </a: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92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Application</a:t>
                      </a:r>
                    </a:p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Agent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Application</a:t>
                      </a: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19050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SAP </a:t>
                      </a:r>
                    </a:p>
                    <a:p>
                      <a:pPr marL="171450" lvl="0" indent="19050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Notes</a:t>
                      </a:r>
                    </a:p>
                    <a:p>
                      <a:pPr marL="171450" lvl="0" indent="19050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Windows Server Active Directory</a:t>
                      </a:r>
                    </a:p>
                    <a:p>
                      <a:pPr marL="171450" lvl="0" indent="19050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Planisware</a:t>
                      </a:r>
                    </a:p>
                    <a:p>
                      <a:pPr marL="171450" lvl="0" indent="19050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Google Enterprise</a:t>
                      </a: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Microsoft Office SharePoint Server</a:t>
                      </a: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Microsoft Exchange 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JIRA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Salesforce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Oracle ERP</a:t>
                      </a: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01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언어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9207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C</a:t>
                      </a:r>
                    </a:p>
                    <a:p>
                      <a:pPr marL="171450" lvl="0" indent="9207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C++</a:t>
                      </a:r>
                    </a:p>
                    <a:p>
                      <a:pPr marL="171450" lvl="0" indent="9207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PowerBuilder</a:t>
                      </a: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lvl="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Visual Basic</a:t>
                      </a:r>
                    </a:p>
                    <a:p>
                      <a:pPr marL="263525" lvl="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Delphi</a:t>
                      </a:r>
                    </a:p>
                    <a:p>
                      <a:pPr marL="263525" lvl="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="1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01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Client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PC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0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Windows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baseline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Windows 7</a:t>
                      </a:r>
                    </a:p>
                    <a:p>
                      <a:pPr marL="342900" lvl="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baseline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Windows 8</a:t>
                      </a:r>
                    </a:p>
                    <a:p>
                      <a:pPr marL="342900" lvl="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baseline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Windows 10</a:t>
                      </a: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lvl="0" indent="17780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IE</a:t>
                      </a:r>
                      <a:r>
                        <a:rPr lang="en-US" altLang="ko-KR" sz="1000" b="1" baseline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  <a:p>
                      <a:pPr marL="92075" lvl="0" indent="1746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baseline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Edge</a:t>
                      </a:r>
                    </a:p>
                    <a:p>
                      <a:pPr marL="92075" lvl="0" indent="1746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baseline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Chrome 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719563"/>
                  </a:ext>
                </a:extLst>
              </a:tr>
              <a:tr h="6101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스마트폰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0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APP</a:t>
                      </a:r>
                      <a:r>
                        <a:rPr lang="en-US" altLang="ko-KR" sz="1000" b="1" baseline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1" baseline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방식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DFDFD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lvl="0" indent="182563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라이브러리제공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lvl="0" indent="182563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Android 5.0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이상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lvl="0" indent="182563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Phone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5.0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이상</a:t>
                      </a: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63525" lvl="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940183"/>
                  </a:ext>
                </a:extLst>
              </a:tr>
            </a:tbl>
          </a:graphicData>
        </a:graphic>
      </p:graphicFrame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dirty="0" smtClean="0"/>
              <a:t>1.4 SSO Agent </a:t>
            </a:r>
            <a:r>
              <a:rPr lang="ko-KR" altLang="en-US" dirty="0" smtClean="0"/>
              <a:t>지원 환경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1.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개요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65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로그인 흐름도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2.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동작 흐름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9" name="내용 개체 틀 1"/>
          <p:cNvSpPr>
            <a:spLocks noGrp="1"/>
          </p:cNvSpPr>
          <p:nvPr>
            <p:ph idx="1"/>
          </p:nvPr>
        </p:nvSpPr>
        <p:spPr>
          <a:xfrm>
            <a:off x="920552" y="1904132"/>
            <a:ext cx="7835900" cy="4532312"/>
          </a:xfrm>
        </p:spPr>
        <p:txBody>
          <a:bodyPr/>
          <a:lstStyle/>
          <a:p>
            <a:pPr>
              <a:spcAft>
                <a:spcPct val="0"/>
              </a:spcAft>
            </a:pPr>
            <a:endParaRPr lang="en-US" altLang="ko-KR" smtClean="0"/>
          </a:p>
          <a:p>
            <a:pPr>
              <a:spcAft>
                <a:spcPct val="0"/>
              </a:spcAft>
            </a:pPr>
            <a:endParaRPr lang="en-US" altLang="ko-KR" smtClean="0"/>
          </a:p>
          <a:p>
            <a:pPr>
              <a:spcAft>
                <a:spcPct val="0"/>
              </a:spcAft>
              <a:buFontTx/>
              <a:buNone/>
            </a:pPr>
            <a:endParaRPr lang="ko-KR" altLang="en-US" smtClean="0"/>
          </a:p>
        </p:txBody>
      </p:sp>
      <p:cxnSp>
        <p:nvCxnSpPr>
          <p:cNvPr id="12" name="직선 연결선 13"/>
          <p:cNvCxnSpPr/>
          <p:nvPr/>
        </p:nvCxnSpPr>
        <p:spPr>
          <a:xfrm flipV="1">
            <a:off x="4645048" y="2243858"/>
            <a:ext cx="0" cy="3904554"/>
          </a:xfrm>
          <a:prstGeom prst="line">
            <a:avLst/>
          </a:prstGeom>
          <a:ln w="508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4"/>
          <p:cNvCxnSpPr/>
          <p:nvPr/>
        </p:nvCxnSpPr>
        <p:spPr>
          <a:xfrm flipV="1">
            <a:off x="7826398" y="2232746"/>
            <a:ext cx="0" cy="3915666"/>
          </a:xfrm>
          <a:prstGeom prst="line">
            <a:avLst/>
          </a:prstGeom>
          <a:ln w="508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24"/>
          <p:cNvGrpSpPr>
            <a:grpSpLocks/>
          </p:cNvGrpSpPr>
          <p:nvPr/>
        </p:nvGrpSpPr>
        <p:grpSpPr bwMode="auto">
          <a:xfrm>
            <a:off x="4040210" y="1827932"/>
            <a:ext cx="1279525" cy="595312"/>
            <a:chOff x="3392781" y="2823588"/>
            <a:chExt cx="2379996" cy="1085222"/>
          </a:xfrm>
          <a:solidFill>
            <a:schemeClr val="accent1">
              <a:lumMod val="50000"/>
            </a:schemeClr>
          </a:solidFill>
        </p:grpSpPr>
        <p:sp>
          <p:nvSpPr>
            <p:cNvPr id="15" name="모서리가 둥근 직사각형 25"/>
            <p:cNvSpPr/>
            <p:nvPr/>
          </p:nvSpPr>
          <p:spPr>
            <a:xfrm>
              <a:off x="3392781" y="2823588"/>
              <a:ext cx="2379996" cy="1085222"/>
            </a:xfrm>
            <a:prstGeom prst="roundRect">
              <a:avLst>
                <a:gd name="adj" fmla="val 8275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995363">
                <a:lnSpc>
                  <a:spcPts val="1700"/>
                </a:lnSpc>
                <a:defRPr/>
              </a:pPr>
              <a:endParaRPr lang="ko-KR" altLang="en-US" sz="1000" b="1" dirty="0"/>
            </a:p>
          </p:txBody>
        </p:sp>
        <p:sp>
          <p:nvSpPr>
            <p:cNvPr id="16" name="모서리가 둥근 직사각형 26"/>
            <p:cNvSpPr/>
            <p:nvPr/>
          </p:nvSpPr>
          <p:spPr>
            <a:xfrm>
              <a:off x="3422309" y="2849632"/>
              <a:ext cx="2320939" cy="1033133"/>
            </a:xfrm>
            <a:prstGeom prst="roundRect">
              <a:avLst>
                <a:gd name="adj" fmla="val 82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ts val="1700"/>
                </a:lnSpc>
                <a:defRPr/>
              </a:pP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27"/>
            <p:cNvSpPr txBox="1">
              <a:spLocks noChangeArrowheads="1"/>
            </p:cNvSpPr>
            <p:nvPr/>
          </p:nvSpPr>
          <p:spPr bwMode="auto">
            <a:xfrm>
              <a:off x="3424334" y="2837950"/>
              <a:ext cx="2316891" cy="105650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en-US" altLang="ko-KR" sz="1000" b="1">
                  <a:solidFill>
                    <a:schemeClr val="bg1"/>
                  </a:solidFill>
                </a:rPr>
                <a:t>Token</a:t>
              </a:r>
            </a:p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en-US" altLang="ko-KR" sz="1000" b="1">
                  <a:solidFill>
                    <a:schemeClr val="bg1"/>
                  </a:solidFill>
                </a:rPr>
                <a:t>Storage</a:t>
              </a:r>
            </a:p>
          </p:txBody>
        </p:sp>
      </p:grpSp>
      <p:grpSp>
        <p:nvGrpSpPr>
          <p:cNvPr id="18" name="그룹 48"/>
          <p:cNvGrpSpPr>
            <a:grpSpLocks/>
          </p:cNvGrpSpPr>
          <p:nvPr/>
        </p:nvGrpSpPr>
        <p:grpSpPr bwMode="auto">
          <a:xfrm>
            <a:off x="7213623" y="1818407"/>
            <a:ext cx="1279525" cy="592137"/>
            <a:chOff x="3392781" y="2823588"/>
            <a:chExt cx="2379996" cy="1085222"/>
          </a:xfrm>
          <a:solidFill>
            <a:schemeClr val="accent1">
              <a:lumMod val="50000"/>
            </a:schemeClr>
          </a:solidFill>
        </p:grpSpPr>
        <p:sp>
          <p:nvSpPr>
            <p:cNvPr id="19" name="모서리가 둥근 직사각형 49"/>
            <p:cNvSpPr/>
            <p:nvPr/>
          </p:nvSpPr>
          <p:spPr>
            <a:xfrm>
              <a:off x="3392781" y="2823588"/>
              <a:ext cx="2379996" cy="1085222"/>
            </a:xfrm>
            <a:prstGeom prst="roundRect">
              <a:avLst>
                <a:gd name="adj" fmla="val 8275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995363">
                <a:lnSpc>
                  <a:spcPts val="1700"/>
                </a:lnSpc>
                <a:defRPr/>
              </a:pPr>
              <a:endParaRPr lang="ko-KR" altLang="en-US" sz="1000" b="1" dirty="0"/>
            </a:p>
          </p:txBody>
        </p:sp>
        <p:sp>
          <p:nvSpPr>
            <p:cNvPr id="20" name="모서리가 둥근 직사각형 50"/>
            <p:cNvSpPr/>
            <p:nvPr/>
          </p:nvSpPr>
          <p:spPr>
            <a:xfrm>
              <a:off x="3422309" y="2849772"/>
              <a:ext cx="2320939" cy="1032854"/>
            </a:xfrm>
            <a:prstGeom prst="roundRect">
              <a:avLst>
                <a:gd name="adj" fmla="val 82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ts val="1700"/>
                </a:lnSpc>
                <a:defRPr/>
              </a:pP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51"/>
            <p:cNvSpPr txBox="1">
              <a:spLocks noChangeArrowheads="1"/>
            </p:cNvSpPr>
            <p:nvPr/>
          </p:nvSpPr>
          <p:spPr bwMode="auto">
            <a:xfrm>
              <a:off x="3424334" y="2837950"/>
              <a:ext cx="2316891" cy="105650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en-US" altLang="ko-KR" sz="1000" b="1" dirty="0">
                  <a:solidFill>
                    <a:schemeClr val="bg1"/>
                  </a:solidFill>
                </a:rPr>
                <a:t>ISign+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 서버</a:t>
              </a:r>
              <a:endParaRPr lang="en-US" altLang="ko-KR" sz="10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직선 연결선 12"/>
          <p:cNvCxnSpPr/>
          <p:nvPr/>
        </p:nvCxnSpPr>
        <p:spPr>
          <a:xfrm flipV="1">
            <a:off x="1454173" y="2264495"/>
            <a:ext cx="0" cy="3883917"/>
          </a:xfrm>
          <a:prstGeom prst="line">
            <a:avLst/>
          </a:prstGeom>
          <a:ln w="508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16"/>
          <p:cNvGrpSpPr>
            <a:grpSpLocks/>
          </p:cNvGrpSpPr>
          <p:nvPr/>
        </p:nvGrpSpPr>
        <p:grpSpPr bwMode="auto">
          <a:xfrm>
            <a:off x="852510" y="1823169"/>
            <a:ext cx="1279525" cy="600075"/>
            <a:chOff x="3392781" y="2823588"/>
            <a:chExt cx="2379996" cy="1085222"/>
          </a:xfrm>
          <a:solidFill>
            <a:schemeClr val="accent1">
              <a:lumMod val="50000"/>
            </a:schemeClr>
          </a:solidFill>
        </p:grpSpPr>
        <p:sp>
          <p:nvSpPr>
            <p:cNvPr id="24" name="모서리가 둥근 직사각형 17"/>
            <p:cNvSpPr/>
            <p:nvPr/>
          </p:nvSpPr>
          <p:spPr>
            <a:xfrm>
              <a:off x="3392781" y="2823588"/>
              <a:ext cx="2379996" cy="1085222"/>
            </a:xfrm>
            <a:prstGeom prst="roundRect">
              <a:avLst>
                <a:gd name="adj" fmla="val 8275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995363">
                <a:lnSpc>
                  <a:spcPts val="1700"/>
                </a:lnSpc>
                <a:defRPr/>
              </a:pPr>
              <a:endParaRPr lang="ko-KR" altLang="en-US" sz="1000" b="1" dirty="0"/>
            </a:p>
          </p:txBody>
        </p:sp>
        <p:sp>
          <p:nvSpPr>
            <p:cNvPr id="25" name="모서리가 둥근 직사각형 18"/>
            <p:cNvSpPr/>
            <p:nvPr/>
          </p:nvSpPr>
          <p:spPr>
            <a:xfrm>
              <a:off x="3422309" y="2849428"/>
              <a:ext cx="2320939" cy="1033545"/>
            </a:xfrm>
            <a:prstGeom prst="roundRect">
              <a:avLst>
                <a:gd name="adj" fmla="val 82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ts val="1700"/>
                </a:lnSpc>
                <a:defRPr/>
              </a:pP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TextBox 64"/>
            <p:cNvSpPr txBox="1">
              <a:spLocks noChangeArrowheads="1"/>
            </p:cNvSpPr>
            <p:nvPr/>
          </p:nvSpPr>
          <p:spPr bwMode="auto">
            <a:xfrm>
              <a:off x="3424334" y="2837950"/>
              <a:ext cx="2316891" cy="105650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ko-KR" altLang="en-US" sz="1000" b="1">
                  <a:solidFill>
                    <a:schemeClr val="bg1"/>
                  </a:solidFill>
                </a:rPr>
                <a:t>사용자</a:t>
              </a:r>
            </a:p>
          </p:txBody>
        </p:sp>
      </p:grpSp>
      <p:cxnSp>
        <p:nvCxnSpPr>
          <p:cNvPr id="27" name="직선 연결선 12"/>
          <p:cNvCxnSpPr/>
          <p:nvPr/>
        </p:nvCxnSpPr>
        <p:spPr>
          <a:xfrm flipV="1">
            <a:off x="3057548" y="2270846"/>
            <a:ext cx="0" cy="3877566"/>
          </a:xfrm>
          <a:prstGeom prst="line">
            <a:avLst/>
          </a:prstGeom>
          <a:ln w="508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16"/>
          <p:cNvGrpSpPr>
            <a:grpSpLocks/>
          </p:cNvGrpSpPr>
          <p:nvPr/>
        </p:nvGrpSpPr>
        <p:grpSpPr bwMode="auto">
          <a:xfrm>
            <a:off x="2455885" y="1829519"/>
            <a:ext cx="1279525" cy="593725"/>
            <a:chOff x="3392781" y="2823588"/>
            <a:chExt cx="2379996" cy="1085222"/>
          </a:xfrm>
          <a:solidFill>
            <a:schemeClr val="accent1">
              <a:lumMod val="50000"/>
            </a:schemeClr>
          </a:solidFill>
        </p:grpSpPr>
        <p:sp>
          <p:nvSpPr>
            <p:cNvPr id="29" name="모서리가 둥근 직사각형 17"/>
            <p:cNvSpPr/>
            <p:nvPr/>
          </p:nvSpPr>
          <p:spPr>
            <a:xfrm>
              <a:off x="3392781" y="2823588"/>
              <a:ext cx="2379996" cy="1085222"/>
            </a:xfrm>
            <a:prstGeom prst="roundRect">
              <a:avLst>
                <a:gd name="adj" fmla="val 8275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995363">
                <a:lnSpc>
                  <a:spcPts val="1700"/>
                </a:lnSpc>
                <a:defRPr/>
              </a:pPr>
              <a:endParaRPr lang="ko-KR" altLang="en-US" sz="1000" b="1" dirty="0"/>
            </a:p>
          </p:txBody>
        </p:sp>
        <p:sp>
          <p:nvSpPr>
            <p:cNvPr id="30" name="모서리가 둥근 직사각형 18"/>
            <p:cNvSpPr/>
            <p:nvPr/>
          </p:nvSpPr>
          <p:spPr>
            <a:xfrm>
              <a:off x="3422309" y="2849704"/>
              <a:ext cx="2320939" cy="1032992"/>
            </a:xfrm>
            <a:prstGeom prst="roundRect">
              <a:avLst>
                <a:gd name="adj" fmla="val 82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ts val="1700"/>
                </a:lnSpc>
                <a:defRPr/>
              </a:pP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64"/>
            <p:cNvSpPr txBox="1">
              <a:spLocks noChangeArrowheads="1"/>
            </p:cNvSpPr>
            <p:nvPr/>
          </p:nvSpPr>
          <p:spPr bwMode="auto">
            <a:xfrm>
              <a:off x="3424334" y="2837950"/>
              <a:ext cx="2316891" cy="105650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en-US" altLang="ko-KR" sz="1000" b="1" smtClean="0">
                  <a:solidFill>
                    <a:schemeClr val="bg1"/>
                  </a:solidFill>
                </a:rPr>
                <a:t>PC</a:t>
              </a:r>
              <a:r>
                <a:rPr lang="ko-KR" altLang="en-US" sz="1000" b="1" smtClean="0">
                  <a:solidFill>
                    <a:schemeClr val="bg1"/>
                  </a:solidFill>
                </a:rPr>
                <a:t>통합인증 </a:t>
              </a:r>
              <a:endParaRPr lang="en-US" altLang="ko-KR" sz="1000" b="1" smtClean="0">
                <a:solidFill>
                  <a:schemeClr val="bg1"/>
                </a:solidFill>
              </a:endParaRPr>
            </a:p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en-US" altLang="ko-KR" sz="1000" b="1" smtClean="0">
                  <a:solidFill>
                    <a:schemeClr val="bg1"/>
                  </a:solidFill>
                </a:rPr>
                <a:t>Agent</a:t>
              </a:r>
              <a:endParaRPr lang="ko-KR" altLang="en-US" sz="10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37" name="직선 화살표 연결선 28"/>
          <p:cNvCxnSpPr/>
          <p:nvPr/>
        </p:nvCxnSpPr>
        <p:spPr>
          <a:xfrm>
            <a:off x="1463698" y="2812182"/>
            <a:ext cx="1593850" cy="0"/>
          </a:xfrm>
          <a:prstGeom prst="straightConnector1">
            <a:avLst/>
          </a:prstGeom>
          <a:ln w="22225" cap="rnd">
            <a:solidFill>
              <a:schemeClr val="bg2">
                <a:lumMod val="75000"/>
              </a:schemeClr>
            </a:solidFill>
            <a:prstDash val="solid"/>
            <a:headEnd type="none" w="med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 Box 153"/>
          <p:cNvSpPr txBox="1">
            <a:spLocks noChangeArrowheads="1"/>
          </p:cNvSpPr>
          <p:nvPr/>
        </p:nvSpPr>
        <p:spPr bwMode="auto">
          <a:xfrm>
            <a:off x="1197324" y="2632110"/>
            <a:ext cx="197196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 smtClean="0">
                <a:solidFill>
                  <a:srgbClr val="000000"/>
                </a:solidFill>
              </a:rPr>
              <a:t>1.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 윈도우 로그인</a:t>
            </a:r>
          </a:p>
        </p:txBody>
      </p:sp>
      <p:cxnSp>
        <p:nvCxnSpPr>
          <p:cNvPr id="39" name="직선 화살표 연결선 28"/>
          <p:cNvCxnSpPr/>
          <p:nvPr/>
        </p:nvCxnSpPr>
        <p:spPr>
          <a:xfrm>
            <a:off x="3051198" y="3443518"/>
            <a:ext cx="4775200" cy="0"/>
          </a:xfrm>
          <a:prstGeom prst="straightConnector1">
            <a:avLst/>
          </a:prstGeom>
          <a:ln w="22225" cap="rnd">
            <a:solidFill>
              <a:schemeClr val="bg2">
                <a:lumMod val="75000"/>
              </a:schemeClr>
            </a:solidFill>
            <a:prstDash val="solid"/>
            <a:headEnd type="none" w="med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 Box 153"/>
          <p:cNvSpPr txBox="1">
            <a:spLocks noChangeArrowheads="1"/>
          </p:cNvSpPr>
          <p:nvPr/>
        </p:nvSpPr>
        <p:spPr bwMode="auto">
          <a:xfrm>
            <a:off x="4612443" y="3267687"/>
            <a:ext cx="230388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>
                <a:solidFill>
                  <a:srgbClr val="000000"/>
                </a:solidFill>
              </a:rPr>
              <a:t>2</a:t>
            </a:r>
            <a:r>
              <a:rPr lang="en-US" altLang="ko-KR" sz="900" b="1" kern="0" dirty="0" smtClean="0">
                <a:solidFill>
                  <a:srgbClr val="000000"/>
                </a:solidFill>
              </a:rPr>
              <a:t>.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 통합 계정 로그인</a:t>
            </a:r>
          </a:p>
        </p:txBody>
      </p:sp>
      <p:cxnSp>
        <p:nvCxnSpPr>
          <p:cNvPr id="41" name="직선 화살표 연결선 46"/>
          <p:cNvCxnSpPr/>
          <p:nvPr/>
        </p:nvCxnSpPr>
        <p:spPr>
          <a:xfrm>
            <a:off x="3051198" y="4266679"/>
            <a:ext cx="4775200" cy="0"/>
          </a:xfrm>
          <a:prstGeom prst="straightConnector1">
            <a:avLst/>
          </a:prstGeom>
          <a:ln w="22225" cap="rnd">
            <a:solidFill>
              <a:schemeClr val="bg2">
                <a:lumMod val="75000"/>
              </a:schemeClr>
            </a:solidFill>
            <a:prstDash val="sysDash"/>
            <a:headEnd type="triangle" w="lg" len="med"/>
            <a:tailEnd type="non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28"/>
          <p:cNvCxnSpPr/>
          <p:nvPr/>
        </p:nvCxnSpPr>
        <p:spPr>
          <a:xfrm>
            <a:off x="3086123" y="5130775"/>
            <a:ext cx="1558925" cy="0"/>
          </a:xfrm>
          <a:prstGeom prst="straightConnector1">
            <a:avLst/>
          </a:prstGeom>
          <a:ln w="22225" cap="rnd">
            <a:solidFill>
              <a:schemeClr val="bg2">
                <a:lumMod val="75000"/>
              </a:schemeClr>
            </a:solidFill>
            <a:prstDash val="solid"/>
            <a:headEnd type="none" w="med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 Box 153"/>
          <p:cNvSpPr txBox="1">
            <a:spLocks noChangeArrowheads="1"/>
          </p:cNvSpPr>
          <p:nvPr/>
        </p:nvSpPr>
        <p:spPr bwMode="auto">
          <a:xfrm>
            <a:off x="3013098" y="4978375"/>
            <a:ext cx="1282700" cy="138113"/>
          </a:xfrm>
          <a:prstGeom prst="rect">
            <a:avLst/>
          </a:prstGeom>
          <a:solidFill>
            <a:schemeClr val="bg1">
              <a:alpha val="40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smtClean="0">
                <a:solidFill>
                  <a:srgbClr val="000000"/>
                </a:solidFill>
              </a:rPr>
              <a:t>6.</a:t>
            </a:r>
            <a:r>
              <a:rPr lang="ko-KR" altLang="en-US" sz="900" b="1" kern="0" smtClean="0">
                <a:solidFill>
                  <a:srgbClr val="000000"/>
                </a:solidFill>
              </a:rPr>
              <a:t> 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토큰 저장</a:t>
            </a:r>
          </a:p>
        </p:txBody>
      </p:sp>
      <p:sp>
        <p:nvSpPr>
          <p:cNvPr id="44" name="Text Box 153"/>
          <p:cNvSpPr txBox="1">
            <a:spLocks noChangeArrowheads="1"/>
          </p:cNvSpPr>
          <p:nvPr/>
        </p:nvSpPr>
        <p:spPr bwMode="auto">
          <a:xfrm>
            <a:off x="4612442" y="4080129"/>
            <a:ext cx="230388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>
                <a:solidFill>
                  <a:srgbClr val="000000"/>
                </a:solidFill>
              </a:rPr>
              <a:t>5</a:t>
            </a:r>
            <a:r>
              <a:rPr lang="en-US" altLang="ko-KR" sz="900" b="1" kern="0" smtClean="0">
                <a:solidFill>
                  <a:srgbClr val="000000"/>
                </a:solidFill>
              </a:rPr>
              <a:t>.</a:t>
            </a:r>
            <a:r>
              <a:rPr lang="ko-KR" altLang="en-US" sz="900" b="1" kern="0" smtClean="0">
                <a:solidFill>
                  <a:srgbClr val="000000"/>
                </a:solidFill>
              </a:rPr>
              <a:t> 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로그인 </a:t>
            </a:r>
            <a:r>
              <a:rPr lang="ko-KR" altLang="en-US" sz="900" b="1" kern="0" smtClean="0">
                <a:solidFill>
                  <a:srgbClr val="000000"/>
                </a:solidFill>
              </a:rPr>
              <a:t>결과 및 인증 토큰</a:t>
            </a:r>
            <a:endParaRPr lang="en-US" altLang="ko-KR" sz="900" b="1" kern="0" dirty="0" smtClean="0">
              <a:solidFill>
                <a:srgbClr val="000000"/>
              </a:solidFill>
            </a:endParaRPr>
          </a:p>
        </p:txBody>
      </p:sp>
      <p:sp>
        <p:nvSpPr>
          <p:cNvPr id="45" name="Text Box 153"/>
          <p:cNvSpPr txBox="1">
            <a:spLocks noChangeArrowheads="1"/>
          </p:cNvSpPr>
          <p:nvPr/>
        </p:nvSpPr>
        <p:spPr bwMode="auto">
          <a:xfrm>
            <a:off x="7798758" y="3258944"/>
            <a:ext cx="108522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 smtClean="0">
                <a:solidFill>
                  <a:srgbClr val="000000"/>
                </a:solidFill>
              </a:rPr>
              <a:t>3</a:t>
            </a:r>
            <a:r>
              <a:rPr lang="en-US" altLang="ko-KR" sz="900" b="1" kern="0" smtClean="0">
                <a:solidFill>
                  <a:srgbClr val="000000"/>
                </a:solidFill>
              </a:rPr>
              <a:t>.</a:t>
            </a:r>
            <a:r>
              <a:rPr lang="ko-KR" altLang="en-US" sz="900" b="1" kern="0" smtClean="0">
                <a:solidFill>
                  <a:srgbClr val="000000"/>
                </a:solidFill>
              </a:rPr>
              <a:t> 로그인 검증</a:t>
            </a:r>
            <a:endParaRPr lang="en-US" altLang="ko-KR" sz="900" b="1" kern="0" dirty="0" smtClean="0">
              <a:solidFill>
                <a:srgbClr val="000000"/>
              </a:solidFill>
            </a:endParaRPr>
          </a:p>
        </p:txBody>
      </p:sp>
      <p:sp>
        <p:nvSpPr>
          <p:cNvPr id="46" name="Text Box 153"/>
          <p:cNvSpPr txBox="1">
            <a:spLocks noChangeArrowheads="1"/>
          </p:cNvSpPr>
          <p:nvPr/>
        </p:nvSpPr>
        <p:spPr bwMode="auto">
          <a:xfrm>
            <a:off x="7745720" y="3434594"/>
            <a:ext cx="126548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>
                <a:solidFill>
                  <a:srgbClr val="000000"/>
                </a:solidFill>
              </a:rPr>
              <a:t>4</a:t>
            </a:r>
            <a:r>
              <a:rPr lang="en-US" altLang="ko-KR" sz="900" b="1" kern="0" smtClean="0">
                <a:solidFill>
                  <a:srgbClr val="000000"/>
                </a:solidFill>
              </a:rPr>
              <a:t>.</a:t>
            </a:r>
            <a:r>
              <a:rPr lang="ko-KR" altLang="en-US" sz="900" b="1" kern="0" smtClean="0">
                <a:solidFill>
                  <a:srgbClr val="000000"/>
                </a:solidFill>
              </a:rPr>
              <a:t> 인증토큰생성</a:t>
            </a:r>
            <a:endParaRPr lang="en-US" altLang="ko-KR" sz="900" b="1" kern="0" dirty="0" smtClean="0">
              <a:solidFill>
                <a:srgbClr val="000000"/>
              </a:solidFill>
            </a:endParaRPr>
          </a:p>
        </p:txBody>
      </p:sp>
      <p:sp>
        <p:nvSpPr>
          <p:cNvPr id="47" name="직사각형 46"/>
          <p:cNvSpPr/>
          <p:nvPr/>
        </p:nvSpPr>
        <p:spPr bwMode="gray">
          <a:xfrm>
            <a:off x="632520" y="1409112"/>
            <a:ext cx="8640960" cy="502733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wrap="square" tIns="72000" bIns="72000" anchor="t" anchorCtr="0">
            <a:noAutofit/>
          </a:bodyPr>
          <a:lstStyle/>
          <a:p>
            <a:pPr marL="228600" indent="-136525" latinLnBrk="1">
              <a:spcBef>
                <a:spcPct val="20000"/>
              </a:spcBef>
              <a:spcAft>
                <a:spcPts val="0"/>
              </a:spcAft>
              <a:buSzPct val="75000"/>
              <a:buFont typeface="Arial"/>
              <a:buChar char="•"/>
              <a:defRPr lang="ko-KR" altLang="en-US"/>
            </a:pPr>
            <a:endParaRPr lang="en-US" altLang="ko-KR" sz="1200" b="1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내용 개체 틀 2"/>
          <p:cNvSpPr txBox="1">
            <a:spLocks/>
          </p:cNvSpPr>
          <p:nvPr/>
        </p:nvSpPr>
        <p:spPr>
          <a:xfrm>
            <a:off x="384560" y="797867"/>
            <a:ext cx="9392975" cy="438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kern="0" spc="-50" dirty="0" smtClean="0"/>
              <a:t>통합계정으로 </a:t>
            </a:r>
            <a:r>
              <a:rPr lang="en-US" altLang="ko-KR" kern="0" spc="-50" dirty="0" smtClean="0"/>
              <a:t>PC</a:t>
            </a:r>
            <a:r>
              <a:rPr lang="ko-KR" altLang="en-US" kern="0" spc="-50" dirty="0" smtClean="0"/>
              <a:t>통합로그인을 수행하고</a:t>
            </a:r>
            <a:r>
              <a:rPr lang="en-US" altLang="ko-KR" kern="0" spc="-50" dirty="0" smtClean="0"/>
              <a:t>, SSO </a:t>
            </a:r>
            <a:r>
              <a:rPr lang="ko-KR" altLang="en-US" kern="0" spc="-50" dirty="0" smtClean="0"/>
              <a:t>연동용 인증토큰을 생성함</a:t>
            </a:r>
            <a:endParaRPr lang="en-US" altLang="ko-KR" kern="0" dirty="0" smtClean="0"/>
          </a:p>
        </p:txBody>
      </p:sp>
      <p:sp>
        <p:nvSpPr>
          <p:cNvPr id="50" name="모서리가 둥근 직사각형 17"/>
          <p:cNvSpPr/>
          <p:nvPr/>
        </p:nvSpPr>
        <p:spPr bwMode="auto">
          <a:xfrm>
            <a:off x="2336243" y="1489508"/>
            <a:ext cx="3103125" cy="1013028"/>
          </a:xfrm>
          <a:prstGeom prst="roundRect">
            <a:avLst>
              <a:gd name="adj" fmla="val 8275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anchor="ctr"/>
          <a:lstStyle/>
          <a:p>
            <a:pPr algn="ctr" defTabSz="995363">
              <a:lnSpc>
                <a:spcPts val="1700"/>
              </a:lnSpc>
              <a:defRPr/>
            </a:pPr>
            <a:endParaRPr lang="ko-KR" altLang="en-US" sz="1000" b="1" dirty="0"/>
          </a:p>
        </p:txBody>
      </p:sp>
      <p:sp>
        <p:nvSpPr>
          <p:cNvPr id="63" name="Text Box 153"/>
          <p:cNvSpPr txBox="1">
            <a:spLocks noChangeArrowheads="1"/>
          </p:cNvSpPr>
          <p:nvPr/>
        </p:nvSpPr>
        <p:spPr bwMode="auto">
          <a:xfrm>
            <a:off x="2957188" y="1590407"/>
            <a:ext cx="197196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ko-KR" altLang="en-US" sz="900" b="1" kern="0" smtClean="0">
                <a:solidFill>
                  <a:srgbClr val="000000"/>
                </a:solidFill>
              </a:rPr>
              <a:t>사용자 </a:t>
            </a:r>
            <a:r>
              <a:rPr lang="en-US" altLang="ko-KR" sz="900" b="1" kern="0" smtClean="0">
                <a:solidFill>
                  <a:srgbClr val="000000"/>
                </a:solidFill>
              </a:rPr>
              <a:t>PC (Windows 10)</a:t>
            </a:r>
            <a:endParaRPr lang="ko-KR" altLang="en-US" sz="900" b="1" kern="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50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업무 연동 흐름도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2.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동작 흐름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cxnSp>
        <p:nvCxnSpPr>
          <p:cNvPr id="6" name="직선 연결선 13"/>
          <p:cNvCxnSpPr/>
          <p:nvPr/>
        </p:nvCxnSpPr>
        <p:spPr>
          <a:xfrm flipV="1">
            <a:off x="4641427" y="2092418"/>
            <a:ext cx="0" cy="4184650"/>
          </a:xfrm>
          <a:prstGeom prst="line">
            <a:avLst/>
          </a:prstGeom>
          <a:ln w="508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14"/>
          <p:cNvCxnSpPr/>
          <p:nvPr/>
        </p:nvCxnSpPr>
        <p:spPr>
          <a:xfrm flipV="1">
            <a:off x="7779282" y="2094005"/>
            <a:ext cx="0" cy="4183063"/>
          </a:xfrm>
          <a:prstGeom prst="line">
            <a:avLst/>
          </a:prstGeom>
          <a:ln w="508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24"/>
          <p:cNvGrpSpPr>
            <a:grpSpLocks/>
          </p:cNvGrpSpPr>
          <p:nvPr/>
        </p:nvGrpSpPr>
        <p:grpSpPr bwMode="auto">
          <a:xfrm>
            <a:off x="4036590" y="1678080"/>
            <a:ext cx="1279525" cy="414338"/>
            <a:chOff x="3392781" y="2823588"/>
            <a:chExt cx="2379996" cy="1085222"/>
          </a:xfrm>
          <a:solidFill>
            <a:schemeClr val="accent5">
              <a:lumMod val="50000"/>
            </a:schemeClr>
          </a:solidFill>
        </p:grpSpPr>
        <p:sp>
          <p:nvSpPr>
            <p:cNvPr id="9" name="모서리가 둥근 직사각형 25"/>
            <p:cNvSpPr/>
            <p:nvPr/>
          </p:nvSpPr>
          <p:spPr>
            <a:xfrm>
              <a:off x="3392781" y="2823588"/>
              <a:ext cx="2379996" cy="1085222"/>
            </a:xfrm>
            <a:prstGeom prst="roundRect">
              <a:avLst>
                <a:gd name="adj" fmla="val 8275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995363">
                <a:lnSpc>
                  <a:spcPts val="1700"/>
                </a:lnSpc>
                <a:defRPr/>
              </a:pPr>
              <a:endParaRPr lang="ko-KR" altLang="en-US" sz="1000" b="1" dirty="0"/>
            </a:p>
          </p:txBody>
        </p:sp>
        <p:sp>
          <p:nvSpPr>
            <p:cNvPr id="10" name="모서리가 둥근 직사각형 26"/>
            <p:cNvSpPr/>
            <p:nvPr/>
          </p:nvSpPr>
          <p:spPr>
            <a:xfrm>
              <a:off x="3422309" y="2848536"/>
              <a:ext cx="2320939" cy="1035327"/>
            </a:xfrm>
            <a:prstGeom prst="roundRect">
              <a:avLst>
                <a:gd name="adj" fmla="val 82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ts val="1700"/>
                </a:lnSpc>
                <a:defRPr/>
              </a:pP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27"/>
            <p:cNvSpPr txBox="1">
              <a:spLocks noChangeArrowheads="1"/>
            </p:cNvSpPr>
            <p:nvPr/>
          </p:nvSpPr>
          <p:spPr bwMode="auto">
            <a:xfrm>
              <a:off x="3424334" y="2837950"/>
              <a:ext cx="2316891" cy="105650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ko-KR" altLang="en-US" sz="1000" b="1">
                  <a:solidFill>
                    <a:schemeClr val="bg1"/>
                  </a:solidFill>
                </a:rPr>
                <a:t>업무 서비스</a:t>
              </a:r>
              <a:endParaRPr lang="en-US" altLang="ko-KR" sz="10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13" name="직선 화살표 연결선 28"/>
          <p:cNvCxnSpPr/>
          <p:nvPr/>
        </p:nvCxnSpPr>
        <p:spPr>
          <a:xfrm>
            <a:off x="1453727" y="2469028"/>
            <a:ext cx="3187700" cy="0"/>
          </a:xfrm>
          <a:prstGeom prst="straightConnector1">
            <a:avLst/>
          </a:prstGeom>
          <a:ln w="22225" cap="rnd">
            <a:solidFill>
              <a:schemeClr val="bg2">
                <a:lumMod val="75000"/>
              </a:schemeClr>
            </a:solidFill>
            <a:prstDash val="solid"/>
            <a:headEnd type="none" w="med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 Box 153"/>
          <p:cNvSpPr txBox="1">
            <a:spLocks noChangeArrowheads="1"/>
          </p:cNvSpPr>
          <p:nvPr/>
        </p:nvSpPr>
        <p:spPr bwMode="auto">
          <a:xfrm>
            <a:off x="1302915" y="2316628"/>
            <a:ext cx="3179762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 smtClean="0">
                <a:solidFill>
                  <a:srgbClr val="000000"/>
                </a:solidFill>
              </a:rPr>
              <a:t>1.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 업무 서비스 접속</a:t>
            </a:r>
            <a:r>
              <a:rPr lang="en-US" altLang="ko-KR" sz="900" b="1" kern="0" dirty="0" smtClean="0">
                <a:solidFill>
                  <a:srgbClr val="000000"/>
                </a:solidFill>
              </a:rPr>
              <a:t> (</a:t>
            </a:r>
            <a:r>
              <a:rPr lang="en-US" sz="900" b="1" dirty="0"/>
              <a:t>GET /</a:t>
            </a:r>
            <a:r>
              <a:rPr lang="en-US" sz="900" b="1" dirty="0" smtClean="0"/>
              <a:t>sso/business </a:t>
            </a:r>
            <a:r>
              <a:rPr lang="en-US" sz="900" b="1" dirty="0"/>
              <a:t>HTTP/1.1 </a:t>
            </a:r>
            <a:r>
              <a:rPr lang="en-US" altLang="ko-KR" sz="900" b="1" kern="0" dirty="0" smtClean="0">
                <a:solidFill>
                  <a:srgbClr val="000000"/>
                </a:solidFill>
              </a:rPr>
              <a:t>)</a:t>
            </a:r>
            <a:endParaRPr lang="ko-KR" altLang="en-US" sz="900" b="1" kern="0" dirty="0" smtClean="0">
              <a:solidFill>
                <a:srgbClr val="000000"/>
              </a:solidFill>
            </a:endParaRPr>
          </a:p>
        </p:txBody>
      </p:sp>
      <p:grpSp>
        <p:nvGrpSpPr>
          <p:cNvPr id="15" name="그룹 48"/>
          <p:cNvGrpSpPr>
            <a:grpSpLocks/>
          </p:cNvGrpSpPr>
          <p:nvPr/>
        </p:nvGrpSpPr>
        <p:grpSpPr bwMode="auto">
          <a:xfrm>
            <a:off x="7166507" y="1679668"/>
            <a:ext cx="1279525" cy="414337"/>
            <a:chOff x="3392781" y="2823588"/>
            <a:chExt cx="2379996" cy="1085222"/>
          </a:xfrm>
          <a:solidFill>
            <a:schemeClr val="accent5">
              <a:lumMod val="50000"/>
            </a:schemeClr>
          </a:solidFill>
        </p:grpSpPr>
        <p:sp>
          <p:nvSpPr>
            <p:cNvPr id="16" name="모서리가 둥근 직사각형 49"/>
            <p:cNvSpPr/>
            <p:nvPr/>
          </p:nvSpPr>
          <p:spPr>
            <a:xfrm>
              <a:off x="3392781" y="2823588"/>
              <a:ext cx="2379996" cy="1085222"/>
            </a:xfrm>
            <a:prstGeom prst="roundRect">
              <a:avLst>
                <a:gd name="adj" fmla="val 8275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995363">
                <a:lnSpc>
                  <a:spcPts val="1700"/>
                </a:lnSpc>
                <a:defRPr/>
              </a:pPr>
              <a:endParaRPr lang="ko-KR" altLang="en-US" sz="1000" b="1" dirty="0"/>
            </a:p>
          </p:txBody>
        </p:sp>
        <p:sp>
          <p:nvSpPr>
            <p:cNvPr id="17" name="모서리가 둥근 직사각형 50"/>
            <p:cNvSpPr/>
            <p:nvPr/>
          </p:nvSpPr>
          <p:spPr>
            <a:xfrm>
              <a:off x="3422309" y="2848536"/>
              <a:ext cx="2320939" cy="1035327"/>
            </a:xfrm>
            <a:prstGeom prst="roundRect">
              <a:avLst>
                <a:gd name="adj" fmla="val 82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ts val="1700"/>
                </a:lnSpc>
                <a:defRPr/>
              </a:pP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TextBox 51"/>
            <p:cNvSpPr txBox="1">
              <a:spLocks noChangeArrowheads="1"/>
            </p:cNvSpPr>
            <p:nvPr/>
          </p:nvSpPr>
          <p:spPr bwMode="auto">
            <a:xfrm>
              <a:off x="3424334" y="2837950"/>
              <a:ext cx="2316891" cy="105650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en-US" altLang="ko-KR" sz="1000" b="1" dirty="0">
                  <a:solidFill>
                    <a:schemeClr val="bg1"/>
                  </a:solidFill>
                </a:rPr>
                <a:t>ISign+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 서버</a:t>
              </a:r>
              <a:endParaRPr lang="en-US" altLang="ko-KR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Text Box 153"/>
          <p:cNvSpPr txBox="1">
            <a:spLocks noChangeArrowheads="1"/>
          </p:cNvSpPr>
          <p:nvPr/>
        </p:nvSpPr>
        <p:spPr bwMode="auto">
          <a:xfrm>
            <a:off x="7955066" y="3773084"/>
            <a:ext cx="1236662" cy="139700"/>
          </a:xfrm>
          <a:prstGeom prst="rect">
            <a:avLst/>
          </a:prstGeom>
          <a:solidFill>
            <a:schemeClr val="bg1">
              <a:alpha val="40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 smtClean="0">
                <a:solidFill>
                  <a:srgbClr val="000000"/>
                </a:solidFill>
              </a:rPr>
              <a:t>5.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 인증 유무 체크</a:t>
            </a:r>
            <a:endParaRPr lang="en-US" altLang="ko-KR" sz="900" b="1" kern="0" dirty="0" smtClean="0">
              <a:solidFill>
                <a:srgbClr val="000000"/>
              </a:solidFill>
            </a:endParaRPr>
          </a:p>
        </p:txBody>
      </p:sp>
      <p:sp>
        <p:nvSpPr>
          <p:cNvPr id="20" name="Text Box 153"/>
          <p:cNvSpPr txBox="1">
            <a:spLocks noChangeArrowheads="1"/>
          </p:cNvSpPr>
          <p:nvPr/>
        </p:nvSpPr>
        <p:spPr bwMode="auto">
          <a:xfrm>
            <a:off x="1424608" y="3059156"/>
            <a:ext cx="159607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 smtClean="0">
                <a:solidFill>
                  <a:srgbClr val="000000"/>
                </a:solidFill>
              </a:rPr>
              <a:t>3.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 </a:t>
            </a:r>
            <a:r>
              <a:rPr lang="en-US" altLang="ko-KR" sz="900" b="1" kern="0" dirty="0" smtClean="0">
                <a:solidFill>
                  <a:srgbClr val="000000"/>
                </a:solidFill>
              </a:rPr>
              <a:t>redirection login.html</a:t>
            </a:r>
            <a:endParaRPr lang="ko-KR" altLang="en-US" sz="900" b="1" kern="0" dirty="0" smtClean="0">
              <a:solidFill>
                <a:srgbClr val="000000"/>
              </a:solidFill>
            </a:endParaRPr>
          </a:p>
        </p:txBody>
      </p:sp>
      <p:cxnSp>
        <p:nvCxnSpPr>
          <p:cNvPr id="21" name="직선 화살표 연결선 59"/>
          <p:cNvCxnSpPr/>
          <p:nvPr/>
        </p:nvCxnSpPr>
        <p:spPr>
          <a:xfrm flipV="1">
            <a:off x="1464840" y="3248068"/>
            <a:ext cx="3138487" cy="4763"/>
          </a:xfrm>
          <a:prstGeom prst="straightConnector1">
            <a:avLst/>
          </a:prstGeom>
          <a:ln w="22225" cap="rnd">
            <a:solidFill>
              <a:schemeClr val="bg2">
                <a:lumMod val="75000"/>
              </a:schemeClr>
            </a:solidFill>
            <a:prstDash val="solid"/>
            <a:headEnd type="triangle" w="lg" len="med"/>
            <a:tailEnd type="non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12"/>
          <p:cNvCxnSpPr/>
          <p:nvPr/>
        </p:nvCxnSpPr>
        <p:spPr>
          <a:xfrm flipV="1">
            <a:off x="1445790" y="2125755"/>
            <a:ext cx="0" cy="4151313"/>
          </a:xfrm>
          <a:prstGeom prst="line">
            <a:avLst/>
          </a:prstGeom>
          <a:ln w="508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16"/>
          <p:cNvGrpSpPr>
            <a:grpSpLocks/>
          </p:cNvGrpSpPr>
          <p:nvPr/>
        </p:nvGrpSpPr>
        <p:grpSpPr bwMode="auto">
          <a:xfrm>
            <a:off x="844127" y="1684430"/>
            <a:ext cx="1279525" cy="415925"/>
            <a:chOff x="3392781" y="2823588"/>
            <a:chExt cx="2379996" cy="1085222"/>
          </a:xfrm>
          <a:solidFill>
            <a:schemeClr val="accent5">
              <a:lumMod val="50000"/>
            </a:schemeClr>
          </a:solidFill>
        </p:grpSpPr>
        <p:sp>
          <p:nvSpPr>
            <p:cNvPr id="24" name="모서리가 둥근 직사각형 17"/>
            <p:cNvSpPr/>
            <p:nvPr/>
          </p:nvSpPr>
          <p:spPr>
            <a:xfrm>
              <a:off x="3392781" y="2823588"/>
              <a:ext cx="2379996" cy="1085222"/>
            </a:xfrm>
            <a:prstGeom prst="roundRect">
              <a:avLst>
                <a:gd name="adj" fmla="val 8275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 defTabSz="995363">
                <a:lnSpc>
                  <a:spcPts val="1700"/>
                </a:lnSpc>
                <a:defRPr/>
              </a:pPr>
              <a:endParaRPr lang="ko-KR" altLang="en-US" sz="1000" b="1" dirty="0"/>
            </a:p>
          </p:txBody>
        </p:sp>
        <p:sp>
          <p:nvSpPr>
            <p:cNvPr id="25" name="모서리가 둥근 직사각형 18"/>
            <p:cNvSpPr/>
            <p:nvPr/>
          </p:nvSpPr>
          <p:spPr>
            <a:xfrm>
              <a:off x="3422309" y="2848440"/>
              <a:ext cx="2320939" cy="1035517"/>
            </a:xfrm>
            <a:prstGeom prst="roundRect">
              <a:avLst>
                <a:gd name="adj" fmla="val 82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ts val="1700"/>
                </a:lnSpc>
                <a:defRPr/>
              </a:pP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TextBox 64"/>
            <p:cNvSpPr txBox="1">
              <a:spLocks noChangeArrowheads="1"/>
            </p:cNvSpPr>
            <p:nvPr/>
          </p:nvSpPr>
          <p:spPr bwMode="auto">
            <a:xfrm>
              <a:off x="3424334" y="2837950"/>
              <a:ext cx="2316891" cy="105650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ko-KR" altLang="en-US" sz="1000" b="1" smtClean="0">
                  <a:solidFill>
                    <a:schemeClr val="bg1"/>
                  </a:solidFill>
                </a:rPr>
                <a:t>사용자</a:t>
              </a:r>
              <a:r>
                <a:rPr lang="en-US" altLang="ko-KR" sz="1000" b="1" smtClean="0">
                  <a:solidFill>
                    <a:schemeClr val="bg1"/>
                  </a:solidFill>
                </a:rPr>
                <a:t>PC</a:t>
              </a:r>
            </a:p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en-US" altLang="ko-KR" sz="1000" b="1" smtClean="0">
                  <a:solidFill>
                    <a:schemeClr val="bg1"/>
                  </a:solidFill>
                </a:rPr>
                <a:t>(Windows 10)</a:t>
              </a:r>
              <a:endParaRPr lang="ko-KR" altLang="en-US" sz="1000" b="1">
                <a:solidFill>
                  <a:schemeClr val="bg1"/>
                </a:solidFill>
              </a:endParaRPr>
            </a:p>
          </p:txBody>
        </p:sp>
      </p:grpSp>
      <p:sp>
        <p:nvSpPr>
          <p:cNvPr id="27" name="Text Box 153"/>
          <p:cNvSpPr txBox="1">
            <a:spLocks noChangeArrowheads="1"/>
          </p:cNvSpPr>
          <p:nvPr/>
        </p:nvSpPr>
        <p:spPr bwMode="auto">
          <a:xfrm>
            <a:off x="4638252" y="2627778"/>
            <a:ext cx="1611313" cy="138113"/>
          </a:xfrm>
          <a:prstGeom prst="rect">
            <a:avLst/>
          </a:prstGeom>
          <a:solidFill>
            <a:schemeClr val="bg1">
              <a:alpha val="40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 smtClean="0">
                <a:solidFill>
                  <a:srgbClr val="000000"/>
                </a:solidFill>
              </a:rPr>
              <a:t>2.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 서버 통신 체크</a:t>
            </a:r>
            <a:endParaRPr lang="en-US" altLang="ko-KR" sz="900" b="1" kern="0" dirty="0" smtClean="0">
              <a:solidFill>
                <a:srgbClr val="000000"/>
              </a:solidFill>
            </a:endParaRPr>
          </a:p>
        </p:txBody>
      </p:sp>
      <p:cxnSp>
        <p:nvCxnSpPr>
          <p:cNvPr id="28" name="직선 화살표 연결선 46"/>
          <p:cNvCxnSpPr/>
          <p:nvPr/>
        </p:nvCxnSpPr>
        <p:spPr>
          <a:xfrm>
            <a:off x="1414994" y="3674659"/>
            <a:ext cx="6364288" cy="0"/>
          </a:xfrm>
          <a:prstGeom prst="straightConnector1">
            <a:avLst/>
          </a:prstGeom>
          <a:ln w="22225" cap="rnd">
            <a:solidFill>
              <a:schemeClr val="bg2">
                <a:lumMod val="75000"/>
              </a:schemeClr>
            </a:solidFill>
            <a:prstDash val="solid"/>
            <a:headEnd type="none" w="lg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46"/>
          <p:cNvCxnSpPr/>
          <p:nvPr/>
        </p:nvCxnSpPr>
        <p:spPr>
          <a:xfrm>
            <a:off x="1414994" y="4110304"/>
            <a:ext cx="6364288" cy="0"/>
          </a:xfrm>
          <a:prstGeom prst="straightConnector1">
            <a:avLst/>
          </a:prstGeom>
          <a:ln w="22225" cap="rnd">
            <a:solidFill>
              <a:schemeClr val="bg2">
                <a:lumMod val="75000"/>
              </a:schemeClr>
            </a:solidFill>
            <a:prstDash val="solid"/>
            <a:headEnd type="triangle" w="lg" len="med"/>
            <a:tailEnd type="non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 Box 153"/>
          <p:cNvSpPr txBox="1">
            <a:spLocks noChangeArrowheads="1"/>
          </p:cNvSpPr>
          <p:nvPr/>
        </p:nvSpPr>
        <p:spPr bwMode="auto">
          <a:xfrm>
            <a:off x="4998615" y="3501622"/>
            <a:ext cx="1379537" cy="139700"/>
          </a:xfrm>
          <a:prstGeom prst="rect">
            <a:avLst/>
          </a:prstGeom>
          <a:solidFill>
            <a:schemeClr val="bg1">
              <a:alpha val="40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spcBef>
                <a:spcPct val="50000"/>
              </a:spcBef>
              <a:defRPr/>
            </a:pPr>
            <a:r>
              <a:rPr lang="en-US" altLang="ko-KR" sz="900" b="1" kern="0" dirty="0" smtClean="0">
                <a:solidFill>
                  <a:srgbClr val="000000"/>
                </a:solidFill>
              </a:rPr>
              <a:t>4.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 로그인 페이지 접속</a:t>
            </a:r>
          </a:p>
        </p:txBody>
      </p:sp>
      <p:sp>
        <p:nvSpPr>
          <p:cNvPr id="31" name="자유형 67"/>
          <p:cNvSpPr>
            <a:spLocks/>
          </p:cNvSpPr>
          <p:nvPr/>
        </p:nvSpPr>
        <p:spPr bwMode="auto">
          <a:xfrm>
            <a:off x="7806269" y="3676247"/>
            <a:ext cx="252413" cy="333375"/>
          </a:xfrm>
          <a:custGeom>
            <a:avLst/>
            <a:gdLst>
              <a:gd name="T0" fmla="*/ 0 w 355600"/>
              <a:gd name="T1" fmla="*/ 0 h 241300"/>
              <a:gd name="T2" fmla="*/ 527 w 355600"/>
              <a:gd name="T3" fmla="*/ 0 h 241300"/>
              <a:gd name="T4" fmla="*/ 527 w 355600"/>
              <a:gd name="T5" fmla="*/ 112095813 h 241300"/>
              <a:gd name="T6" fmla="*/ 0 w 355600"/>
              <a:gd name="T7" fmla="*/ 112095813 h 2413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55600" h="241300">
                <a:moveTo>
                  <a:pt x="0" y="0"/>
                </a:moveTo>
                <a:lnTo>
                  <a:pt x="355600" y="0"/>
                </a:lnTo>
                <a:lnTo>
                  <a:pt x="355600" y="241300"/>
                </a:lnTo>
                <a:lnTo>
                  <a:pt x="0" y="241300"/>
                </a:lnTo>
              </a:path>
            </a:pathLst>
          </a:custGeom>
          <a:noFill/>
          <a:ln w="22225" cap="rnd">
            <a:solidFill>
              <a:srgbClr val="999999"/>
            </a:solidFill>
            <a:prstDash val="solid"/>
            <a:round/>
            <a:headEnd type="none" w="med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ko-KR" altLang="en-US" b="1"/>
          </a:p>
        </p:txBody>
      </p:sp>
      <p:sp>
        <p:nvSpPr>
          <p:cNvPr id="32" name="Text Box 153"/>
          <p:cNvSpPr txBox="1">
            <a:spLocks noChangeArrowheads="1"/>
          </p:cNvSpPr>
          <p:nvPr/>
        </p:nvSpPr>
        <p:spPr bwMode="auto">
          <a:xfrm>
            <a:off x="1396145" y="3919804"/>
            <a:ext cx="2697163" cy="13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lang="en-US" altLang="ko-KR" sz="900" b="1" dirty="0">
                <a:solidFill>
                  <a:srgbClr val="000000"/>
                </a:solidFill>
              </a:rPr>
              <a:t>6.</a:t>
            </a:r>
            <a:r>
              <a:rPr lang="ko-KR" altLang="en-US" sz="900" b="1" dirty="0">
                <a:solidFill>
                  <a:srgbClr val="000000"/>
                </a:solidFill>
              </a:rPr>
              <a:t> </a:t>
            </a:r>
            <a:r>
              <a:rPr lang="en-US" altLang="ko-KR" sz="900" b="1" dirty="0">
                <a:solidFill>
                  <a:srgbClr val="000000"/>
                </a:solidFill>
              </a:rPr>
              <a:t>redirection checkauth (secureToken</a:t>
            </a:r>
            <a:r>
              <a:rPr lang="ko-KR" altLang="en-US" sz="900" b="1" dirty="0">
                <a:solidFill>
                  <a:srgbClr val="000000"/>
                </a:solidFill>
              </a:rPr>
              <a:t> 전달</a:t>
            </a:r>
            <a:r>
              <a:rPr lang="en-US" altLang="ko-KR" sz="900" b="1" dirty="0">
                <a:solidFill>
                  <a:srgbClr val="000000"/>
                </a:solidFill>
              </a:rPr>
              <a:t>)</a:t>
            </a:r>
            <a:endParaRPr lang="ko-KR" altLang="en-US" sz="900" b="1" dirty="0">
              <a:solidFill>
                <a:srgbClr val="000000"/>
              </a:solidFill>
            </a:endParaRPr>
          </a:p>
        </p:txBody>
      </p:sp>
      <p:cxnSp>
        <p:nvCxnSpPr>
          <p:cNvPr id="33" name="직선 화살표 연결선 56"/>
          <p:cNvCxnSpPr/>
          <p:nvPr/>
        </p:nvCxnSpPr>
        <p:spPr>
          <a:xfrm>
            <a:off x="1491827" y="4602014"/>
            <a:ext cx="3111500" cy="0"/>
          </a:xfrm>
          <a:prstGeom prst="straightConnector1">
            <a:avLst/>
          </a:prstGeom>
          <a:ln w="22225" cap="rnd">
            <a:solidFill>
              <a:schemeClr val="bg2">
                <a:lumMod val="75000"/>
              </a:schemeClr>
            </a:solidFill>
            <a:prstDash val="solid"/>
            <a:headEnd type="none" w="med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 Box 153"/>
          <p:cNvSpPr txBox="1">
            <a:spLocks noChangeArrowheads="1"/>
          </p:cNvSpPr>
          <p:nvPr/>
        </p:nvSpPr>
        <p:spPr bwMode="auto">
          <a:xfrm>
            <a:off x="1431502" y="4436914"/>
            <a:ext cx="3400425" cy="13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>
                <a:solidFill>
                  <a:srgbClr val="000000"/>
                </a:solidFill>
              </a:rPr>
              <a:t>7</a:t>
            </a:r>
            <a:r>
              <a:rPr lang="en-US" altLang="ko-KR" sz="900" b="1" kern="0" dirty="0" smtClean="0">
                <a:solidFill>
                  <a:srgbClr val="000000"/>
                </a:solidFill>
              </a:rPr>
              <a:t>.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 인증 완료 페이지 호출</a:t>
            </a:r>
            <a:r>
              <a:rPr lang="en-US" altLang="ko-KR" sz="900" b="1" kern="0" dirty="0" smtClean="0">
                <a:solidFill>
                  <a:srgbClr val="000000"/>
                </a:solidFill>
              </a:rPr>
              <a:t>(</a:t>
            </a:r>
            <a:r>
              <a:rPr lang="en-US" sz="900" b="1" dirty="0"/>
              <a:t>POST /</a:t>
            </a:r>
            <a:r>
              <a:rPr lang="en-US" sz="900" b="1" dirty="0" smtClean="0"/>
              <a:t>sso/checkauth </a:t>
            </a:r>
            <a:r>
              <a:rPr lang="en-US" sz="900" b="1" dirty="0"/>
              <a:t>HTTP/1.1 </a:t>
            </a:r>
            <a:r>
              <a:rPr lang="en-US" sz="900" b="1" dirty="0" smtClean="0"/>
              <a:t> </a:t>
            </a:r>
            <a:r>
              <a:rPr lang="en-US" altLang="ko-KR" sz="900" b="1" dirty="0" smtClean="0"/>
              <a:t>)</a:t>
            </a:r>
            <a:endParaRPr lang="ko-KR" altLang="en-US" sz="900" b="1" kern="0" dirty="0" smtClean="0">
              <a:solidFill>
                <a:srgbClr val="000000"/>
              </a:solidFill>
            </a:endParaRPr>
          </a:p>
        </p:txBody>
      </p:sp>
      <p:cxnSp>
        <p:nvCxnSpPr>
          <p:cNvPr id="35" name="직선 화살표 연결선 56"/>
          <p:cNvCxnSpPr/>
          <p:nvPr/>
        </p:nvCxnSpPr>
        <p:spPr>
          <a:xfrm>
            <a:off x="1461665" y="5914391"/>
            <a:ext cx="3141662" cy="0"/>
          </a:xfrm>
          <a:prstGeom prst="straightConnector1">
            <a:avLst/>
          </a:prstGeom>
          <a:ln w="22225" cap="rnd">
            <a:solidFill>
              <a:schemeClr val="bg2">
                <a:lumMod val="75000"/>
              </a:schemeClr>
            </a:solidFill>
            <a:prstDash val="solid"/>
            <a:headEnd type="none" w="med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55"/>
          <p:cNvCxnSpPr/>
          <p:nvPr/>
        </p:nvCxnSpPr>
        <p:spPr>
          <a:xfrm>
            <a:off x="4651907" y="2796053"/>
            <a:ext cx="3106737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53"/>
          <p:cNvSpPr txBox="1">
            <a:spLocks noChangeArrowheads="1"/>
          </p:cNvSpPr>
          <p:nvPr/>
        </p:nvSpPr>
        <p:spPr bwMode="auto">
          <a:xfrm>
            <a:off x="6121932" y="4743301"/>
            <a:ext cx="1611312" cy="138113"/>
          </a:xfrm>
          <a:prstGeom prst="rect">
            <a:avLst/>
          </a:prstGeom>
          <a:solidFill>
            <a:schemeClr val="bg1">
              <a:alpha val="40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>
                <a:solidFill>
                  <a:srgbClr val="000000"/>
                </a:solidFill>
              </a:rPr>
              <a:t>8</a:t>
            </a:r>
            <a:r>
              <a:rPr lang="en-US" altLang="ko-KR" sz="900" b="1" kern="0" dirty="0" smtClean="0">
                <a:solidFill>
                  <a:srgbClr val="000000"/>
                </a:solidFill>
              </a:rPr>
              <a:t>.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 토큰 권한 체크</a:t>
            </a:r>
            <a:endParaRPr lang="en-US" altLang="ko-KR" sz="900" b="1" kern="0" dirty="0" smtClean="0">
              <a:solidFill>
                <a:srgbClr val="000000"/>
              </a:solidFill>
            </a:endParaRPr>
          </a:p>
        </p:txBody>
      </p:sp>
      <p:cxnSp>
        <p:nvCxnSpPr>
          <p:cNvPr id="38" name="Straight Arrow Connector 57"/>
          <p:cNvCxnSpPr/>
          <p:nvPr/>
        </p:nvCxnSpPr>
        <p:spPr>
          <a:xfrm>
            <a:off x="4658257" y="4890939"/>
            <a:ext cx="310515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153"/>
          <p:cNvSpPr txBox="1">
            <a:spLocks noChangeArrowheads="1"/>
          </p:cNvSpPr>
          <p:nvPr/>
        </p:nvSpPr>
        <p:spPr bwMode="auto">
          <a:xfrm>
            <a:off x="4633490" y="4935389"/>
            <a:ext cx="1611312" cy="138112"/>
          </a:xfrm>
          <a:prstGeom prst="rect">
            <a:avLst/>
          </a:prstGeom>
          <a:solidFill>
            <a:schemeClr val="bg1">
              <a:alpha val="40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 smtClean="0">
                <a:solidFill>
                  <a:srgbClr val="000000"/>
                </a:solidFill>
              </a:rPr>
              <a:t>10.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 </a:t>
            </a:r>
            <a:r>
              <a:rPr lang="en-US" altLang="ko-KR" sz="900" b="1" kern="0" dirty="0" smtClean="0">
                <a:solidFill>
                  <a:srgbClr val="000000"/>
                </a:solidFill>
              </a:rPr>
              <a:t>request data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 응답</a:t>
            </a:r>
            <a:endParaRPr lang="en-US" altLang="ko-KR" sz="900" b="1" kern="0" dirty="0" smtClean="0">
              <a:solidFill>
                <a:srgbClr val="000000"/>
              </a:solidFill>
            </a:endParaRPr>
          </a:p>
        </p:txBody>
      </p:sp>
      <p:sp>
        <p:nvSpPr>
          <p:cNvPr id="40" name="Text Box 153"/>
          <p:cNvSpPr txBox="1">
            <a:spLocks noChangeArrowheads="1"/>
          </p:cNvSpPr>
          <p:nvPr/>
        </p:nvSpPr>
        <p:spPr bwMode="auto">
          <a:xfrm>
            <a:off x="7773000" y="4725598"/>
            <a:ext cx="1236663" cy="138499"/>
          </a:xfrm>
          <a:prstGeom prst="rect">
            <a:avLst/>
          </a:prstGeom>
          <a:solidFill>
            <a:schemeClr val="bg1">
              <a:alpha val="40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>
                <a:solidFill>
                  <a:srgbClr val="000000"/>
                </a:solidFill>
              </a:rPr>
              <a:t>9</a:t>
            </a:r>
            <a:r>
              <a:rPr lang="en-US" altLang="ko-KR" sz="900" b="1" kern="0" dirty="0" smtClean="0">
                <a:solidFill>
                  <a:srgbClr val="000000"/>
                </a:solidFill>
              </a:rPr>
              <a:t>.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 토큰 검증</a:t>
            </a:r>
            <a:endParaRPr lang="en-US" altLang="ko-KR" sz="900" b="1" kern="0" dirty="0" smtClean="0">
              <a:solidFill>
                <a:srgbClr val="000000"/>
              </a:solidFill>
            </a:endParaRPr>
          </a:p>
        </p:txBody>
      </p:sp>
      <p:grpSp>
        <p:nvGrpSpPr>
          <p:cNvPr id="41" name="그룹 92"/>
          <p:cNvGrpSpPr>
            <a:grpSpLocks/>
          </p:cNvGrpSpPr>
          <p:nvPr/>
        </p:nvGrpSpPr>
        <p:grpSpPr bwMode="auto">
          <a:xfrm rot="3884737">
            <a:off x="7751501" y="4744094"/>
            <a:ext cx="266700" cy="258763"/>
            <a:chOff x="7840663" y="3508376"/>
            <a:chExt cx="603249" cy="554038"/>
          </a:xfrm>
        </p:grpSpPr>
        <p:sp>
          <p:nvSpPr>
            <p:cNvPr id="42" name="AutoShape 38">
              <a:extLst/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7855095" y="3494741"/>
              <a:ext cx="549389" cy="543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90" tIns="27645" rIns="55290" bIns="27645"/>
            <a:lstStyle/>
            <a:p>
              <a:pPr>
                <a:defRPr/>
              </a:pPr>
              <a:endParaRPr lang="ko-KR" altLang="en-US" sz="1088" b="1">
                <a:latin typeface="맑은 고딕" charset="-127"/>
                <a:ea typeface="굴림" charset="-127"/>
              </a:endParaRPr>
            </a:p>
          </p:txBody>
        </p:sp>
        <p:sp>
          <p:nvSpPr>
            <p:cNvPr id="43" name="Freeform 40">
              <a:extLst/>
            </p:cNvPr>
            <p:cNvSpPr>
              <a:spLocks/>
            </p:cNvSpPr>
            <p:nvPr/>
          </p:nvSpPr>
          <p:spPr bwMode="auto">
            <a:xfrm>
              <a:off x="7850248" y="3516801"/>
              <a:ext cx="574523" cy="540440"/>
            </a:xfrm>
            <a:custGeom>
              <a:avLst/>
              <a:gdLst>
                <a:gd name="T0" fmla="*/ 525 w 553"/>
                <a:gd name="T1" fmla="*/ 515 h 515"/>
                <a:gd name="T2" fmla="*/ 525 w 553"/>
                <a:gd name="T3" fmla="*/ 443 h 515"/>
                <a:gd name="T4" fmla="*/ 466 w 553"/>
                <a:gd name="T5" fmla="*/ 443 h 515"/>
                <a:gd name="T6" fmla="*/ 455 w 553"/>
                <a:gd name="T7" fmla="*/ 98 h 515"/>
                <a:gd name="T8" fmla="*/ 98 w 553"/>
                <a:gd name="T9" fmla="*/ 98 h 515"/>
                <a:gd name="T10" fmla="*/ 98 w 553"/>
                <a:gd name="T11" fmla="*/ 455 h 515"/>
                <a:gd name="T12" fmla="*/ 145 w 553"/>
                <a:gd name="T13" fmla="*/ 408 h 515"/>
                <a:gd name="T14" fmla="*/ 145 w 553"/>
                <a:gd name="T15" fmla="*/ 145 h 515"/>
                <a:gd name="T16" fmla="*/ 408 w 553"/>
                <a:gd name="T17" fmla="*/ 145 h 515"/>
                <a:gd name="T18" fmla="*/ 417 w 553"/>
                <a:gd name="T19" fmla="*/ 399 h 515"/>
                <a:gd name="T20" fmla="*/ 417 w 553"/>
                <a:gd name="T21" fmla="*/ 335 h 515"/>
                <a:gd name="T22" fmla="*/ 345 w 553"/>
                <a:gd name="T23" fmla="*/ 335 h 515"/>
                <a:gd name="T24" fmla="*/ 345 w 553"/>
                <a:gd name="T25" fmla="*/ 443 h 515"/>
                <a:gd name="T26" fmla="*/ 345 w 553"/>
                <a:gd name="T27" fmla="*/ 443 h 515"/>
                <a:gd name="T28" fmla="*/ 345 w 553"/>
                <a:gd name="T29" fmla="*/ 463 h 515"/>
                <a:gd name="T30" fmla="*/ 345 w 553"/>
                <a:gd name="T31" fmla="*/ 515 h 515"/>
                <a:gd name="T32" fmla="*/ 417 w 553"/>
                <a:gd name="T33" fmla="*/ 515 h 515"/>
                <a:gd name="T34" fmla="*/ 417 w 553"/>
                <a:gd name="T35" fmla="*/ 515 h 515"/>
                <a:gd name="T36" fmla="*/ 525 w 553"/>
                <a:gd name="T37" fmla="*/ 515 h 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3" h="515">
                  <a:moveTo>
                    <a:pt x="525" y="515"/>
                  </a:moveTo>
                  <a:cubicBezTo>
                    <a:pt x="525" y="443"/>
                    <a:pt x="525" y="443"/>
                    <a:pt x="525" y="443"/>
                  </a:cubicBezTo>
                  <a:cubicBezTo>
                    <a:pt x="466" y="443"/>
                    <a:pt x="466" y="443"/>
                    <a:pt x="466" y="443"/>
                  </a:cubicBezTo>
                  <a:cubicBezTo>
                    <a:pt x="553" y="344"/>
                    <a:pt x="549" y="193"/>
                    <a:pt x="455" y="98"/>
                  </a:cubicBezTo>
                  <a:cubicBezTo>
                    <a:pt x="356" y="0"/>
                    <a:pt x="197" y="0"/>
                    <a:pt x="98" y="98"/>
                  </a:cubicBezTo>
                  <a:cubicBezTo>
                    <a:pt x="0" y="197"/>
                    <a:pt x="0" y="356"/>
                    <a:pt x="98" y="455"/>
                  </a:cubicBezTo>
                  <a:cubicBezTo>
                    <a:pt x="145" y="408"/>
                    <a:pt x="145" y="408"/>
                    <a:pt x="145" y="408"/>
                  </a:cubicBezTo>
                  <a:cubicBezTo>
                    <a:pt x="72" y="335"/>
                    <a:pt x="72" y="218"/>
                    <a:pt x="145" y="145"/>
                  </a:cubicBezTo>
                  <a:cubicBezTo>
                    <a:pt x="218" y="72"/>
                    <a:pt x="335" y="72"/>
                    <a:pt x="408" y="145"/>
                  </a:cubicBezTo>
                  <a:cubicBezTo>
                    <a:pt x="478" y="215"/>
                    <a:pt x="481" y="325"/>
                    <a:pt x="417" y="399"/>
                  </a:cubicBezTo>
                  <a:cubicBezTo>
                    <a:pt x="417" y="335"/>
                    <a:pt x="417" y="335"/>
                    <a:pt x="417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5" y="443"/>
                    <a:pt x="345" y="443"/>
                    <a:pt x="345" y="443"/>
                  </a:cubicBezTo>
                  <a:cubicBezTo>
                    <a:pt x="345" y="443"/>
                    <a:pt x="345" y="443"/>
                    <a:pt x="345" y="443"/>
                  </a:cubicBezTo>
                  <a:cubicBezTo>
                    <a:pt x="345" y="463"/>
                    <a:pt x="345" y="463"/>
                    <a:pt x="345" y="463"/>
                  </a:cubicBezTo>
                  <a:cubicBezTo>
                    <a:pt x="345" y="515"/>
                    <a:pt x="345" y="515"/>
                    <a:pt x="345" y="515"/>
                  </a:cubicBezTo>
                  <a:cubicBezTo>
                    <a:pt x="417" y="515"/>
                    <a:pt x="417" y="515"/>
                    <a:pt x="417" y="515"/>
                  </a:cubicBezTo>
                  <a:cubicBezTo>
                    <a:pt x="417" y="515"/>
                    <a:pt x="417" y="515"/>
                    <a:pt x="417" y="515"/>
                  </a:cubicBezTo>
                  <a:lnTo>
                    <a:pt x="525" y="5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5290" tIns="27645" rIns="55290" bIns="27645"/>
            <a:lstStyle/>
            <a:p>
              <a:pPr>
                <a:defRPr/>
              </a:pPr>
              <a:endParaRPr lang="ko-KR" altLang="en-US" sz="1088" b="1">
                <a:latin typeface="맑은 고딕" charset="-127"/>
                <a:ea typeface="굴림" charset="-127"/>
              </a:endParaRPr>
            </a:p>
          </p:txBody>
        </p:sp>
        <p:sp>
          <p:nvSpPr>
            <p:cNvPr id="44" name="Freeform 41">
              <a:extLst/>
            </p:cNvPr>
            <p:cNvSpPr>
              <a:spLocks noEditPoints="1"/>
            </p:cNvSpPr>
            <p:nvPr/>
          </p:nvSpPr>
          <p:spPr bwMode="auto">
            <a:xfrm>
              <a:off x="7832821" y="3522949"/>
              <a:ext cx="603249" cy="540440"/>
            </a:xfrm>
            <a:custGeom>
              <a:avLst/>
              <a:gdLst>
                <a:gd name="T0" fmla="*/ 554 w 582"/>
                <a:gd name="T1" fmla="*/ 518 h 518"/>
                <a:gd name="T2" fmla="*/ 346 w 582"/>
                <a:gd name="T3" fmla="*/ 518 h 518"/>
                <a:gd name="T4" fmla="*/ 346 w 582"/>
                <a:gd name="T5" fmla="*/ 310 h 518"/>
                <a:gd name="T6" fmla="*/ 446 w 582"/>
                <a:gd name="T7" fmla="*/ 310 h 518"/>
                <a:gd name="T8" fmla="*/ 446 w 582"/>
                <a:gd name="T9" fmla="*/ 341 h 518"/>
                <a:gd name="T10" fmla="*/ 413 w 582"/>
                <a:gd name="T11" fmla="*/ 144 h 518"/>
                <a:gd name="T12" fmla="*/ 170 w 582"/>
                <a:gd name="T13" fmla="*/ 144 h 518"/>
                <a:gd name="T14" fmla="*/ 120 w 582"/>
                <a:gd name="T15" fmla="*/ 266 h 518"/>
                <a:gd name="T16" fmla="*/ 170 w 582"/>
                <a:gd name="T17" fmla="*/ 387 h 518"/>
                <a:gd name="T18" fmla="*/ 180 w 582"/>
                <a:gd name="T19" fmla="*/ 397 h 518"/>
                <a:gd name="T20" fmla="*/ 113 w 582"/>
                <a:gd name="T21" fmla="*/ 464 h 518"/>
                <a:gd name="T22" fmla="*/ 103 w 582"/>
                <a:gd name="T23" fmla="*/ 454 h 518"/>
                <a:gd name="T24" fmla="*/ 103 w 582"/>
                <a:gd name="T25" fmla="*/ 78 h 518"/>
                <a:gd name="T26" fmla="*/ 292 w 582"/>
                <a:gd name="T27" fmla="*/ 0 h 518"/>
                <a:gd name="T28" fmla="*/ 480 w 582"/>
                <a:gd name="T29" fmla="*/ 78 h 518"/>
                <a:gd name="T30" fmla="*/ 510 w 582"/>
                <a:gd name="T31" fmla="*/ 418 h 518"/>
                <a:gd name="T32" fmla="*/ 554 w 582"/>
                <a:gd name="T33" fmla="*/ 418 h 518"/>
                <a:gd name="T34" fmla="*/ 554 w 582"/>
                <a:gd name="T35" fmla="*/ 518 h 518"/>
                <a:gd name="T36" fmla="*/ 374 w 582"/>
                <a:gd name="T37" fmla="*/ 490 h 518"/>
                <a:gd name="T38" fmla="*/ 526 w 582"/>
                <a:gd name="T39" fmla="*/ 490 h 518"/>
                <a:gd name="T40" fmla="*/ 526 w 582"/>
                <a:gd name="T41" fmla="*/ 446 h 518"/>
                <a:gd name="T42" fmla="*/ 450 w 582"/>
                <a:gd name="T43" fmla="*/ 446 h 518"/>
                <a:gd name="T44" fmla="*/ 470 w 582"/>
                <a:gd name="T45" fmla="*/ 422 h 518"/>
                <a:gd name="T46" fmla="*/ 460 w 582"/>
                <a:gd name="T47" fmla="*/ 97 h 518"/>
                <a:gd name="T48" fmla="*/ 292 w 582"/>
                <a:gd name="T49" fmla="*/ 28 h 518"/>
                <a:gd name="T50" fmla="*/ 123 w 582"/>
                <a:gd name="T51" fmla="*/ 97 h 518"/>
                <a:gd name="T52" fmla="*/ 114 w 582"/>
                <a:gd name="T53" fmla="*/ 424 h 518"/>
                <a:gd name="T54" fmla="*/ 141 w 582"/>
                <a:gd name="T55" fmla="*/ 397 h 518"/>
                <a:gd name="T56" fmla="*/ 92 w 582"/>
                <a:gd name="T57" fmla="*/ 266 h 518"/>
                <a:gd name="T58" fmla="*/ 150 w 582"/>
                <a:gd name="T59" fmla="*/ 124 h 518"/>
                <a:gd name="T60" fmla="*/ 433 w 582"/>
                <a:gd name="T61" fmla="*/ 124 h 518"/>
                <a:gd name="T62" fmla="*/ 442 w 582"/>
                <a:gd name="T63" fmla="*/ 397 h 518"/>
                <a:gd name="T64" fmla="*/ 418 w 582"/>
                <a:gd name="T65" fmla="*/ 425 h 518"/>
                <a:gd name="T66" fmla="*/ 418 w 582"/>
                <a:gd name="T67" fmla="*/ 338 h 518"/>
                <a:gd name="T68" fmla="*/ 374 w 582"/>
                <a:gd name="T69" fmla="*/ 338 h 518"/>
                <a:gd name="T70" fmla="*/ 374 w 582"/>
                <a:gd name="T71" fmla="*/ 490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82" h="518">
                  <a:moveTo>
                    <a:pt x="554" y="518"/>
                  </a:moveTo>
                  <a:cubicBezTo>
                    <a:pt x="346" y="518"/>
                    <a:pt x="346" y="518"/>
                    <a:pt x="346" y="518"/>
                  </a:cubicBezTo>
                  <a:cubicBezTo>
                    <a:pt x="346" y="310"/>
                    <a:pt x="346" y="310"/>
                    <a:pt x="346" y="310"/>
                  </a:cubicBezTo>
                  <a:cubicBezTo>
                    <a:pt x="446" y="310"/>
                    <a:pt x="446" y="310"/>
                    <a:pt x="446" y="310"/>
                  </a:cubicBezTo>
                  <a:cubicBezTo>
                    <a:pt x="446" y="341"/>
                    <a:pt x="446" y="341"/>
                    <a:pt x="446" y="341"/>
                  </a:cubicBezTo>
                  <a:cubicBezTo>
                    <a:pt x="477" y="277"/>
                    <a:pt x="466" y="197"/>
                    <a:pt x="413" y="144"/>
                  </a:cubicBezTo>
                  <a:cubicBezTo>
                    <a:pt x="346" y="77"/>
                    <a:pt x="237" y="77"/>
                    <a:pt x="170" y="144"/>
                  </a:cubicBezTo>
                  <a:cubicBezTo>
                    <a:pt x="137" y="176"/>
                    <a:pt x="120" y="220"/>
                    <a:pt x="120" y="266"/>
                  </a:cubicBezTo>
                  <a:cubicBezTo>
                    <a:pt x="120" y="312"/>
                    <a:pt x="137" y="355"/>
                    <a:pt x="170" y="387"/>
                  </a:cubicBezTo>
                  <a:cubicBezTo>
                    <a:pt x="180" y="397"/>
                    <a:pt x="180" y="397"/>
                    <a:pt x="180" y="397"/>
                  </a:cubicBezTo>
                  <a:cubicBezTo>
                    <a:pt x="113" y="464"/>
                    <a:pt x="113" y="464"/>
                    <a:pt x="113" y="464"/>
                  </a:cubicBezTo>
                  <a:cubicBezTo>
                    <a:pt x="103" y="454"/>
                    <a:pt x="103" y="454"/>
                    <a:pt x="103" y="454"/>
                  </a:cubicBezTo>
                  <a:cubicBezTo>
                    <a:pt x="0" y="350"/>
                    <a:pt x="0" y="181"/>
                    <a:pt x="103" y="78"/>
                  </a:cubicBezTo>
                  <a:cubicBezTo>
                    <a:pt x="154" y="27"/>
                    <a:pt x="220" y="0"/>
                    <a:pt x="292" y="0"/>
                  </a:cubicBezTo>
                  <a:cubicBezTo>
                    <a:pt x="363" y="0"/>
                    <a:pt x="429" y="27"/>
                    <a:pt x="480" y="78"/>
                  </a:cubicBezTo>
                  <a:cubicBezTo>
                    <a:pt x="571" y="169"/>
                    <a:pt x="582" y="314"/>
                    <a:pt x="510" y="418"/>
                  </a:cubicBezTo>
                  <a:cubicBezTo>
                    <a:pt x="554" y="418"/>
                    <a:pt x="554" y="418"/>
                    <a:pt x="554" y="418"/>
                  </a:cubicBezTo>
                  <a:lnTo>
                    <a:pt x="554" y="518"/>
                  </a:lnTo>
                  <a:close/>
                  <a:moveTo>
                    <a:pt x="374" y="490"/>
                  </a:moveTo>
                  <a:cubicBezTo>
                    <a:pt x="526" y="490"/>
                    <a:pt x="526" y="490"/>
                    <a:pt x="526" y="490"/>
                  </a:cubicBezTo>
                  <a:cubicBezTo>
                    <a:pt x="526" y="446"/>
                    <a:pt x="526" y="446"/>
                    <a:pt x="526" y="446"/>
                  </a:cubicBezTo>
                  <a:cubicBezTo>
                    <a:pt x="450" y="446"/>
                    <a:pt x="450" y="446"/>
                    <a:pt x="450" y="446"/>
                  </a:cubicBezTo>
                  <a:cubicBezTo>
                    <a:pt x="470" y="422"/>
                    <a:pt x="470" y="422"/>
                    <a:pt x="470" y="422"/>
                  </a:cubicBezTo>
                  <a:cubicBezTo>
                    <a:pt x="553" y="329"/>
                    <a:pt x="548" y="186"/>
                    <a:pt x="460" y="97"/>
                  </a:cubicBezTo>
                  <a:cubicBezTo>
                    <a:pt x="415" y="52"/>
                    <a:pt x="355" y="28"/>
                    <a:pt x="292" y="28"/>
                  </a:cubicBezTo>
                  <a:cubicBezTo>
                    <a:pt x="228" y="28"/>
                    <a:pt x="168" y="52"/>
                    <a:pt x="123" y="97"/>
                  </a:cubicBezTo>
                  <a:cubicBezTo>
                    <a:pt x="34" y="187"/>
                    <a:pt x="31" y="330"/>
                    <a:pt x="114" y="424"/>
                  </a:cubicBezTo>
                  <a:cubicBezTo>
                    <a:pt x="141" y="397"/>
                    <a:pt x="141" y="397"/>
                    <a:pt x="141" y="397"/>
                  </a:cubicBezTo>
                  <a:cubicBezTo>
                    <a:pt x="109" y="360"/>
                    <a:pt x="92" y="314"/>
                    <a:pt x="92" y="266"/>
                  </a:cubicBezTo>
                  <a:cubicBezTo>
                    <a:pt x="92" y="212"/>
                    <a:pt x="112" y="162"/>
                    <a:pt x="150" y="124"/>
                  </a:cubicBezTo>
                  <a:cubicBezTo>
                    <a:pt x="228" y="46"/>
                    <a:pt x="355" y="46"/>
                    <a:pt x="433" y="124"/>
                  </a:cubicBezTo>
                  <a:cubicBezTo>
                    <a:pt x="507" y="198"/>
                    <a:pt x="511" y="318"/>
                    <a:pt x="442" y="397"/>
                  </a:cubicBezTo>
                  <a:cubicBezTo>
                    <a:pt x="418" y="425"/>
                    <a:pt x="418" y="425"/>
                    <a:pt x="418" y="425"/>
                  </a:cubicBezTo>
                  <a:cubicBezTo>
                    <a:pt x="418" y="338"/>
                    <a:pt x="418" y="338"/>
                    <a:pt x="418" y="338"/>
                  </a:cubicBezTo>
                  <a:cubicBezTo>
                    <a:pt x="374" y="338"/>
                    <a:pt x="374" y="338"/>
                    <a:pt x="374" y="338"/>
                  </a:cubicBezTo>
                  <a:lnTo>
                    <a:pt x="374" y="49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5290" tIns="27645" rIns="55290" bIns="27645"/>
            <a:lstStyle/>
            <a:p>
              <a:pPr>
                <a:defRPr/>
              </a:pPr>
              <a:endParaRPr lang="ko-KR" altLang="en-US" sz="1088" b="1">
                <a:latin typeface="맑은 고딕" charset="-127"/>
                <a:ea typeface="굴림" charset="-127"/>
              </a:endParaRPr>
            </a:p>
          </p:txBody>
        </p:sp>
      </p:grpSp>
      <p:cxnSp>
        <p:nvCxnSpPr>
          <p:cNvPr id="45" name="직선 화살표 연결선 59"/>
          <p:cNvCxnSpPr/>
          <p:nvPr/>
        </p:nvCxnSpPr>
        <p:spPr>
          <a:xfrm flipV="1">
            <a:off x="1456902" y="5304998"/>
            <a:ext cx="3138488" cy="4763"/>
          </a:xfrm>
          <a:prstGeom prst="straightConnector1">
            <a:avLst/>
          </a:prstGeom>
          <a:ln w="22225" cap="rnd">
            <a:solidFill>
              <a:schemeClr val="bg2">
                <a:lumMod val="75000"/>
              </a:schemeClr>
            </a:solidFill>
            <a:prstDash val="solid"/>
            <a:headEnd type="triangle" w="lg" len="med"/>
            <a:tailEnd type="non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 Box 153"/>
          <p:cNvSpPr txBox="1">
            <a:spLocks noChangeArrowheads="1"/>
          </p:cNvSpPr>
          <p:nvPr/>
        </p:nvSpPr>
        <p:spPr bwMode="auto">
          <a:xfrm>
            <a:off x="1425152" y="5124023"/>
            <a:ext cx="1585913" cy="13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 smtClean="0">
                <a:solidFill>
                  <a:srgbClr val="000000"/>
                </a:solidFill>
              </a:rPr>
              <a:t>11.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 </a:t>
            </a:r>
            <a:r>
              <a:rPr lang="en-US" altLang="ko-KR" sz="900" b="1" kern="0" dirty="0" smtClean="0">
                <a:solidFill>
                  <a:srgbClr val="000000"/>
                </a:solidFill>
              </a:rPr>
              <a:t>redirection agentProc</a:t>
            </a:r>
            <a:endParaRPr lang="ko-KR" altLang="en-US" sz="900" b="1" kern="0" dirty="0" smtClean="0">
              <a:solidFill>
                <a:srgbClr val="000000"/>
              </a:solidFill>
            </a:endParaRPr>
          </a:p>
        </p:txBody>
      </p:sp>
      <p:sp>
        <p:nvSpPr>
          <p:cNvPr id="47" name="Text Box 153"/>
          <p:cNvSpPr txBox="1">
            <a:spLocks noChangeArrowheads="1"/>
          </p:cNvSpPr>
          <p:nvPr/>
        </p:nvSpPr>
        <p:spPr bwMode="auto">
          <a:xfrm>
            <a:off x="1348952" y="5736591"/>
            <a:ext cx="3398838" cy="13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 smtClean="0">
                <a:solidFill>
                  <a:srgbClr val="000000"/>
                </a:solidFill>
              </a:rPr>
              <a:t>12.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 인증 완료 페이지 호출</a:t>
            </a:r>
            <a:r>
              <a:rPr lang="en-US" altLang="ko-KR" sz="900" b="1" kern="0" dirty="0" smtClean="0">
                <a:solidFill>
                  <a:srgbClr val="000000"/>
                </a:solidFill>
              </a:rPr>
              <a:t>(</a:t>
            </a:r>
            <a:r>
              <a:rPr lang="en-US" sz="900" b="1" dirty="0"/>
              <a:t>GET /</a:t>
            </a:r>
            <a:r>
              <a:rPr lang="en-US" sz="900" b="1" dirty="0" smtClean="0"/>
              <a:t>sso/agentProc </a:t>
            </a:r>
            <a:r>
              <a:rPr lang="en-US" sz="900" b="1" dirty="0"/>
              <a:t>HTTP/1.1</a:t>
            </a:r>
            <a:r>
              <a:rPr lang="en-US" sz="900" b="1" dirty="0" smtClean="0"/>
              <a:t> </a:t>
            </a:r>
            <a:r>
              <a:rPr lang="en-US" altLang="ko-KR" sz="900" b="1" dirty="0" smtClean="0"/>
              <a:t>)</a:t>
            </a:r>
            <a:endParaRPr lang="ko-KR" altLang="en-US" sz="900" b="1" kern="0" dirty="0" smtClean="0">
              <a:solidFill>
                <a:srgbClr val="000000"/>
              </a:solidFill>
            </a:endParaRPr>
          </a:p>
        </p:txBody>
      </p:sp>
      <p:sp>
        <p:nvSpPr>
          <p:cNvPr id="48" name="직사각형 47"/>
          <p:cNvSpPr/>
          <p:nvPr/>
        </p:nvSpPr>
        <p:spPr bwMode="gray">
          <a:xfrm>
            <a:off x="663016" y="1420672"/>
            <a:ext cx="8568952" cy="50004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wrap="square" tIns="72000" bIns="72000" anchor="t" anchorCtr="0">
            <a:noAutofit/>
          </a:bodyPr>
          <a:lstStyle/>
          <a:p>
            <a:pPr marL="228600" indent="-136525" latinLnBrk="1">
              <a:spcBef>
                <a:spcPct val="20000"/>
              </a:spcBef>
              <a:spcAft>
                <a:spcPts val="0"/>
              </a:spcAft>
              <a:buSzPct val="75000"/>
              <a:buFont typeface="Arial"/>
              <a:buChar char="•"/>
              <a:defRPr lang="ko-KR" altLang="en-US"/>
            </a:pPr>
            <a:endParaRPr lang="en-US" altLang="ko-KR" sz="1200" b="1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 Box 153"/>
          <p:cNvSpPr txBox="1">
            <a:spLocks noChangeArrowheads="1"/>
          </p:cNvSpPr>
          <p:nvPr/>
        </p:nvSpPr>
        <p:spPr bwMode="auto">
          <a:xfrm>
            <a:off x="7961496" y="4939740"/>
            <a:ext cx="1236663" cy="138499"/>
          </a:xfrm>
          <a:prstGeom prst="rect">
            <a:avLst/>
          </a:prstGeom>
          <a:solidFill>
            <a:schemeClr val="bg1">
              <a:alpha val="40000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ct val="50000"/>
              </a:spcBef>
              <a:defRPr/>
            </a:pPr>
            <a:r>
              <a:rPr lang="en-US" altLang="ko-KR" sz="900" b="1" kern="0" dirty="0" smtClean="0">
                <a:solidFill>
                  <a:srgbClr val="000000"/>
                </a:solidFill>
              </a:rPr>
              <a:t>10. </a:t>
            </a:r>
            <a:r>
              <a:rPr lang="ko-KR" altLang="en-US" sz="900" b="1" kern="0" dirty="0" smtClean="0">
                <a:solidFill>
                  <a:srgbClr val="000000"/>
                </a:solidFill>
              </a:rPr>
              <a:t>사용자 정보 추출</a:t>
            </a:r>
            <a:endParaRPr lang="en-US" altLang="ko-KR" sz="900" b="1" kern="0" dirty="0" smtClean="0">
              <a:solidFill>
                <a:srgbClr val="000000"/>
              </a:solidFill>
            </a:endParaRPr>
          </a:p>
        </p:txBody>
      </p:sp>
      <p:sp>
        <p:nvSpPr>
          <p:cNvPr id="50" name="내용 개체 틀 2"/>
          <p:cNvSpPr>
            <a:spLocks noGrp="1"/>
          </p:cNvSpPr>
          <p:nvPr>
            <p:ph idx="4294967295"/>
          </p:nvPr>
        </p:nvSpPr>
        <p:spPr>
          <a:xfrm>
            <a:off x="384560" y="797867"/>
            <a:ext cx="9392975" cy="438791"/>
          </a:xfrm>
        </p:spPr>
        <p:txBody>
          <a:bodyPr>
            <a:normAutofit/>
          </a:bodyPr>
          <a:lstStyle/>
          <a:p>
            <a:r>
              <a:rPr lang="en-US" altLang="ko-KR" spc="-50" dirty="0" smtClean="0"/>
              <a:t>PC</a:t>
            </a:r>
            <a:r>
              <a:rPr lang="ko-KR" altLang="en-US" spc="-50" dirty="0" smtClean="0"/>
              <a:t>통합로그인을 통하여 생성된 인증토큰을 이용하여 업무시스템 연동</a:t>
            </a:r>
            <a:endParaRPr lang="en-US" altLang="ko-KR" dirty="0" smtClean="0"/>
          </a:p>
        </p:txBody>
      </p:sp>
      <p:sp>
        <p:nvSpPr>
          <p:cNvPr id="51" name="직사각형 242"/>
          <p:cNvSpPr/>
          <p:nvPr/>
        </p:nvSpPr>
        <p:spPr>
          <a:xfrm>
            <a:off x="7340376" y="795933"/>
            <a:ext cx="2149128" cy="50767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8494280" y="836712"/>
            <a:ext cx="94929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800" b="1" smtClean="0">
                <a:latin typeface="맑은 고딕" charset="-127"/>
                <a:ea typeface="굴림" charset="-127"/>
              </a:rPr>
              <a:t>Client to Server</a:t>
            </a:r>
            <a:endParaRPr lang="en-US" altLang="ko-KR" sz="800" b="1" dirty="0">
              <a:latin typeface="맑은 고딕" charset="-127"/>
              <a:ea typeface="굴림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508459" y="1038324"/>
            <a:ext cx="97174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800" b="1" smtClean="0">
                <a:latin typeface="맑은 고딕" charset="-127"/>
                <a:ea typeface="굴림" charset="-127"/>
              </a:rPr>
              <a:t>Server to Server</a:t>
            </a:r>
            <a:endParaRPr lang="en-US" altLang="ko-KR" sz="800" b="1" dirty="0">
              <a:latin typeface="맑은 고딕" charset="-127"/>
              <a:ea typeface="굴림" charset="-127"/>
            </a:endParaRPr>
          </a:p>
        </p:txBody>
      </p:sp>
      <p:cxnSp>
        <p:nvCxnSpPr>
          <p:cNvPr id="54" name="Straight Arrow Connector 2"/>
          <p:cNvCxnSpPr/>
          <p:nvPr/>
        </p:nvCxnSpPr>
        <p:spPr>
          <a:xfrm>
            <a:off x="7403653" y="936724"/>
            <a:ext cx="992187" cy="0"/>
          </a:xfrm>
          <a:prstGeom prst="straightConnector1">
            <a:avLst/>
          </a:prstGeom>
          <a:ln w="1905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7403653" y="1146274"/>
            <a:ext cx="992187" cy="0"/>
          </a:xfrm>
          <a:prstGeom prst="straightConnector1">
            <a:avLst/>
          </a:prstGeom>
          <a:ln w="19050">
            <a:solidFill>
              <a:schemeClr val="tx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25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26070"/>
              </p:ext>
            </p:extLst>
          </p:nvPr>
        </p:nvGraphicFramePr>
        <p:xfrm>
          <a:off x="632520" y="1628805"/>
          <a:ext cx="8712968" cy="44644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2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0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4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4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2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파일위치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7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라이브러리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${webapp-context}/WEB-INF/lib</a:t>
                      </a:r>
                      <a:endParaRPr lang="ko-KR" alt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spcBef>
                          <a:spcPct val="0"/>
                        </a:spcBef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Commons-httpclient-2.0.1.jar</a:t>
                      </a:r>
                    </a:p>
                    <a:p>
                      <a:pPr latinLnBrk="0">
                        <a:spcBef>
                          <a:spcPct val="0"/>
                        </a:spcBef>
                      </a:pPr>
                      <a:endParaRPr lang="en-US" altLang="en-US" sz="1000" b="1" smtClean="0">
                        <a:latin typeface="+mn-ea"/>
                        <a:ea typeface="+mn-ea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lv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인증서버 통신용 모듈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5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Commons-logging.jar</a:t>
                      </a:r>
                    </a:p>
                  </a:txBody>
                  <a:tcPr marL="62865" marR="62865" marT="0" marB="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lvl="0" indent="182563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3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Json-simple-1.1.1.jar 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json</a:t>
                      </a: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포맷 사용 모듈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674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적용소스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${webapp-context</a:t>
                      </a:r>
                      <a:r>
                        <a:rPr lang="en-US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}/sso/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en-US" sz="1000" b="1" dirty="0" smtClean="0">
                          <a:latin typeface="+mn-ea"/>
                          <a:ea typeface="+mn-ea"/>
                        </a:rPr>
                        <a:t>agentInfo.jsp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에이전트 설정 페이지</a:t>
                      </a: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6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${webapp-context</a:t>
                      </a:r>
                      <a:r>
                        <a:rPr lang="en-US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}/</a:t>
                      </a:r>
                      <a:r>
                        <a:rPr lang="en-US" altLang="ko-KR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sso</a:t>
                      </a:r>
                      <a:r>
                        <a:rPr lang="en-US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/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en-US" sz="1000" b="1" dirty="0" smtClean="0">
                          <a:latin typeface="+mn-ea"/>
                          <a:ea typeface="+mn-ea"/>
                        </a:rPr>
                        <a:t>business.jsp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인증 서버 통신 및 로그인 페이지 리다이렉션 처리 </a:t>
                      </a: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kumimoji="0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처음 으로 호출 되는 페이지</a:t>
                      </a: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752115"/>
                  </a:ext>
                </a:extLst>
              </a:tr>
              <a:tr h="3996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${webapp-context</a:t>
                      </a:r>
                      <a:r>
                        <a:rPr lang="en-US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}/</a:t>
                      </a:r>
                      <a:r>
                        <a:rPr lang="en-US" altLang="ko-KR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sso</a:t>
                      </a:r>
                      <a:r>
                        <a:rPr lang="en-US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/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checkauth.jsp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토큰 검증 페이지</a:t>
                      </a: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142582"/>
                  </a:ext>
                </a:extLst>
              </a:tr>
              <a:tr h="3996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${webapp-context</a:t>
                      </a:r>
                      <a:r>
                        <a:rPr lang="en-US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}/</a:t>
                      </a:r>
                      <a:r>
                        <a:rPr lang="en-US" altLang="ko-KR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sso/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en-US" sz="1000" b="1" dirty="0" smtClean="0">
                          <a:latin typeface="+mn-ea"/>
                          <a:ea typeface="+mn-ea"/>
                        </a:rPr>
                        <a:t>agentProc.jsp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SSO</a:t>
                      </a:r>
                      <a:r>
                        <a:rPr kumimoji="0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인증 처리 완료 후 리다이렉션 되는 페이지</a:t>
                      </a: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327879"/>
                  </a:ext>
                </a:extLst>
              </a:tr>
              <a:tr h="3996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${webapp-context</a:t>
                      </a:r>
                      <a:r>
                        <a:rPr lang="en-US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}/</a:t>
                      </a:r>
                      <a:r>
                        <a:rPr lang="en-US" altLang="ko-KR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sso/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logout.jsp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SSO</a:t>
                      </a:r>
                      <a:r>
                        <a:rPr kumimoji="0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로그아웃 처리 페이지</a:t>
                      </a: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kumimoji="0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모든 세션 삭제</a:t>
                      </a: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36073"/>
                  </a:ext>
                </a:extLst>
              </a:tr>
              <a:tr h="3996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${webapp-context</a:t>
                      </a:r>
                      <a:r>
                        <a:rPr lang="en-US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}/</a:t>
                      </a:r>
                      <a:r>
                        <a:rPr lang="en-US" altLang="ko-KR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sso/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error.jsp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예외 상황 발생시 호출 되는 에러 페이지</a:t>
                      </a:r>
                      <a:r>
                        <a:rPr kumimoji="0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kumimoji="0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샘플</a:t>
                      </a:r>
                      <a:r>
                        <a:rPr kumimoji="0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230445"/>
                  </a:ext>
                </a:extLst>
              </a:tr>
              <a:tr h="3996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${webapp-context}/sso/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jquery-3.1.1.min.js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자바스크립트 핸들링 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js </a:t>
                      </a:r>
                      <a:r>
                        <a:rPr lang="ko-KR" altLang="en-US" sz="10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</a:t>
                      </a: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091278"/>
                  </a:ext>
                </a:extLst>
              </a:tr>
            </a:tbl>
          </a:graphicData>
        </a:graphic>
      </p:graphicFrame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dirty="0" smtClean="0"/>
              <a:t>3.1 </a:t>
            </a:r>
            <a:r>
              <a:rPr lang="ko-KR" altLang="en-US" dirty="0" smtClean="0"/>
              <a:t>적용파일 구성</a:t>
            </a:r>
            <a:endParaRPr lang="ko-KR" altLang="en-US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84561" y="797868"/>
            <a:ext cx="9192449" cy="6149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 smtClean="0"/>
              <a:t>WEB </a:t>
            </a:r>
            <a:r>
              <a:rPr lang="ko-KR" altLang="en-US" kern="0" dirty="0" smtClean="0"/>
              <a:t>방식 </a:t>
            </a:r>
            <a:r>
              <a:rPr lang="en-US" altLang="ko-KR" kern="0" dirty="0" smtClean="0"/>
              <a:t>Agent </a:t>
            </a:r>
            <a:r>
              <a:rPr lang="ko-KR" altLang="en-US" kern="0" dirty="0" smtClean="0"/>
              <a:t>적용파일은 다음과 같이 구성됨 </a:t>
            </a:r>
            <a:endParaRPr lang="en-US" altLang="ko-KR" kern="0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486985" y="6243240"/>
            <a:ext cx="4169475" cy="2585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eaLnBrk="0" hangingPunct="0">
              <a:lnSpc>
                <a:spcPct val="90000"/>
              </a:lnSpc>
              <a:buClr>
                <a:srgbClr val="7D0900"/>
              </a:buClr>
              <a:defRPr/>
            </a:pPr>
            <a:r>
              <a:rPr lang="en-US" altLang="ko-KR" sz="1200" b="1" smtClean="0">
                <a:solidFill>
                  <a:srgbClr val="FF0000"/>
                </a:solidFill>
                <a:cs typeface="Arial" pitchFamily="34" charset="0"/>
              </a:rPr>
              <a:t>* PHP, ASP, ASP.NET</a:t>
            </a:r>
            <a:r>
              <a:rPr lang="ko-KR" altLang="en-US" sz="1200" b="1" smtClean="0">
                <a:solidFill>
                  <a:srgbClr val="FF0000"/>
                </a:solidFill>
                <a:cs typeface="Arial" pitchFamily="34" charset="0"/>
              </a:rPr>
              <a:t>의 경우도 동일파일 이름으로 지원함</a:t>
            </a:r>
            <a:endParaRPr lang="ko-KR" altLang="en-US" sz="1200" b="1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76536" y="1259473"/>
            <a:ext cx="16385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latin typeface="+mn-ea"/>
                <a:ea typeface="+mn-ea"/>
              </a:rPr>
              <a:t>e</a:t>
            </a:r>
            <a:r>
              <a:rPr lang="en-US" altLang="ko-KR" sz="1400" b="1" smtClean="0">
                <a:latin typeface="+mn-ea"/>
                <a:ea typeface="+mn-ea"/>
              </a:rPr>
              <a:t>x) JSP </a:t>
            </a:r>
            <a:r>
              <a:rPr lang="ko-KR" altLang="en-US" sz="1400" b="1" smtClean="0">
                <a:latin typeface="+mn-ea"/>
                <a:ea typeface="+mn-ea"/>
              </a:rPr>
              <a:t>적용 예시</a:t>
            </a:r>
            <a:endParaRPr lang="en-US" altLang="ko-KR" sz="1400" b="1" dirty="0">
              <a:latin typeface="+mn-ea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/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3. WEB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방식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 SSO Agent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적용 방법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01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dirty="0" smtClean="0"/>
              <a:t>3.2 Agent </a:t>
            </a:r>
            <a:r>
              <a:rPr lang="ko-KR" altLang="en-US" dirty="0" smtClean="0"/>
              <a:t>설치 및 적용 절차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384561" y="797868"/>
            <a:ext cx="9192449" cy="426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lnSpc>
                <a:spcPct val="100000"/>
              </a:lnSpc>
              <a:spcBef>
                <a:spcPts val="300"/>
              </a:spcBef>
              <a:buSzPct val="100000"/>
              <a:buFontTx/>
              <a:buChar char="□"/>
            </a:pPr>
            <a:r>
              <a:rPr lang="en-US" altLang="ko-KR" dirty="0" smtClean="0"/>
              <a:t>SA-WEB Agent </a:t>
            </a:r>
            <a:r>
              <a:rPr lang="ko-KR" altLang="en-US" dirty="0" smtClean="0"/>
              <a:t>설치  </a:t>
            </a:r>
            <a:r>
              <a:rPr lang="en-US" altLang="ko-KR" sz="1400" dirty="0" smtClean="0">
                <a:solidFill>
                  <a:srgbClr val="0000FF"/>
                </a:solidFill>
              </a:rPr>
              <a:t>(</a:t>
            </a:r>
            <a:r>
              <a:rPr lang="ko-KR" altLang="en-US" sz="1400" dirty="0" smtClean="0">
                <a:solidFill>
                  <a:srgbClr val="0000FF"/>
                </a:solidFill>
              </a:rPr>
              <a:t>세부내용 별첨</a:t>
            </a:r>
            <a:r>
              <a:rPr lang="en-US" altLang="ko-KR" sz="1400" dirty="0" smtClean="0">
                <a:solidFill>
                  <a:srgbClr val="0000FF"/>
                </a:solidFill>
              </a:rPr>
              <a:t>1 </a:t>
            </a:r>
            <a:r>
              <a:rPr lang="ko-KR" altLang="en-US" sz="1400" dirty="0" smtClean="0">
                <a:solidFill>
                  <a:srgbClr val="0000FF"/>
                </a:solidFill>
              </a:rPr>
              <a:t>참조</a:t>
            </a:r>
            <a:r>
              <a:rPr lang="en-US" altLang="ko-KR" sz="1400" dirty="0" smtClean="0">
                <a:solidFill>
                  <a:srgbClr val="0000FF"/>
                </a:solidFill>
              </a:rPr>
              <a:t>) </a:t>
            </a:r>
            <a:r>
              <a:rPr lang="en-US" altLang="ko-KR" dirty="0" smtClean="0"/>
              <a:t>      </a:t>
            </a:r>
            <a:r>
              <a:rPr lang="ko-KR" altLang="en-US" dirty="0" smtClean="0"/>
              <a:t> </a:t>
            </a:r>
            <a:endParaRPr lang="en-US" altLang="ko-KR" dirty="0" smtClean="0"/>
          </a:p>
        </p:txBody>
      </p:sp>
      <p:sp>
        <p:nvSpPr>
          <p:cNvPr id="62" name="오각형 61"/>
          <p:cNvSpPr/>
          <p:nvPr/>
        </p:nvSpPr>
        <p:spPr bwMode="auto">
          <a:xfrm>
            <a:off x="776541" y="1648223"/>
            <a:ext cx="2068782" cy="973200"/>
          </a:xfrm>
          <a:prstGeom prst="homePlate">
            <a:avLst>
              <a:gd name="adj" fmla="val 15396"/>
            </a:avLst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400" b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라이브러리 복사</a:t>
            </a:r>
            <a:endParaRPr lang="en-US" altLang="ko-KR" sz="1400" b="1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4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맑은 고딕" pitchFamily="50" charset="-127"/>
                <a:ea typeface="맑은 고딕" pitchFamily="50" charset="-127"/>
              </a:rPr>
              <a:t>(JSP</a:t>
            </a:r>
            <a:r>
              <a:rPr kumimoji="1" lang="ko-KR" altLang="en-US" sz="14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맑은 고딕" pitchFamily="50" charset="-127"/>
                <a:ea typeface="맑은 고딕" pitchFamily="50" charset="-127"/>
              </a:rPr>
              <a:t>경우만 해당</a:t>
            </a:r>
            <a:r>
              <a:rPr kumimoji="1" lang="en-US" altLang="ko-KR" sz="14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  <a:endParaRPr kumimoji="1" lang="ko-KR" altLang="en-US" sz="1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오각형 62"/>
          <p:cNvSpPr/>
          <p:nvPr/>
        </p:nvSpPr>
        <p:spPr bwMode="auto">
          <a:xfrm>
            <a:off x="2839042" y="1648223"/>
            <a:ext cx="2068782" cy="973200"/>
          </a:xfrm>
          <a:prstGeom prst="homePlate">
            <a:avLst>
              <a:gd name="adj" fmla="val 15396"/>
            </a:avLst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SSO</a:t>
            </a:r>
            <a:r>
              <a:rPr lang="ko-KR" altLang="en-US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폴더복사</a:t>
            </a:r>
            <a:endParaRPr lang="en-US" altLang="ko-KR" sz="1400" b="1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오각형 63"/>
          <p:cNvSpPr/>
          <p:nvPr/>
        </p:nvSpPr>
        <p:spPr bwMode="auto">
          <a:xfrm>
            <a:off x="4927274" y="1648223"/>
            <a:ext cx="2068782" cy="973200"/>
          </a:xfrm>
          <a:prstGeom prst="homePlate">
            <a:avLst>
              <a:gd name="adj" fmla="val 15396"/>
            </a:avLst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400" b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소스 수정</a:t>
            </a:r>
            <a:endParaRPr lang="en-US" altLang="ko-KR" sz="1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오각형 64"/>
          <p:cNvSpPr/>
          <p:nvPr/>
        </p:nvSpPr>
        <p:spPr bwMode="auto">
          <a:xfrm>
            <a:off x="7003428" y="1648223"/>
            <a:ext cx="2068782" cy="973200"/>
          </a:xfrm>
          <a:prstGeom prst="homePlate">
            <a:avLst>
              <a:gd name="adj" fmla="val 15396"/>
            </a:avLst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연동테스트</a:t>
            </a:r>
            <a:endParaRPr lang="en-US" altLang="ko-KR" sz="1400" b="1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오각형 66"/>
          <p:cNvSpPr/>
          <p:nvPr/>
        </p:nvSpPr>
        <p:spPr bwMode="auto">
          <a:xfrm>
            <a:off x="776536" y="2790445"/>
            <a:ext cx="1977237" cy="2700275"/>
          </a:xfrm>
          <a:prstGeom prst="homePlate">
            <a:avLst>
              <a:gd name="adj" fmla="val 0"/>
            </a:avLst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108000" tIns="108000" rIns="108000" bIns="10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000" b="1" kern="100" smtClean="0">
                <a:solidFill>
                  <a:srgbClr val="000000"/>
                </a:solidFill>
                <a:latin typeface="+mn-ea"/>
                <a:cs typeface="굴림"/>
              </a:rPr>
              <a:t>제공한 라이브러리를 </a:t>
            </a:r>
            <a:r>
              <a:rPr lang="en-US" altLang="ko-KR" sz="1000" b="1" kern="100" smtClean="0">
                <a:solidFill>
                  <a:srgbClr val="000000"/>
                </a:solidFill>
                <a:latin typeface="+mn-ea"/>
                <a:cs typeface="굴림"/>
              </a:rPr>
              <a:t>${</a:t>
            </a:r>
            <a:r>
              <a:rPr lang="en-US" altLang="ko-KR" sz="1000" b="1" kern="100">
                <a:solidFill>
                  <a:srgbClr val="000000"/>
                </a:solidFill>
                <a:latin typeface="+mn-ea"/>
                <a:cs typeface="굴림"/>
              </a:rPr>
              <a:t>webapp-context}/</a:t>
            </a:r>
            <a:r>
              <a:rPr lang="en-US" altLang="ko-KR" sz="1000" b="1" kern="100" smtClean="0">
                <a:solidFill>
                  <a:srgbClr val="000000"/>
                </a:solidFill>
                <a:latin typeface="+mn-ea"/>
                <a:cs typeface="굴림"/>
              </a:rPr>
              <a:t>WEB-INF/lib </a:t>
            </a:r>
            <a:r>
              <a:rPr lang="ko-KR" altLang="en-US" sz="1000" b="1" kern="100" smtClean="0">
                <a:solidFill>
                  <a:srgbClr val="000000"/>
                </a:solidFill>
                <a:latin typeface="+mn-ea"/>
                <a:cs typeface="굴림"/>
              </a:rPr>
              <a:t>하위로 복사</a:t>
            </a:r>
            <a:endParaRPr lang="en-US" altLang="ko-KR" sz="1000" b="1" kern="100">
              <a:solidFill>
                <a:srgbClr val="000000"/>
              </a:solidFill>
              <a:latin typeface="+mn-ea"/>
              <a:cs typeface="굴림"/>
            </a:endParaRPr>
          </a:p>
          <a:p>
            <a:pPr>
              <a:spcBef>
                <a:spcPts val="600"/>
              </a:spcBef>
            </a:pPr>
            <a:endParaRPr lang="en-US" altLang="ko-KR" sz="1000" b="1" kern="100" smtClean="0">
              <a:solidFill>
                <a:srgbClr val="000000"/>
              </a:solidFill>
              <a:latin typeface="+mn-ea"/>
              <a:cs typeface="굴림"/>
            </a:endParaRPr>
          </a:p>
          <a:p>
            <a:pPr>
              <a:spcBef>
                <a:spcPts val="600"/>
              </a:spcBef>
            </a:pPr>
            <a:endParaRPr lang="en-US" altLang="ko-KR" sz="1000" b="1" kern="100" smtClean="0">
              <a:solidFill>
                <a:srgbClr val="000000"/>
              </a:solidFill>
              <a:latin typeface="+mn-ea"/>
              <a:cs typeface="굴림"/>
            </a:endParaRPr>
          </a:p>
          <a:p>
            <a:pPr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latin typeface="+mn-ea"/>
              </a:rPr>
              <a:t>※ </a:t>
            </a:r>
            <a:r>
              <a:rPr lang="ko-KR" altLang="en-US" sz="1000" b="1" smtClean="0">
                <a:solidFill>
                  <a:schemeClr val="tx1"/>
                </a:solidFill>
                <a:latin typeface="+mn-ea"/>
              </a:rPr>
              <a:t>라이브러리</a:t>
            </a:r>
            <a:endParaRPr lang="en-US" altLang="ko-KR" sz="1000" b="1">
              <a:solidFill>
                <a:schemeClr val="tx1"/>
              </a:solidFill>
              <a:latin typeface="+mn-ea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en-US" sz="1000" b="1" smtClean="0">
                <a:latin typeface="+mn-ea"/>
              </a:rPr>
              <a:t>Commons-httpclient-2.0.1.jar</a:t>
            </a:r>
            <a:endParaRPr lang="en-US" altLang="en-US" sz="1000" b="1">
              <a:latin typeface="+mn-ea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en-US" sz="1000" b="1" smtClean="0">
                <a:latin typeface="+mn-ea"/>
              </a:rPr>
              <a:t>Commons-logging.jar</a:t>
            </a: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en-US" sz="1000" b="1">
                <a:latin typeface="+mn-ea"/>
              </a:rPr>
              <a:t>Json-simple-1.1.1.jar </a:t>
            </a: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endParaRPr lang="en-US" altLang="ko-KR" sz="1000" b="1" kern="100" smtClean="0">
              <a:solidFill>
                <a:srgbClr val="000000"/>
              </a:solidFill>
              <a:latin typeface="+mn-ea"/>
              <a:cs typeface="굴림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endParaRPr lang="en-US" altLang="ko-KR" sz="1000" b="1" kern="100" smtClean="0">
              <a:solidFill>
                <a:srgbClr val="000000"/>
              </a:solidFill>
              <a:latin typeface="+mn-ea"/>
              <a:cs typeface="굴림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endParaRPr lang="ko-KR" altLang="ko-KR" sz="1000" b="1" kern="100">
              <a:solidFill>
                <a:srgbClr val="000000"/>
              </a:solidFill>
              <a:latin typeface="+mn-ea"/>
              <a:cs typeface="굴림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endParaRPr lang="en-US" altLang="ko-KR" sz="1000" b="1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endParaRPr lang="en-US" altLang="ko-KR" sz="10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8" name="오각형 67"/>
          <p:cNvSpPr/>
          <p:nvPr/>
        </p:nvSpPr>
        <p:spPr bwMode="auto">
          <a:xfrm>
            <a:off x="2878712" y="2790445"/>
            <a:ext cx="1965991" cy="2700275"/>
          </a:xfrm>
          <a:prstGeom prst="homePlate">
            <a:avLst>
              <a:gd name="adj" fmla="val 0"/>
            </a:avLst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108000" tIns="108000" rIns="108000" bIns="10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제공한 </a:t>
            </a: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SSO </a:t>
            </a: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폴더를 </a:t>
            </a:r>
            <a:r>
              <a:rPr lang="en-US" altLang="ko-KR" sz="1000" b="1" kern="100" dirty="0">
                <a:solidFill>
                  <a:srgbClr val="000000"/>
                </a:solidFill>
                <a:latin typeface="+mn-ea"/>
                <a:cs typeface="굴림"/>
              </a:rPr>
              <a:t>${webapp-context}/</a:t>
            </a:r>
            <a:r>
              <a:rPr lang="ko-KR" altLang="en-US" sz="1000" b="1" kern="100" dirty="0">
                <a:solidFill>
                  <a:srgbClr val="000000"/>
                </a:solidFill>
                <a:latin typeface="+mn-ea"/>
                <a:cs typeface="굴림"/>
              </a:rPr>
              <a:t>하위로 </a:t>
            </a:r>
            <a:r>
              <a:rPr lang="ko-KR" altLang="en-US" sz="1000" b="1" kern="100" dirty="0" smtClean="0">
                <a:solidFill>
                  <a:srgbClr val="000000"/>
                </a:solidFill>
                <a:latin typeface="+mn-ea"/>
                <a:cs typeface="굴림"/>
              </a:rPr>
              <a:t>복사</a:t>
            </a:r>
            <a:endParaRPr lang="en-US" altLang="ko-KR" sz="1000" b="1" kern="100" dirty="0" smtClean="0">
              <a:solidFill>
                <a:srgbClr val="000000"/>
              </a:solidFill>
              <a:latin typeface="+mn-ea"/>
              <a:cs typeface="굴림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endParaRPr lang="en-US" altLang="ko-KR" sz="1000" b="1" kern="100" dirty="0" smtClean="0">
              <a:solidFill>
                <a:srgbClr val="000000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endParaRPr lang="en-US" altLang="ko-KR" sz="1000" b="1" kern="100" dirty="0" smtClean="0">
              <a:solidFill>
                <a:srgbClr val="000000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※ SSO </a:t>
            </a: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폴더 구성</a:t>
            </a: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en-US" altLang="en-US" sz="1000" b="1" dirty="0">
                <a:latin typeface="+mn-ea"/>
              </a:rPr>
              <a:t>・ </a:t>
            </a:r>
            <a:r>
              <a:rPr lang="en-US" altLang="ko-KR" sz="1000" b="1" dirty="0" smtClean="0">
                <a:latin typeface="+mn-ea"/>
              </a:rPr>
              <a:t>3.1 </a:t>
            </a:r>
            <a:r>
              <a:rPr lang="ko-KR" altLang="en-US" sz="1000" b="1" dirty="0">
                <a:latin typeface="+mn-ea"/>
              </a:rPr>
              <a:t>적용파일 </a:t>
            </a:r>
            <a:r>
              <a:rPr lang="ko-KR" altLang="en-US" sz="1000" b="1" dirty="0" smtClean="0">
                <a:latin typeface="+mn-ea"/>
              </a:rPr>
              <a:t>구성 참조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오각형 77"/>
          <p:cNvSpPr/>
          <p:nvPr/>
        </p:nvSpPr>
        <p:spPr bwMode="auto">
          <a:xfrm>
            <a:off x="4963208" y="2790445"/>
            <a:ext cx="1934008" cy="2700275"/>
          </a:xfrm>
          <a:prstGeom prst="homePlate">
            <a:avLst>
              <a:gd name="adj" fmla="val 0"/>
            </a:avLst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108000" tIns="108000" rIns="108000" bIns="10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Agentinfo.jsp </a:t>
            </a: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파일을 오픈하여 소스 수정 </a:t>
            </a: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             </a:t>
            </a: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※ Agentinfo.jsp </a:t>
            </a: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수정</a:t>
            </a: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en-US" sz="1000" b="1" dirty="0" smtClean="0">
                <a:latin typeface="+mn-ea"/>
              </a:rPr>
              <a:t>・</a:t>
            </a:r>
            <a:r>
              <a:rPr lang="ko-KR" altLang="en-US" sz="1000" b="1" dirty="0" smtClean="0">
                <a:latin typeface="+mn-ea"/>
              </a:rPr>
              <a:t>인증서버 주소 수정</a:t>
            </a:r>
            <a:endParaRPr lang="en-US" altLang="ko-KR" sz="1000" b="1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ko-KR" sz="1000" b="1" dirty="0" smtClean="0">
                <a:latin typeface="+mn-ea"/>
              </a:rPr>
              <a:t> Ex</a:t>
            </a:r>
            <a:r>
              <a:rPr lang="en-US" altLang="ko-KR" sz="1000" b="1" dirty="0">
                <a:latin typeface="+mn-ea"/>
              </a:rPr>
              <a:t>) </a:t>
            </a:r>
            <a:r>
              <a:rPr lang="en-US" altLang="ko-KR" sz="1000" b="1" dirty="0" smtClean="0">
                <a:latin typeface="+mn-ea"/>
              </a:rPr>
              <a:t>AUTH_URL </a:t>
            </a:r>
            <a:r>
              <a:rPr lang="en-US" altLang="ko-KR" sz="1000" b="1" dirty="0">
                <a:latin typeface="+mn-ea"/>
              </a:rPr>
              <a:t>= </a:t>
            </a:r>
            <a:r>
              <a:rPr lang="en-US" altLang="ko-KR" sz="1000" b="1" dirty="0" smtClean="0">
                <a:latin typeface="+mn-ea"/>
              </a:rPr>
              <a:t>“</a:t>
            </a:r>
            <a:r>
              <a:rPr lang="ko-KR" altLang="en-US" sz="1000" b="1" dirty="0" smtClean="0">
                <a:latin typeface="+mn-ea"/>
              </a:rPr>
              <a:t>서버주소</a:t>
            </a:r>
            <a:r>
              <a:rPr lang="en-US" altLang="ko-KR" sz="1000" b="1" dirty="0" smtClean="0">
                <a:latin typeface="+mn-ea"/>
              </a:rPr>
              <a:t>”;</a:t>
            </a:r>
            <a:endParaRPr lang="en-US" altLang="ko-KR" sz="1000" b="1" dirty="0">
              <a:latin typeface="+mn-ea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en-US" sz="1000" b="1" dirty="0" smtClean="0">
                <a:latin typeface="+mn-ea"/>
              </a:rPr>
              <a:t>・</a:t>
            </a:r>
            <a:r>
              <a:rPr lang="en-US" altLang="ko-KR" sz="1000" b="1" dirty="0" smtClean="0">
                <a:latin typeface="+mn-ea"/>
              </a:rPr>
              <a:t>agent </a:t>
            </a:r>
            <a:r>
              <a:rPr lang="ko-KR" altLang="en-US" sz="1000" b="1" dirty="0" smtClean="0">
                <a:latin typeface="+mn-ea"/>
              </a:rPr>
              <a:t>아이디</a:t>
            </a:r>
            <a:r>
              <a:rPr lang="en-US" altLang="ko-KR" sz="1000" b="1" dirty="0" smtClean="0">
                <a:latin typeface="+mn-ea"/>
              </a:rPr>
              <a:t> </a:t>
            </a:r>
            <a:r>
              <a:rPr lang="ko-KR" altLang="en-US" sz="1000" b="1" dirty="0" smtClean="0">
                <a:latin typeface="+mn-ea"/>
              </a:rPr>
              <a:t>수정</a:t>
            </a:r>
            <a:endParaRPr lang="en-US" altLang="ko-KR" sz="1000" b="1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ko-KR" sz="1000" b="1" dirty="0" smtClean="0">
                <a:latin typeface="+mn-ea"/>
              </a:rPr>
              <a:t> Ex) agentId = ‘1’;</a:t>
            </a:r>
            <a:endParaRPr lang="en-US" altLang="ko-KR" sz="1000" b="1" dirty="0">
              <a:latin typeface="+mn-ea"/>
            </a:endParaRPr>
          </a:p>
          <a:p>
            <a:pPr marL="342900" indent="-342900">
              <a:lnSpc>
                <a:spcPct val="150000"/>
              </a:lnSpc>
            </a:pPr>
            <a:endParaRPr lang="en-US" altLang="ko-KR" sz="1000" b="1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</a:pP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</a:pP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오각형 78"/>
          <p:cNvSpPr/>
          <p:nvPr/>
        </p:nvSpPr>
        <p:spPr bwMode="auto">
          <a:xfrm>
            <a:off x="7015639" y="2790445"/>
            <a:ext cx="1959627" cy="2700275"/>
          </a:xfrm>
          <a:prstGeom prst="homePlate">
            <a:avLst>
              <a:gd name="adj" fmla="val 0"/>
            </a:avLst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108000" tIns="108000" rIns="108000" bIns="10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000" b="1" dirty="0" smtClean="0">
                <a:latin typeface="+mn-ea"/>
              </a:rPr>
              <a:t>브라우저</a:t>
            </a:r>
            <a:r>
              <a:rPr lang="en-US" altLang="ko-KR" sz="1000" b="1" dirty="0" smtClean="0">
                <a:latin typeface="+mn-ea"/>
              </a:rPr>
              <a:t>(</a:t>
            </a:r>
            <a:r>
              <a:rPr lang="ko-KR" altLang="en-US" sz="1000" b="1" dirty="0" smtClean="0">
                <a:latin typeface="+mn-ea"/>
              </a:rPr>
              <a:t>크롬</a:t>
            </a:r>
            <a:r>
              <a:rPr lang="en-US" altLang="ko-KR" sz="1000" b="1" dirty="0" smtClean="0">
                <a:latin typeface="+mn-ea"/>
              </a:rPr>
              <a:t>)</a:t>
            </a:r>
            <a:r>
              <a:rPr lang="ko-KR" altLang="en-US" sz="1000" b="1" dirty="0" smtClean="0">
                <a:latin typeface="+mn-ea"/>
              </a:rPr>
              <a:t>에서 </a:t>
            </a:r>
            <a:r>
              <a:rPr lang="ko-KR" altLang="en-US" sz="1000" b="1" dirty="0">
                <a:latin typeface="+mn-ea"/>
              </a:rPr>
              <a:t>업무서버의</a:t>
            </a:r>
            <a:r>
              <a:rPr lang="en-US" altLang="en-US" sz="1000" b="1" dirty="0">
                <a:latin typeface="+mn-ea"/>
              </a:rPr>
              <a:t> business.jsp </a:t>
            </a:r>
            <a:r>
              <a:rPr lang="ko-KR" altLang="en-US" sz="1000" b="1" dirty="0">
                <a:latin typeface="+mn-ea"/>
              </a:rPr>
              <a:t>를 </a:t>
            </a:r>
            <a:r>
              <a:rPr lang="ko-KR" altLang="en-US" sz="1000" b="1" dirty="0" smtClean="0">
                <a:latin typeface="+mn-ea"/>
              </a:rPr>
              <a:t>호출 </a:t>
            </a:r>
            <a:endParaRPr lang="en-US" altLang="ko-KR" sz="1000" b="1" dirty="0" smtClean="0">
              <a:latin typeface="+mn-ea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000" b="1" dirty="0" smtClean="0">
                <a:latin typeface="+mn-ea"/>
              </a:rPr>
              <a:t>결과화면</a:t>
            </a:r>
            <a:r>
              <a:rPr lang="en-US" altLang="ko-KR" sz="1000" b="1" dirty="0" smtClean="0">
                <a:latin typeface="+mn-ea"/>
              </a:rPr>
              <a:t>(</a:t>
            </a:r>
            <a:r>
              <a:rPr kumimoji="0" lang="en-US" altLang="ko-KR" sz="1000" b="1" dirty="0" smtClean="0">
                <a:latin typeface="+mn-ea"/>
                <a:cs typeface="맑은 고딕" panose="020B0503020000020004" pitchFamily="50" charset="-127"/>
              </a:rPr>
              <a:t>agentProc.jsp</a:t>
            </a:r>
            <a:r>
              <a:rPr lang="en-US" altLang="ko-KR" sz="1000" b="1" dirty="0" smtClean="0">
                <a:latin typeface="+mn-ea"/>
              </a:rPr>
              <a:t>)</a:t>
            </a:r>
            <a:r>
              <a:rPr lang="ko-KR" altLang="en-US" sz="1000" b="1" dirty="0" smtClean="0">
                <a:latin typeface="+mn-ea"/>
              </a:rPr>
              <a:t>에서 </a:t>
            </a:r>
            <a:r>
              <a:rPr lang="en-US" altLang="ko-KR" sz="1000" b="1" dirty="0" smtClean="0">
                <a:latin typeface="+mn-ea"/>
              </a:rPr>
              <a:t>SSO</a:t>
            </a:r>
            <a:r>
              <a:rPr lang="ko-KR" altLang="en-US" sz="1000" b="1" dirty="0" smtClean="0">
                <a:latin typeface="+mn-ea"/>
              </a:rPr>
              <a:t>연동 사용자 정보 확인  </a:t>
            </a: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※ </a:t>
            </a: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결과화면</a:t>
            </a: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000" b="1" dirty="0">
              <a:latin typeface="+mn-ea"/>
            </a:endParaRPr>
          </a:p>
          <a:p>
            <a:pPr>
              <a:spcBef>
                <a:spcPts val="600"/>
              </a:spcBef>
            </a:pPr>
            <a:endParaRPr lang="en-US" altLang="ko-KR" sz="10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248" y="4270722"/>
            <a:ext cx="1390231" cy="1093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직사각형 16"/>
          <p:cNvSpPr/>
          <p:nvPr/>
        </p:nvSpPr>
        <p:spPr>
          <a:xfrm>
            <a:off x="776536" y="1268760"/>
            <a:ext cx="16385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latin typeface="+mn-ea"/>
                <a:ea typeface="+mn-ea"/>
              </a:rPr>
              <a:t>e</a:t>
            </a:r>
            <a:r>
              <a:rPr lang="en-US" altLang="ko-KR" sz="1400" b="1" smtClean="0">
                <a:latin typeface="+mn-ea"/>
                <a:ea typeface="+mn-ea"/>
              </a:rPr>
              <a:t>x) JSP </a:t>
            </a:r>
            <a:r>
              <a:rPr lang="ko-KR" altLang="en-US" sz="1400" b="1" smtClean="0">
                <a:latin typeface="+mn-ea"/>
                <a:ea typeface="+mn-ea"/>
              </a:rPr>
              <a:t>적용 예시</a:t>
            </a:r>
            <a:endParaRPr lang="en-US" altLang="ko-KR" sz="1400" b="1" dirty="0">
              <a:latin typeface="+mn-ea"/>
              <a:ea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71365" y="5757316"/>
            <a:ext cx="3345531" cy="2585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eaLnBrk="0" hangingPunct="0">
              <a:lnSpc>
                <a:spcPct val="90000"/>
              </a:lnSpc>
              <a:buClr>
                <a:srgbClr val="7D0900"/>
              </a:buClr>
              <a:defRPr/>
            </a:pPr>
            <a:r>
              <a:rPr lang="en-US" altLang="ko-KR" sz="1200" b="1" smtClean="0">
                <a:solidFill>
                  <a:srgbClr val="FF0000"/>
                </a:solidFill>
                <a:cs typeface="Arial" pitchFamily="34" charset="0"/>
              </a:rPr>
              <a:t>* PHP, ASP, ASP.NET</a:t>
            </a:r>
            <a:r>
              <a:rPr lang="ko-KR" altLang="en-US" sz="1200" b="1" smtClean="0">
                <a:solidFill>
                  <a:srgbClr val="FF0000"/>
                </a:solidFill>
                <a:cs typeface="Arial" pitchFamily="34" charset="0"/>
              </a:rPr>
              <a:t>의 경우도 동일하게 적용</a:t>
            </a:r>
            <a:endParaRPr lang="ko-KR" altLang="en-US" sz="1200" b="1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/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3. WEB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방식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 SSO Agent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적용 방법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39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dirty="0" smtClean="0"/>
              <a:t>3.3 </a:t>
            </a:r>
            <a:r>
              <a:rPr lang="ko-KR" altLang="en-US" dirty="0" smtClean="0"/>
              <a:t>소스 수정</a:t>
            </a:r>
            <a:endParaRPr lang="ko-KR" altLang="en-US" dirty="0"/>
          </a:p>
        </p:txBody>
      </p:sp>
      <p:sp>
        <p:nvSpPr>
          <p:cNvPr id="56" name="내용 개체 틀 2"/>
          <p:cNvSpPr txBox="1">
            <a:spLocks/>
          </p:cNvSpPr>
          <p:nvPr/>
        </p:nvSpPr>
        <p:spPr>
          <a:xfrm>
            <a:off x="384561" y="780450"/>
            <a:ext cx="9192449" cy="318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lnSpc>
                <a:spcPct val="100000"/>
              </a:lnSpc>
              <a:spcBef>
                <a:spcPts val="300"/>
              </a:spcBef>
              <a:buSzPct val="100000"/>
              <a:buFontTx/>
              <a:buChar char="□"/>
            </a:pPr>
            <a:r>
              <a:rPr lang="ko-KR" altLang="en-US" dirty="0" smtClean="0"/>
              <a:t>소스 수정 항목 </a:t>
            </a:r>
            <a:r>
              <a:rPr lang="en-US" altLang="ko-KR" dirty="0" smtClean="0"/>
              <a:t>(Sample)</a:t>
            </a:r>
            <a:r>
              <a:rPr lang="ko-KR" altLang="en-US" dirty="0" smtClean="0"/>
              <a:t> </a:t>
            </a:r>
            <a:r>
              <a:rPr lang="en-US" altLang="ko-KR" sz="1400" dirty="0" smtClean="0"/>
              <a:t> 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/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3. WEB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방식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 SSO Agent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적용 방법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16496" y="1196752"/>
            <a:ext cx="9160514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7" name="내용 개체 틀 2"/>
          <p:cNvSpPr txBox="1">
            <a:spLocks/>
          </p:cNvSpPr>
          <p:nvPr/>
        </p:nvSpPr>
        <p:spPr>
          <a:xfrm>
            <a:off x="448916" y="1181343"/>
            <a:ext cx="4136391" cy="1106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lnSpc>
                <a:spcPct val="100000"/>
              </a:lnSpc>
              <a:spcBef>
                <a:spcPts val="300"/>
              </a:spcBef>
              <a:buSzPct val="100000"/>
              <a:buFontTx/>
              <a:buChar char="□"/>
            </a:pPr>
            <a:r>
              <a:rPr lang="en-US" altLang="ko-KR" sz="1000" dirty="0" smtClean="0"/>
              <a:t>agentInfo </a:t>
            </a:r>
            <a:r>
              <a:rPr lang="ko-KR" altLang="en-US" sz="1000" dirty="0" smtClean="0"/>
              <a:t>수정</a:t>
            </a:r>
            <a:endParaRPr lang="en-US" altLang="ko-KR" sz="1000" dirty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900" dirty="0"/>
              <a:t>  </a:t>
            </a:r>
            <a:r>
              <a:rPr lang="en-US" altLang="ko-KR" sz="900" dirty="0" smtClean="0"/>
              <a:t>1. </a:t>
            </a:r>
            <a:r>
              <a:rPr lang="ko-KR" altLang="en-US" sz="900" dirty="0"/>
              <a:t>모든 구성 파일에 </a:t>
            </a:r>
            <a:r>
              <a:rPr lang="en-US" altLang="ko-KR" sz="900" dirty="0"/>
              <a:t>Include</a:t>
            </a:r>
            <a:r>
              <a:rPr lang="ko-KR" altLang="en-US" sz="900" dirty="0"/>
              <a:t>되는 설정 파일임</a:t>
            </a:r>
            <a:endParaRPr lang="en-US" altLang="ko-KR" sz="9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900" dirty="0" smtClean="0"/>
              <a:t>  2. </a:t>
            </a:r>
            <a:r>
              <a:rPr lang="ko-KR" altLang="en-US" sz="900" dirty="0"/>
              <a:t>서버주소설정</a:t>
            </a:r>
            <a:r>
              <a:rPr lang="en-US" altLang="ko-KR" sz="900" dirty="0"/>
              <a:t>, </a:t>
            </a:r>
            <a:r>
              <a:rPr lang="ko-KR" altLang="en-US" sz="900" dirty="0"/>
              <a:t>업무 고유번호 설정</a:t>
            </a:r>
            <a:r>
              <a:rPr lang="en-US" altLang="ko-KR" sz="900" dirty="0"/>
              <a:t>, </a:t>
            </a:r>
            <a:r>
              <a:rPr lang="ko-KR" altLang="en-US" sz="900" dirty="0"/>
              <a:t>토큰정보를 </a:t>
            </a:r>
            <a:r>
              <a:rPr lang="ko-KR" altLang="en-US" sz="900" dirty="0" smtClean="0"/>
              <a:t>획득 설정을 수행</a:t>
            </a:r>
            <a:endParaRPr lang="en-US" altLang="ko-KR" sz="9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900" dirty="0"/>
              <a:t> </a:t>
            </a:r>
            <a:r>
              <a:rPr lang="en-US" altLang="ko-KR" sz="900" dirty="0" smtClean="0"/>
              <a:t>     - AUTH_SSL_URL </a:t>
            </a:r>
            <a:r>
              <a:rPr lang="en-US" altLang="ko-KR" sz="900" dirty="0"/>
              <a:t>: ISign+ </a:t>
            </a:r>
            <a:r>
              <a:rPr lang="ko-KR" altLang="en-US" sz="900" dirty="0"/>
              <a:t>인증 서버 주소 </a:t>
            </a:r>
            <a:r>
              <a:rPr lang="en-US" altLang="ko-KR" sz="900" dirty="0" smtClean="0"/>
              <a:t>(SSL)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900" dirty="0"/>
              <a:t> </a:t>
            </a:r>
            <a:r>
              <a:rPr lang="en-US" altLang="ko-KR" sz="900" dirty="0" smtClean="0"/>
              <a:t>     - agentId : </a:t>
            </a:r>
            <a:r>
              <a:rPr lang="ko-KR" altLang="en-US" sz="900" dirty="0" smtClean="0"/>
              <a:t>관리자가 부여한 업무 고유 번호</a:t>
            </a:r>
            <a:r>
              <a:rPr lang="en-US" altLang="ko-KR" sz="900" dirty="0" smtClean="0"/>
              <a:t>(Agent ID)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900" dirty="0"/>
              <a:t> </a:t>
            </a:r>
            <a:r>
              <a:rPr lang="en-US" altLang="ko-KR" sz="900" dirty="0" smtClean="0"/>
              <a:t>     - requestData : </a:t>
            </a:r>
            <a:r>
              <a:rPr lang="ko-KR" altLang="en-US" sz="900" dirty="0" smtClean="0"/>
              <a:t>사용자정보 요청 항목</a:t>
            </a:r>
            <a:r>
              <a:rPr lang="en-US" altLang="ko-KR" sz="900" dirty="0" smtClean="0"/>
              <a:t> </a:t>
            </a:r>
          </a:p>
        </p:txBody>
      </p:sp>
      <p:cxnSp>
        <p:nvCxnSpPr>
          <p:cNvPr id="48" name="직선 연결선 47"/>
          <p:cNvCxnSpPr>
            <a:endCxn id="42" idx="2"/>
          </p:cNvCxnSpPr>
          <p:nvPr/>
        </p:nvCxnSpPr>
        <p:spPr>
          <a:xfrm>
            <a:off x="4996753" y="3861048"/>
            <a:ext cx="0" cy="2592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140815"/>
              </p:ext>
            </p:extLst>
          </p:nvPr>
        </p:nvGraphicFramePr>
        <p:xfrm>
          <a:off x="5185187" y="2724033"/>
          <a:ext cx="4297569" cy="1737136"/>
        </p:xfrm>
        <a:graphic>
          <a:graphicData uri="http://schemas.openxmlformats.org/drawingml/2006/table">
            <a:tbl>
              <a:tblPr/>
              <a:tblGrid>
                <a:gridCol w="1420181">
                  <a:extLst>
                    <a:ext uri="{9D8B030D-6E8A-4147-A177-3AD203B41FA5}">
                      <a16:colId xmlns:a16="http://schemas.microsoft.com/office/drawing/2014/main" val="335761933"/>
                    </a:ext>
                  </a:extLst>
                </a:gridCol>
                <a:gridCol w="1193476">
                  <a:extLst>
                    <a:ext uri="{9D8B030D-6E8A-4147-A177-3AD203B41FA5}">
                      <a16:colId xmlns:a16="http://schemas.microsoft.com/office/drawing/2014/main" val="3286410058"/>
                    </a:ext>
                  </a:extLst>
                </a:gridCol>
                <a:gridCol w="1683912">
                  <a:extLst>
                    <a:ext uri="{9D8B030D-6E8A-4147-A177-3AD203B41FA5}">
                      <a16:colId xmlns:a16="http://schemas.microsoft.com/office/drawing/2014/main" val="3429134717"/>
                    </a:ext>
                  </a:extLst>
                </a:gridCol>
              </a:tblGrid>
              <a:tr h="193459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키값</a:t>
                      </a: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45720" marR="457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45720" marR="457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비고</a:t>
                      </a: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45720" marR="457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915649"/>
                  </a:ext>
                </a:extLst>
              </a:tr>
              <a:tr h="193459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9734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사용자 아이디</a:t>
                      </a: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ex) o1702912</a:t>
                      </a: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00029"/>
                  </a:ext>
                </a:extLst>
              </a:tr>
              <a:tr h="1934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nameKor</a:t>
                      </a: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97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사용자 이름</a:t>
                      </a:r>
                      <a:endParaRPr kumimoji="0" lang="en-US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ex) </a:t>
                      </a: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홍길동</a:t>
                      </a: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809623"/>
                  </a:ext>
                </a:extLst>
              </a:tr>
              <a:tr h="414588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authType</a:t>
                      </a: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9734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로그인한 인증타입</a:t>
                      </a: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ex) idpw: </a:t>
                      </a: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  <a:r>
                        <a:rPr kumimoji="0" lang="en-US" altLang="ko-KR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인증</a:t>
                      </a: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otp: OTP</a:t>
                      </a: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</a:t>
                      </a: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fido: FIDO</a:t>
                      </a: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</a:t>
                      </a: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pki: pki</a:t>
                      </a: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</a:t>
                      </a: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07951"/>
                  </a:ext>
                </a:extLst>
              </a:tr>
              <a:tr h="197533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lastLoginDate</a:t>
                      </a: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9734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마지막 로그인한 날짜</a:t>
                      </a: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smtClean="0">
                          <a:solidFill>
                            <a:schemeClr val="accent4"/>
                          </a:solidFill>
                          <a:latin typeface="+mn-lt"/>
                          <a:ea typeface="굴림" charset="-127"/>
                        </a:rPr>
                        <a:t>ex) 2017-12-16 04:40:52</a:t>
                      </a: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092463"/>
                  </a:ext>
                </a:extLst>
              </a:tr>
              <a:tr h="1934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USR_ATH_CD</a:t>
                      </a: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97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사용자 권한코드</a:t>
                      </a: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ex) 1:</a:t>
                      </a: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부점관리자 </a:t>
                      </a:r>
                      <a:r>
                        <a:rPr kumimoji="0" lang="en-US" altLang="ko-KR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2:</a:t>
                      </a: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일반사용자</a:t>
                      </a:r>
                      <a:endParaRPr kumimoji="0" lang="en-US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126200"/>
                  </a:ext>
                </a:extLst>
              </a:tr>
              <a:tr h="1934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EMPLOYMENT_STATUS</a:t>
                      </a: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97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사원상태</a:t>
                      </a: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ex) 1: </a:t>
                      </a: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재직</a:t>
                      </a:r>
                      <a:r>
                        <a:rPr kumimoji="0" lang="en-US" altLang="ko-KR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2: </a:t>
                      </a: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휴직</a:t>
                      </a:r>
                      <a:r>
                        <a:rPr kumimoji="0" lang="en-US" altLang="ko-KR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3: </a:t>
                      </a: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퇴직</a:t>
                      </a:r>
                      <a:endParaRPr kumimoji="0" lang="en-US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400857"/>
                  </a:ext>
                </a:extLst>
              </a:tr>
            </a:tbl>
          </a:graphicData>
        </a:graphic>
      </p:graphicFrame>
      <p:sp>
        <p:nvSpPr>
          <p:cNvPr id="50" name="직사각형 49"/>
          <p:cNvSpPr/>
          <p:nvPr/>
        </p:nvSpPr>
        <p:spPr>
          <a:xfrm>
            <a:off x="5150265" y="2492896"/>
            <a:ext cx="157607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 smtClean="0">
                <a:latin typeface="+mn-ea"/>
                <a:ea typeface="+mn-ea"/>
              </a:rPr>
              <a:t>* </a:t>
            </a:r>
            <a:r>
              <a:rPr lang="ko-KR" altLang="en-US" sz="1000" b="1" dirty="0" smtClean="0">
                <a:latin typeface="+mn-ea"/>
                <a:ea typeface="+mn-ea"/>
              </a:rPr>
              <a:t>사용자정보 요청 항목</a:t>
            </a:r>
            <a:endParaRPr lang="en-US" altLang="ko-KR" sz="1000" b="1" dirty="0">
              <a:latin typeface="+mn-ea"/>
              <a:ea typeface="+mn-ea"/>
            </a:endParaRPr>
          </a:p>
        </p:txBody>
      </p:sp>
      <p:cxnSp>
        <p:nvCxnSpPr>
          <p:cNvPr id="51" name="직선 연결선 50"/>
          <p:cNvCxnSpPr/>
          <p:nvPr/>
        </p:nvCxnSpPr>
        <p:spPr>
          <a:xfrm>
            <a:off x="416496" y="3861048"/>
            <a:ext cx="45802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내용 개체 틀 2"/>
          <p:cNvSpPr txBox="1">
            <a:spLocks/>
          </p:cNvSpPr>
          <p:nvPr/>
        </p:nvSpPr>
        <p:spPr>
          <a:xfrm>
            <a:off x="446835" y="3838559"/>
            <a:ext cx="4023426" cy="906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lnSpc>
                <a:spcPct val="100000"/>
              </a:lnSpc>
              <a:spcBef>
                <a:spcPts val="300"/>
              </a:spcBef>
              <a:buSzPct val="100000"/>
              <a:buFontTx/>
              <a:buChar char="□"/>
            </a:pPr>
            <a:r>
              <a:rPr lang="en-US" altLang="ko-KR" sz="1000" dirty="0" smtClean="0"/>
              <a:t>checkauth </a:t>
            </a:r>
            <a:r>
              <a:rPr lang="ko-KR" altLang="en-US" sz="1000" dirty="0" smtClean="0"/>
              <a:t>파일 확인</a:t>
            </a:r>
            <a:endParaRPr lang="en-US" altLang="ko-KR" sz="1000" dirty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000" dirty="0"/>
              <a:t>     </a:t>
            </a:r>
            <a:r>
              <a:rPr lang="en-US" altLang="ko-KR" sz="1000" dirty="0" smtClean="0"/>
              <a:t>1. </a:t>
            </a:r>
            <a:r>
              <a:rPr lang="ko-KR" altLang="en-US" sz="1000" dirty="0" smtClean="0"/>
              <a:t>인증토큰 검증 및 사용자 정보를 획득 </a:t>
            </a:r>
            <a:endParaRPr lang="en-US" altLang="ko-KR" sz="10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000" dirty="0" smtClean="0"/>
              <a:t>     2. </a:t>
            </a:r>
            <a:r>
              <a:rPr lang="ko-KR" altLang="en-US" sz="1000" dirty="0" smtClean="0"/>
              <a:t>획득한 사용자 정보를 업무 세션에 설정함</a:t>
            </a:r>
            <a:endParaRPr lang="en-US" altLang="ko-KR" sz="10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000" dirty="0"/>
              <a:t> </a:t>
            </a:r>
            <a:r>
              <a:rPr lang="en-US" altLang="ko-KR" sz="1000" dirty="0" smtClean="0"/>
              <a:t>    3. </a:t>
            </a:r>
            <a:r>
              <a:rPr lang="ko-KR" altLang="en-US" sz="1000" dirty="0" smtClean="0"/>
              <a:t>모든처리를 완료하면 </a:t>
            </a:r>
            <a:r>
              <a:rPr kumimoji="0" lang="en-US" altLang="ko-KR" sz="1000" dirty="0" smtClean="0">
                <a:cs typeface="맑은 고딕" panose="020B0503020000020004" pitchFamily="50" charset="-127"/>
              </a:rPr>
              <a:t>agentProc</a:t>
            </a:r>
            <a:r>
              <a:rPr kumimoji="0" lang="ko-KR" altLang="en-US" sz="1000" dirty="0">
                <a:cs typeface="맑은 고딕" panose="020B0503020000020004" pitchFamily="50" charset="-127"/>
              </a:rPr>
              <a:t>로 </a:t>
            </a:r>
            <a:r>
              <a:rPr kumimoji="0" lang="ko-KR" altLang="en-US" sz="1000" dirty="0" smtClean="0">
                <a:cs typeface="맑은 고딕" panose="020B0503020000020004" pitchFamily="50" charset="-127"/>
              </a:rPr>
              <a:t>리다이렉션을 수행</a:t>
            </a:r>
            <a:endParaRPr lang="en-US" altLang="ko-KR" sz="1000" dirty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endParaRPr lang="en-US" altLang="ko-KR" sz="1000" dirty="0" smtClean="0"/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32" y="4726985"/>
            <a:ext cx="3635951" cy="589684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25" y="5717069"/>
            <a:ext cx="3275910" cy="72374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91902" y="5415201"/>
            <a:ext cx="10337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latin typeface="+mn-ea"/>
                <a:ea typeface="+mn-ea"/>
              </a:rPr>
              <a:t>…(</a:t>
            </a:r>
            <a:r>
              <a:rPr lang="ko-KR" altLang="en-US" sz="1000" smtClean="0">
                <a:latin typeface="+mn-ea"/>
                <a:ea typeface="+mn-ea"/>
              </a:rPr>
              <a:t>중략</a:t>
            </a:r>
            <a:r>
              <a:rPr lang="en-US" altLang="ko-KR" sz="1000" smtClean="0">
                <a:latin typeface="+mn-ea"/>
                <a:ea typeface="+mn-ea"/>
              </a:rPr>
              <a:t>)…</a:t>
            </a:r>
            <a:endParaRPr lang="ko-KR" altLang="en-US" sz="1000">
              <a:latin typeface="+mn-ea"/>
              <a:ea typeface="+mn-ea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565125" y="5018750"/>
            <a:ext cx="3684358" cy="266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664297" y="5366702"/>
            <a:ext cx="2088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>
                <a:solidFill>
                  <a:srgbClr val="FF0000"/>
                </a:solidFill>
                <a:latin typeface="+mn-ea"/>
                <a:ea typeface="+mn-ea"/>
              </a:rPr>
              <a:t>획득한 사용자 정보를 세션설정</a:t>
            </a:r>
            <a:endParaRPr lang="ko-KR" altLang="en-US" sz="100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64" name="꺾인 연결선 63"/>
          <p:cNvCxnSpPr>
            <a:stCxn id="60" idx="2"/>
          </p:cNvCxnSpPr>
          <p:nvPr/>
        </p:nvCxnSpPr>
        <p:spPr>
          <a:xfrm rot="16200000" flipH="1">
            <a:off x="2439881" y="5252871"/>
            <a:ext cx="191838" cy="25699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/>
          <p:cNvSpPr/>
          <p:nvPr/>
        </p:nvSpPr>
        <p:spPr>
          <a:xfrm>
            <a:off x="565124" y="5803236"/>
            <a:ext cx="3684359" cy="292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075977" y="6189641"/>
            <a:ext cx="15066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</a:rPr>
              <a:t>리다이렉션 처리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68" name="꺾인 연결선 67"/>
          <p:cNvCxnSpPr>
            <a:stCxn id="66" idx="2"/>
            <a:endCxn id="67" idx="1"/>
          </p:cNvCxnSpPr>
          <p:nvPr/>
        </p:nvCxnSpPr>
        <p:spPr>
          <a:xfrm rot="16200000" flipH="1">
            <a:off x="2633238" y="5870013"/>
            <a:ext cx="216804" cy="66867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내용 개체 틀 2"/>
          <p:cNvSpPr txBox="1">
            <a:spLocks/>
          </p:cNvSpPr>
          <p:nvPr/>
        </p:nvSpPr>
        <p:spPr>
          <a:xfrm>
            <a:off x="5097016" y="4653136"/>
            <a:ext cx="4023426" cy="4782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lnSpc>
                <a:spcPct val="100000"/>
              </a:lnSpc>
              <a:spcBef>
                <a:spcPts val="300"/>
              </a:spcBef>
              <a:buSzPct val="100000"/>
              <a:buFontTx/>
              <a:buChar char="□"/>
            </a:pPr>
            <a:r>
              <a:rPr lang="en-US" altLang="ko-KR" sz="1000" dirty="0" smtClean="0"/>
              <a:t>agentProc </a:t>
            </a:r>
            <a:r>
              <a:rPr lang="ko-KR" altLang="en-US" sz="1000" dirty="0" smtClean="0"/>
              <a:t>파일 확인</a:t>
            </a:r>
            <a:endParaRPr lang="en-US" altLang="ko-KR" sz="1000" dirty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000" dirty="0"/>
              <a:t>     </a:t>
            </a:r>
            <a:r>
              <a:rPr lang="en-US" altLang="ko-KR" sz="1000" dirty="0" smtClean="0"/>
              <a:t>1. </a:t>
            </a:r>
            <a:r>
              <a:rPr lang="ko-KR" altLang="en-US" sz="1000" dirty="0" smtClean="0"/>
              <a:t>세션설정된 사용자 정보를 획득 </a:t>
            </a:r>
            <a:endParaRPr lang="en-US" altLang="ko-KR" sz="10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000" dirty="0" smtClean="0"/>
              <a:t>     </a:t>
            </a:r>
          </a:p>
        </p:txBody>
      </p:sp>
      <p:sp>
        <p:nvSpPr>
          <p:cNvPr id="70" name="내용 개체 틀 2"/>
          <p:cNvSpPr txBox="1">
            <a:spLocks/>
          </p:cNvSpPr>
          <p:nvPr/>
        </p:nvSpPr>
        <p:spPr>
          <a:xfrm>
            <a:off x="5098086" y="5151115"/>
            <a:ext cx="4413904" cy="10871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1113" lvl="0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900" dirty="0" smtClean="0"/>
              <a:t>* </a:t>
            </a:r>
            <a:r>
              <a:rPr lang="ko-KR" altLang="en-US" sz="900" dirty="0" smtClean="0"/>
              <a:t>사용자 아이디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마지막 로그인 시간 획득 예</a:t>
            </a:r>
            <a:endParaRPr lang="en-US" altLang="ko-KR" sz="900" dirty="0" smtClean="0"/>
          </a:p>
          <a:p>
            <a:pPr marL="11113" lvl="0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endParaRPr lang="en-US" altLang="ko-KR" sz="9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900" dirty="0" smtClean="0"/>
              <a:t>String resultData = session.getAttribute(“resultData”) // </a:t>
            </a:r>
            <a:r>
              <a:rPr lang="ko-KR" altLang="en-US" sz="900" dirty="0" smtClean="0"/>
              <a:t>사용자 정보획득</a:t>
            </a:r>
            <a:r>
              <a:rPr lang="en-US" altLang="ko-KR" sz="900" dirty="0" smtClean="0"/>
              <a:t>  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900" dirty="0" smtClean="0"/>
              <a:t>Println(“ &gt;resultData :” + resultData); </a:t>
            </a:r>
            <a:endParaRPr kumimoji="0" lang="en-US" altLang="ko-KR" sz="900" dirty="0" smtClean="0">
              <a:solidFill>
                <a:schemeClr val="accent4"/>
              </a:solidFill>
              <a:latin typeface="Arial Unicode MS" charset="0"/>
              <a:ea typeface="굴림" charset="-127"/>
            </a:endParaRP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kumimoji="0" lang="en-US" altLang="ko-KR" sz="900" dirty="0" smtClean="0">
                <a:solidFill>
                  <a:schemeClr val="accent4"/>
                </a:solidFill>
                <a:latin typeface="Arial Unicode MS" charset="0"/>
                <a:ea typeface="굴림" charset="-127"/>
              </a:rPr>
              <a:t>&gt;</a:t>
            </a:r>
            <a:r>
              <a:rPr lang="en-US" altLang="ko-KR" sz="900" dirty="0" smtClean="0"/>
              <a:t>resultData: o1702941</a:t>
            </a:r>
            <a:r>
              <a:rPr lang="en-US" altLang="ko-KR" sz="900" dirty="0"/>
              <a:t>,</a:t>
            </a:r>
            <a:r>
              <a:rPr kumimoji="0" lang="en-US" altLang="ko-KR" sz="900" dirty="0">
                <a:solidFill>
                  <a:schemeClr val="accent4"/>
                </a:solidFill>
                <a:latin typeface="Arial Unicode MS" charset="0"/>
                <a:ea typeface="굴림" charset="-127"/>
              </a:rPr>
              <a:t> 2017-12-16 </a:t>
            </a:r>
            <a:r>
              <a:rPr kumimoji="0" lang="en-US" altLang="ko-KR" sz="900" dirty="0" smtClean="0">
                <a:solidFill>
                  <a:schemeClr val="accent4"/>
                </a:solidFill>
                <a:latin typeface="Arial Unicode MS" charset="0"/>
                <a:ea typeface="굴림" charset="-127"/>
              </a:rPr>
              <a:t>04:40:52 </a:t>
            </a:r>
            <a:r>
              <a:rPr kumimoji="0" lang="en-US" altLang="ko-KR" sz="900" dirty="0">
                <a:solidFill>
                  <a:schemeClr val="accent4"/>
                </a:solidFill>
                <a:latin typeface="Arial Unicode MS" charset="0"/>
                <a:ea typeface="굴림" charset="-127"/>
              </a:rPr>
              <a:t>// </a:t>
            </a:r>
            <a:r>
              <a:rPr kumimoji="0" lang="en-US" altLang="ko-KR" sz="900" dirty="0" smtClean="0">
                <a:solidFill>
                  <a:schemeClr val="accent4"/>
                </a:solidFill>
                <a:latin typeface="Arial Unicode MS" charset="0"/>
                <a:ea typeface="굴림" charset="-127"/>
              </a:rPr>
              <a:t> ID</a:t>
            </a:r>
            <a:r>
              <a:rPr kumimoji="0" lang="en-US" altLang="ko-KR" sz="900" dirty="0" smtClean="0">
                <a:solidFill>
                  <a:schemeClr val="accent4"/>
                </a:solidFill>
              </a:rPr>
              <a:t>, </a:t>
            </a:r>
            <a:r>
              <a:rPr kumimoji="0" lang="ko-KR" altLang="en-US" sz="900" dirty="0" smtClean="0">
                <a:solidFill>
                  <a:schemeClr val="accent4"/>
                </a:solidFill>
              </a:rPr>
              <a:t>마지막</a:t>
            </a:r>
            <a:r>
              <a:rPr kumimoji="0" lang="en-US" altLang="ko-KR" sz="900" dirty="0" smtClean="0">
                <a:solidFill>
                  <a:schemeClr val="accent4"/>
                </a:solidFill>
              </a:rPr>
              <a:t> </a:t>
            </a:r>
            <a:r>
              <a:rPr kumimoji="0" lang="ko-KR" altLang="en-US" sz="900" dirty="0">
                <a:solidFill>
                  <a:schemeClr val="accent4"/>
                </a:solidFill>
              </a:rPr>
              <a:t>로그인시간 획득</a:t>
            </a:r>
            <a:endParaRPr lang="en-US" altLang="ko-KR" sz="900" dirty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endParaRPr lang="en-US" altLang="ko-KR" sz="1000" dirty="0" smtClean="0"/>
          </a:p>
        </p:txBody>
      </p:sp>
      <p:sp>
        <p:nvSpPr>
          <p:cNvPr id="71" name="직사각형 70"/>
          <p:cNvSpPr/>
          <p:nvPr/>
        </p:nvSpPr>
        <p:spPr>
          <a:xfrm>
            <a:off x="5126724" y="5139706"/>
            <a:ext cx="4356032" cy="10810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5069832" y="5503360"/>
            <a:ext cx="4442158" cy="618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855478" y="3542455"/>
            <a:ext cx="1617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mtClean="0">
                <a:solidFill>
                  <a:srgbClr val="FF0000"/>
                </a:solidFill>
                <a:latin typeface="+mn-ea"/>
                <a:ea typeface="+mn-ea"/>
              </a:rPr>
              <a:t>아이디</a:t>
            </a:r>
            <a:r>
              <a:rPr lang="en-US" altLang="ko-KR" sz="800" smtClean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800" smtClean="0">
                <a:solidFill>
                  <a:srgbClr val="FF0000"/>
                </a:solidFill>
                <a:latin typeface="+mn-ea"/>
                <a:ea typeface="+mn-ea"/>
              </a:rPr>
              <a:t>마지막로그인시간 요청</a:t>
            </a:r>
            <a:endParaRPr lang="ko-KR" altLang="en-US" sz="80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74" name="직선 연결선 73"/>
          <p:cNvCxnSpPr/>
          <p:nvPr/>
        </p:nvCxnSpPr>
        <p:spPr>
          <a:xfrm>
            <a:off x="4996753" y="4562893"/>
            <a:ext cx="45642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5136249" y="1243731"/>
            <a:ext cx="163698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 smtClean="0">
                <a:latin typeface="+mn-ea"/>
                <a:ea typeface="+mn-ea"/>
              </a:rPr>
              <a:t>* ISign+ </a:t>
            </a:r>
            <a:r>
              <a:rPr lang="ko-KR" altLang="en-US" sz="1000" b="1" dirty="0" smtClean="0">
                <a:latin typeface="+mn-ea"/>
                <a:ea typeface="+mn-ea"/>
              </a:rPr>
              <a:t>인증 서버 주소</a:t>
            </a:r>
            <a:endParaRPr lang="en-US" altLang="ko-KR" sz="1000" b="1" dirty="0">
              <a:latin typeface="+mn-ea"/>
              <a:ea typeface="+mn-ea"/>
            </a:endParaRPr>
          </a:p>
        </p:txBody>
      </p:sp>
      <p:graphicFrame>
        <p:nvGraphicFramePr>
          <p:cNvPr id="7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039786"/>
              </p:ext>
            </p:extLst>
          </p:nvPr>
        </p:nvGraphicFramePr>
        <p:xfrm>
          <a:off x="5185649" y="1480688"/>
          <a:ext cx="4297570" cy="967340"/>
        </p:xfrm>
        <a:graphic>
          <a:graphicData uri="http://schemas.openxmlformats.org/drawingml/2006/table">
            <a:tbl>
              <a:tblPr/>
              <a:tblGrid>
                <a:gridCol w="559439">
                  <a:extLst>
                    <a:ext uri="{9D8B030D-6E8A-4147-A177-3AD203B41FA5}">
                      <a16:colId xmlns:a16="http://schemas.microsoft.com/office/drawing/2014/main" val="33576193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426437935"/>
                    </a:ext>
                  </a:extLst>
                </a:gridCol>
                <a:gridCol w="1728193">
                  <a:extLst>
                    <a:ext uri="{9D8B030D-6E8A-4147-A177-3AD203B41FA5}">
                      <a16:colId xmlns:a16="http://schemas.microsoft.com/office/drawing/2014/main" val="3286410058"/>
                    </a:ext>
                  </a:extLst>
                </a:gridCol>
                <a:gridCol w="1505882">
                  <a:extLst>
                    <a:ext uri="{9D8B030D-6E8A-4147-A177-3AD203B41FA5}">
                      <a16:colId xmlns:a16="http://schemas.microsoft.com/office/drawing/2014/main" val="593650371"/>
                    </a:ext>
                  </a:extLst>
                </a:gridCol>
              </a:tblGrid>
              <a:tr h="135171">
                <a:tc rowSpan="2" grid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45720" marR="457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서버주소</a:t>
                      </a:r>
                      <a:r>
                        <a:rPr kumimoji="0" lang="en-US" altLang="ko-KR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:</a:t>
                      </a: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포트 </a:t>
                      </a:r>
                      <a:r>
                        <a:rPr kumimoji="0" lang="en-US" altLang="ko-KR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(</a:t>
                      </a: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개발</a:t>
                      </a:r>
                      <a:r>
                        <a:rPr kumimoji="0" lang="en-US" altLang="ko-KR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45720" marR="457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45720" marR="457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915649"/>
                  </a:ext>
                </a:extLst>
              </a:tr>
              <a:tr h="13517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대표 도메인</a:t>
                      </a: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45720" marR="457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</a:rPr>
                        <a:t>호스트 도메인</a:t>
                      </a:r>
                      <a:endParaRPr kumimoji="0" lang="en-US" alt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45720" marR="457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97936"/>
                  </a:ext>
                </a:extLst>
              </a:tr>
              <a:tr h="270342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내부망</a:t>
                      </a:r>
                      <a:endParaRPr kumimoji="0" lang="en-US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97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SSL</a:t>
                      </a:r>
                      <a:endParaRPr kumimoji="0" lang="en-US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9734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dintesso.kdb.co.kr:20443</a:t>
                      </a: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dessei01.kdb.co.kr:20443</a:t>
                      </a: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00029"/>
                  </a:ext>
                </a:extLst>
              </a:tr>
              <a:tr h="2703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인터넷망</a:t>
                      </a:r>
                      <a:endParaRPr kumimoji="0" lang="en-US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97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SSL</a:t>
                      </a:r>
                      <a:endParaRPr kumimoji="0" lang="en-US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97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dextesso.kdb.co.kr:20443</a:t>
                      </a:r>
                      <a:endParaRPr kumimoji="0" lang="en-US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dessej01.kdb.co.kr:20443</a:t>
                      </a:r>
                      <a:endParaRPr kumimoji="0" lang="en-US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5720" marR="45720"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809623"/>
                  </a:ext>
                </a:extLst>
              </a:tr>
            </a:tbl>
          </a:graphicData>
        </a:graphic>
      </p:graphicFrame>
      <p:pic>
        <p:nvPicPr>
          <p:cNvPr id="77" name="그림 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20" y="2448028"/>
            <a:ext cx="4500349" cy="1341012"/>
          </a:xfrm>
          <a:prstGeom prst="rect">
            <a:avLst/>
          </a:prstGeom>
        </p:spPr>
      </p:pic>
      <p:sp>
        <p:nvSpPr>
          <p:cNvPr id="78" name="타원 77"/>
          <p:cNvSpPr/>
          <p:nvPr/>
        </p:nvSpPr>
        <p:spPr>
          <a:xfrm>
            <a:off x="2051549" y="3681680"/>
            <a:ext cx="884646" cy="116885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79" name="직선 화살표 연결선 78"/>
          <p:cNvCxnSpPr>
            <a:stCxn id="78" idx="6"/>
          </p:cNvCxnSpPr>
          <p:nvPr/>
        </p:nvCxnSpPr>
        <p:spPr>
          <a:xfrm>
            <a:off x="2936195" y="3740123"/>
            <a:ext cx="2133637" cy="19212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83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dirty="0" smtClean="0"/>
              <a:t>3.4 </a:t>
            </a:r>
            <a:r>
              <a:rPr lang="ko-KR" altLang="en-US" dirty="0" smtClean="0"/>
              <a:t>연동테스트 확인 방법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5484483" y="1733124"/>
            <a:ext cx="4377616" cy="619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400" dirty="0" smtClean="0"/>
              <a:t>2. </a:t>
            </a:r>
            <a:r>
              <a:rPr lang="ko-KR" altLang="en-US" sz="1400" dirty="0" smtClean="0"/>
              <a:t>브라우저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크롬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 오픈하여 </a:t>
            </a:r>
            <a:r>
              <a:rPr lang="en-US" altLang="ko-KR" sz="1400" dirty="0" smtClean="0"/>
              <a:t>business </a:t>
            </a:r>
            <a:r>
              <a:rPr lang="ko-KR" altLang="en-US" sz="1400" dirty="0" smtClean="0"/>
              <a:t>페이지에 접속</a:t>
            </a:r>
            <a:endParaRPr lang="en-US" altLang="ko-KR" sz="14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400" dirty="0"/>
              <a:t> </a:t>
            </a:r>
            <a:r>
              <a:rPr lang="en-US" altLang="ko-KR" sz="1400" dirty="0" smtClean="0"/>
              <a:t>  </a:t>
            </a:r>
            <a:r>
              <a:rPr lang="en-US" altLang="ko-KR" sz="1200" dirty="0" smtClean="0"/>
              <a:t>- </a:t>
            </a:r>
            <a:r>
              <a:rPr lang="ko-KR" altLang="en-US" sz="1200" dirty="0" smtClean="0"/>
              <a:t>예</a:t>
            </a:r>
            <a:r>
              <a:rPr lang="en-US" altLang="ko-KR" sz="1200" dirty="0" smtClean="0"/>
              <a:t>) </a:t>
            </a:r>
            <a:r>
              <a:rPr lang="en-US" altLang="ko-KR" sz="1200" dirty="0" smtClean="0">
                <a:hlinkClick r:id="rId2"/>
              </a:rPr>
              <a:t>http://</a:t>
            </a:r>
            <a:r>
              <a:rPr lang="ko-KR" altLang="en-US" sz="1200" dirty="0" smtClean="0">
                <a:hlinkClick r:id="rId2"/>
              </a:rPr>
              <a:t>업무서버</a:t>
            </a:r>
            <a:r>
              <a:rPr lang="en-US" altLang="ko-KR" sz="1200" dirty="0" smtClean="0">
                <a:hlinkClick r:id="rId2"/>
              </a:rPr>
              <a:t>_URL:</a:t>
            </a:r>
            <a:r>
              <a:rPr lang="ko-KR" altLang="en-US" sz="1200" dirty="0" smtClean="0">
                <a:hlinkClick r:id="rId2"/>
              </a:rPr>
              <a:t>포트</a:t>
            </a:r>
            <a:r>
              <a:rPr lang="en-US" altLang="ko-KR" sz="1200" dirty="0" smtClean="0">
                <a:hlinkClick r:id="rId2"/>
              </a:rPr>
              <a:t>/</a:t>
            </a:r>
            <a:r>
              <a:rPr lang="en-US" altLang="ko-KR" sz="1200" dirty="0" smtClean="0"/>
              <a:t>sso/business.jsp</a:t>
            </a:r>
          </a:p>
        </p:txBody>
      </p:sp>
      <p:pic>
        <p:nvPicPr>
          <p:cNvPr id="11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522" y="4440794"/>
            <a:ext cx="3124378" cy="1796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내용 개체 틀 2"/>
          <p:cNvSpPr txBox="1">
            <a:spLocks/>
          </p:cNvSpPr>
          <p:nvPr/>
        </p:nvSpPr>
        <p:spPr>
          <a:xfrm>
            <a:off x="5628499" y="4164356"/>
            <a:ext cx="4016895" cy="364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ko-KR" sz="1400" smtClean="0"/>
              <a:t>3. </a:t>
            </a:r>
            <a:r>
              <a:rPr kumimoji="0" lang="ko-KR" altLang="en-US" sz="1400" smtClean="0"/>
              <a:t>연동 완료되면 </a:t>
            </a:r>
            <a:r>
              <a:rPr kumimoji="0" lang="en-US" altLang="ko-KR" sz="1400" smtClean="0">
                <a:cs typeface="맑은 고딕" panose="020B0503020000020004" pitchFamily="50" charset="-127"/>
              </a:rPr>
              <a:t>agentProc </a:t>
            </a:r>
            <a:r>
              <a:rPr kumimoji="0" lang="ko-KR" altLang="en-US" sz="1400" smtClean="0">
                <a:cs typeface="맑은 고딕" panose="020B0503020000020004" pitchFamily="50" charset="-127"/>
              </a:rPr>
              <a:t>페이지가  호출됨</a:t>
            </a:r>
            <a:endParaRPr lang="en-US" altLang="ko-KR" sz="1400" dirty="0" smtClean="0"/>
          </a:p>
        </p:txBody>
      </p:sp>
      <p:grpSp>
        <p:nvGrpSpPr>
          <p:cNvPr id="13" name="그룹 12"/>
          <p:cNvGrpSpPr/>
          <p:nvPr/>
        </p:nvGrpSpPr>
        <p:grpSpPr>
          <a:xfrm>
            <a:off x="6074756" y="2370243"/>
            <a:ext cx="3124379" cy="1710511"/>
            <a:chOff x="5667955" y="1721679"/>
            <a:chExt cx="3516224" cy="199118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67955" y="1721679"/>
              <a:ext cx="3516224" cy="1991184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>
              <a:off x="5667955" y="2452255"/>
              <a:ext cx="3516224" cy="126060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ko-KR" altLang="en-US" sz="1200" b="1" dirty="0" smtClean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29" name="직사각형 28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/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3. WEB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방식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 SSO Agent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적용 방법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89069" y="884620"/>
            <a:ext cx="9228897" cy="600164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FontTx/>
              <a:buNone/>
            </a:pPr>
            <a:r>
              <a:rPr lang="en-US" altLang="ko-KR" sz="1400" b="1" dirty="0" smtClean="0">
                <a:latin typeface="+mn-ea"/>
                <a:ea typeface="+mn-ea"/>
              </a:rPr>
              <a:t>☞ </a:t>
            </a:r>
            <a:r>
              <a:rPr lang="ko-KR" altLang="en-US" sz="1400" b="1" dirty="0" smtClean="0">
                <a:latin typeface="+mn-ea"/>
                <a:ea typeface="+mn-ea"/>
              </a:rPr>
              <a:t>사전준비사항 </a:t>
            </a:r>
            <a:r>
              <a:rPr lang="en-US" altLang="ko-KR" sz="1400" b="1" dirty="0" smtClean="0">
                <a:latin typeface="+mn-ea"/>
                <a:ea typeface="+mn-ea"/>
              </a:rPr>
              <a:t>: </a:t>
            </a:r>
            <a:r>
              <a:rPr kumimoji="0" lang="en-US" altLang="ko-KR" sz="1400" b="1" dirty="0" smtClean="0">
                <a:latin typeface="+mn-ea"/>
                <a:ea typeface="+mn-ea"/>
              </a:rPr>
              <a:t>SSO </a:t>
            </a:r>
            <a:r>
              <a:rPr kumimoji="0" lang="ko-KR" altLang="en-US" sz="1400" b="1" dirty="0" smtClean="0">
                <a:latin typeface="+mn-ea"/>
                <a:ea typeface="+mn-ea"/>
              </a:rPr>
              <a:t>연동</a:t>
            </a:r>
            <a:r>
              <a:rPr kumimoji="0" lang="ko-KR" altLang="en-US" sz="1400" b="1" dirty="0" smtClean="0">
                <a:latin typeface="+mn-ea"/>
                <a:ea typeface="+mn-ea"/>
                <a:cs typeface="맑은 고딕" panose="020B0503020000020004" pitchFamily="50" charset="-127"/>
              </a:rPr>
              <a:t>솔루션</a:t>
            </a:r>
            <a:r>
              <a:rPr kumimoji="0" lang="en-US" altLang="ko-KR" sz="1400" b="1" dirty="0" smtClean="0">
                <a:latin typeface="+mn-ea"/>
                <a:cs typeface="맑은 고딕" panose="020B0503020000020004" pitchFamily="50" charset="-127"/>
              </a:rPr>
              <a:t>(</a:t>
            </a:r>
            <a:r>
              <a:rPr kumimoji="0" lang="en-US" altLang="ko-KR" sz="1400" b="1" dirty="0">
                <a:latin typeface="+mn-ea"/>
                <a:cs typeface="맑은 고딕" panose="020B0503020000020004" pitchFamily="50" charset="-127"/>
              </a:rPr>
              <a:t>D’AmoWA)</a:t>
            </a:r>
            <a:r>
              <a:rPr kumimoji="0" lang="ko-KR" altLang="en-US" sz="1400" b="1" dirty="0" smtClean="0">
                <a:latin typeface="+mn-ea"/>
                <a:ea typeface="+mn-ea"/>
                <a:cs typeface="맑은 고딕" panose="020B0503020000020004" pitchFamily="50" charset="-127"/>
              </a:rPr>
              <a:t> 설치 </a:t>
            </a:r>
            <a:r>
              <a:rPr kumimoji="0" lang="ko-KR" altLang="en-US" sz="1200" b="1" dirty="0" smtClean="0">
                <a:latin typeface="+mn-ea"/>
                <a:ea typeface="+mn-ea"/>
                <a:cs typeface="맑은 고딕" panose="020B0503020000020004" pitchFamily="50" charset="-127"/>
              </a:rPr>
              <a:t>          </a:t>
            </a:r>
            <a:r>
              <a:rPr lang="en-US" altLang="ko-KR" sz="1200" b="1" dirty="0" smtClean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ea typeface="+mn-ea"/>
              </a:rPr>
              <a:t>세부내용 </a:t>
            </a:r>
            <a:r>
              <a:rPr lang="ko-KR" altLang="en-US" sz="1200" b="1" dirty="0" smtClean="0">
                <a:solidFill>
                  <a:srgbClr val="0000FF"/>
                </a:solidFill>
                <a:latin typeface="+mn-ea"/>
                <a:ea typeface="+mn-ea"/>
              </a:rPr>
              <a:t>별첨</a:t>
            </a:r>
            <a:r>
              <a:rPr lang="en-US" altLang="ko-KR" sz="1200" b="1" dirty="0" smtClean="0">
                <a:solidFill>
                  <a:srgbClr val="0000FF"/>
                </a:solidFill>
                <a:latin typeface="+mn-ea"/>
                <a:ea typeface="+mn-ea"/>
              </a:rPr>
              <a:t>3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ea typeface="+mn-ea"/>
              </a:rPr>
              <a:t>참조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  <a:ea typeface="+mn-ea"/>
              </a:rPr>
              <a:t>) </a:t>
            </a:r>
            <a:endParaRPr kumimoji="0" lang="en-US" altLang="ko-KR" sz="1200" b="1" dirty="0" smtClean="0">
              <a:solidFill>
                <a:srgbClr val="0000FF"/>
              </a:solidFill>
              <a:latin typeface="+mn-ea"/>
              <a:ea typeface="+mn-ea"/>
              <a:cs typeface="맑은 고딕" panose="020B0503020000020004" pitchFamily="50" charset="-127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kumimoji="0" lang="en-US" altLang="ko-KR" sz="1400" b="1" dirty="0">
                <a:solidFill>
                  <a:srgbClr val="0000FF"/>
                </a:solidFill>
                <a:latin typeface="+mn-ea"/>
                <a:ea typeface="+mn-ea"/>
                <a:cs typeface="맑은 고딕" panose="020B0503020000020004" pitchFamily="50" charset="-127"/>
              </a:rPr>
              <a:t> </a:t>
            </a:r>
            <a:r>
              <a:rPr kumimoji="0" lang="en-US" altLang="ko-KR" sz="1400" b="1" dirty="0" smtClean="0">
                <a:solidFill>
                  <a:srgbClr val="0000FF"/>
                </a:solidFill>
                <a:latin typeface="+mn-ea"/>
                <a:ea typeface="+mn-ea"/>
                <a:cs typeface="맑은 고딕" panose="020B0503020000020004" pitchFamily="50" charset="-127"/>
              </a:rPr>
              <a:t>                       </a:t>
            </a:r>
            <a:r>
              <a:rPr kumimoji="0" lang="en-US" altLang="ko-KR" sz="1400" b="1" dirty="0" smtClean="0">
                <a:latin typeface="+mn-ea"/>
                <a:ea typeface="+mn-ea"/>
                <a:cs typeface="맑은 고딕" panose="020B0503020000020004" pitchFamily="50" charset="-127"/>
              </a:rPr>
              <a:t>SSO </a:t>
            </a:r>
            <a:r>
              <a:rPr kumimoji="0" lang="ko-KR" altLang="en-US" sz="1400" b="1" dirty="0" smtClean="0">
                <a:latin typeface="+mn-ea"/>
                <a:ea typeface="+mn-ea"/>
                <a:cs typeface="맑은 고딕" panose="020B0503020000020004" pitchFamily="50" charset="-127"/>
              </a:rPr>
              <a:t>테스트용 토큰생성 프로그램 설치</a:t>
            </a:r>
            <a:r>
              <a:rPr kumimoji="0" lang="en-US" altLang="ko-KR" sz="1200" b="1" dirty="0" smtClean="0">
                <a:solidFill>
                  <a:srgbClr val="0000FF"/>
                </a:solidFill>
                <a:latin typeface="+mn-ea"/>
                <a:ea typeface="+mn-ea"/>
                <a:cs typeface="맑은 고딕" panose="020B0503020000020004" pitchFamily="50" charset="-127"/>
              </a:rPr>
              <a:t>    </a:t>
            </a:r>
            <a:r>
              <a:rPr lang="en-US" altLang="ko-KR" sz="1200" b="1" dirty="0" smtClean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ea typeface="+mn-ea"/>
              </a:rPr>
              <a:t>세부내용 </a:t>
            </a:r>
            <a:r>
              <a:rPr lang="ko-KR" altLang="en-US" sz="1200" b="1" dirty="0" smtClean="0">
                <a:solidFill>
                  <a:srgbClr val="0000FF"/>
                </a:solidFill>
                <a:latin typeface="+mn-ea"/>
                <a:ea typeface="+mn-ea"/>
              </a:rPr>
              <a:t>별첨</a:t>
            </a:r>
            <a:r>
              <a:rPr lang="en-US" altLang="ko-KR" sz="1200" b="1" dirty="0" smtClean="0">
                <a:solidFill>
                  <a:srgbClr val="0000FF"/>
                </a:solidFill>
                <a:latin typeface="+mn-ea"/>
                <a:ea typeface="+mn-ea"/>
              </a:rPr>
              <a:t>4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ea typeface="+mn-ea"/>
              </a:rPr>
              <a:t>참조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kumimoji="0" lang="en-US" altLang="ko-KR" sz="1200" b="1" dirty="0" smtClean="0">
                <a:solidFill>
                  <a:srgbClr val="0000FF"/>
                </a:solidFill>
                <a:latin typeface="+mn-ea"/>
                <a:ea typeface="+mn-ea"/>
                <a:cs typeface="맑은 고딕" panose="020B0503020000020004" pitchFamily="50" charset="-127"/>
              </a:rPr>
              <a:t>             </a:t>
            </a:r>
            <a:endParaRPr kumimoji="0" lang="en-US" altLang="ko-KR" sz="1200" b="1" dirty="0">
              <a:solidFill>
                <a:srgbClr val="0000FF"/>
              </a:solidFill>
              <a:latin typeface="+mn-ea"/>
              <a:ea typeface="+mn-ea"/>
              <a:cs typeface="맑은 고딕" panose="020B0503020000020004" pitchFamily="50" charset="-127"/>
            </a:endParaRPr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272480" y="1772816"/>
            <a:ext cx="5616624" cy="2071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400" dirty="0" smtClean="0"/>
              <a:t>1. SSO </a:t>
            </a:r>
            <a:r>
              <a:rPr lang="ko-KR" altLang="en-US" sz="1400" dirty="0" smtClean="0"/>
              <a:t>테스트용 토큰생성 프로그램 실행</a:t>
            </a:r>
            <a:endParaRPr lang="en-US" altLang="ko-KR" sz="14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100" dirty="0" smtClean="0"/>
              <a:t>- </a:t>
            </a:r>
            <a:r>
              <a:rPr lang="en-US" altLang="ko-KR" sz="1100" dirty="0"/>
              <a:t>TestISignAuthenticator.exe Argument </a:t>
            </a:r>
            <a:r>
              <a:rPr lang="ko-KR" altLang="ko-KR" sz="1100" dirty="0"/>
              <a:t>로 아래 입력 값들을 넣고 실행</a:t>
            </a:r>
            <a:endParaRPr lang="en-US" altLang="ko-KR" sz="11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 smtClean="0"/>
              <a:t>   </a:t>
            </a:r>
            <a:r>
              <a:rPr lang="en-US" altLang="ko-KR" sz="1200" dirty="0">
                <a:solidFill>
                  <a:srgbClr val="000000"/>
                </a:solidFill>
              </a:rPr>
              <a:t>①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-</a:t>
            </a:r>
            <a:r>
              <a:rPr lang="en-US" altLang="ko-KR" sz="1200" dirty="0" smtClean="0"/>
              <a:t>address SSO</a:t>
            </a:r>
            <a:r>
              <a:rPr lang="ko-KR" altLang="en-US" sz="1200" dirty="0" smtClean="0"/>
              <a:t>서버 주소 </a:t>
            </a:r>
            <a:endParaRPr lang="en-US" altLang="ko-KR" sz="12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/>
              <a:t> </a:t>
            </a:r>
            <a:r>
              <a:rPr lang="en-US" altLang="ko-KR" sz="1200" dirty="0" smtClean="0"/>
              <a:t>  (</a:t>
            </a:r>
            <a:r>
              <a:rPr lang="ko-KR" altLang="en-US" sz="1200" dirty="0" smtClean="0">
                <a:solidFill>
                  <a:srgbClr val="0000FF"/>
                </a:solidFill>
              </a:rPr>
              <a:t>내부망</a:t>
            </a:r>
            <a:r>
              <a:rPr lang="en-US" altLang="ko-KR" sz="1200" dirty="0" smtClean="0"/>
              <a:t>: https://</a:t>
            </a:r>
            <a:r>
              <a:rPr lang="en-US" altLang="ko-KR" sz="1200" dirty="0" smtClean="0">
                <a:solidFill>
                  <a:srgbClr val="0000FF"/>
                </a:solidFill>
              </a:rPr>
              <a:t>dint</a:t>
            </a:r>
            <a:r>
              <a:rPr lang="en-US" altLang="ko-KR" sz="1200" dirty="0" smtClean="0"/>
              <a:t>esso.kdb.co.kr, </a:t>
            </a:r>
            <a:r>
              <a:rPr lang="ko-KR" altLang="en-US" sz="1200" dirty="0" smtClean="0">
                <a:solidFill>
                  <a:srgbClr val="0000FF"/>
                </a:solidFill>
              </a:rPr>
              <a:t>인터넷망</a:t>
            </a:r>
            <a:r>
              <a:rPr lang="en-US" altLang="ko-KR" sz="1200" dirty="0" smtClean="0"/>
              <a:t>: https://</a:t>
            </a:r>
            <a:r>
              <a:rPr lang="en-US" altLang="ko-KR" sz="1200" dirty="0" smtClean="0">
                <a:solidFill>
                  <a:srgbClr val="0000FF"/>
                </a:solidFill>
              </a:rPr>
              <a:t>dext</a:t>
            </a:r>
            <a:r>
              <a:rPr lang="en-US" altLang="ko-KR" sz="1200" dirty="0" smtClean="0"/>
              <a:t>esso.kdb.co.kr)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/>
              <a:t>  </a:t>
            </a:r>
            <a:r>
              <a:rPr lang="en-US" altLang="ko-KR" sz="1200" dirty="0" smtClean="0"/>
              <a:t> </a:t>
            </a:r>
            <a:r>
              <a:rPr lang="en-US" altLang="ko-KR" sz="1200" dirty="0" smtClean="0">
                <a:solidFill>
                  <a:srgbClr val="000000"/>
                </a:solidFill>
              </a:rPr>
              <a:t>② </a:t>
            </a:r>
            <a:r>
              <a:rPr lang="en-US" altLang="ko-KR" sz="1200" dirty="0"/>
              <a:t>-port </a:t>
            </a:r>
            <a:r>
              <a:rPr lang="en-US" altLang="ko-KR" sz="1200" dirty="0" smtClean="0"/>
              <a:t>SSO</a:t>
            </a:r>
            <a:r>
              <a:rPr lang="ko-KR" altLang="en-US" sz="1200" dirty="0" smtClean="0"/>
              <a:t>서버 포트 </a:t>
            </a:r>
            <a:r>
              <a:rPr lang="en-US" altLang="ko-KR" sz="1200" dirty="0" smtClean="0"/>
              <a:t>(20443) 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/>
              <a:t> </a:t>
            </a:r>
            <a:r>
              <a:rPr lang="en-US" altLang="ko-KR" sz="1200" dirty="0" smtClean="0"/>
              <a:t>  ③ </a:t>
            </a:r>
            <a:r>
              <a:rPr lang="en-US" altLang="ko-KR" sz="1200" dirty="0"/>
              <a:t>-ssoid </a:t>
            </a:r>
            <a:r>
              <a:rPr lang="ko-KR" altLang="en-US" sz="1200" dirty="0" smtClean="0"/>
              <a:t>사용자</a:t>
            </a:r>
            <a:r>
              <a:rPr lang="en-US" altLang="ko-KR" sz="1200" dirty="0" smtClean="0"/>
              <a:t>ID (ssotest)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 smtClean="0"/>
              <a:t>   ④ </a:t>
            </a:r>
            <a:r>
              <a:rPr lang="en-US" altLang="ko-KR" sz="1200" dirty="0"/>
              <a:t>-ssopw </a:t>
            </a:r>
            <a:r>
              <a:rPr lang="ko-KR" altLang="en-US" sz="1200" dirty="0" smtClean="0"/>
              <a:t>사용자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패스워드 </a:t>
            </a:r>
            <a:r>
              <a:rPr lang="en-US" altLang="ko-KR" sz="1200" dirty="0" smtClean="0"/>
              <a:t>(ssotest!1)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/>
              <a:t> </a:t>
            </a:r>
            <a:r>
              <a:rPr lang="en-US" altLang="ko-KR" sz="1200" dirty="0" smtClean="0"/>
              <a:t>  ⑤ </a:t>
            </a:r>
            <a:r>
              <a:rPr lang="en-US" altLang="ko-KR" sz="1200" dirty="0"/>
              <a:t>-otpnum MOTP </a:t>
            </a:r>
            <a:r>
              <a:rPr lang="ko-KR" altLang="en-US" sz="1200" dirty="0" smtClean="0"/>
              <a:t>번호 </a:t>
            </a:r>
            <a:r>
              <a:rPr lang="en-US" altLang="ko-KR" sz="1200" dirty="0" smtClean="0"/>
              <a:t>(12345)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endParaRPr lang="en-US" altLang="ko-KR" sz="1400" dirty="0" smtClean="0"/>
          </a:p>
        </p:txBody>
      </p:sp>
      <p:sp>
        <p:nvSpPr>
          <p:cNvPr id="16" name="내용 개체 틀 2"/>
          <p:cNvSpPr txBox="1">
            <a:spLocks/>
          </p:cNvSpPr>
          <p:nvPr/>
        </p:nvSpPr>
        <p:spPr>
          <a:xfrm>
            <a:off x="418288" y="3566474"/>
            <a:ext cx="4233600" cy="4071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ko-KR" altLang="en-US" sz="1200" dirty="0" smtClean="0"/>
              <a:t>예</a:t>
            </a:r>
            <a:r>
              <a:rPr lang="en-US" altLang="ko-KR" sz="1200" dirty="0" smtClean="0"/>
              <a:t>) </a:t>
            </a:r>
            <a:r>
              <a:rPr lang="ko-KR" altLang="en-US" sz="1200" dirty="0" smtClean="0"/>
              <a:t>내부망 실행 예</a:t>
            </a:r>
            <a:endParaRPr lang="en-US" altLang="ko-KR" sz="1200" dirty="0" smtClean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288" y="4164356"/>
            <a:ext cx="4901765" cy="1504928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362818" y="4080754"/>
            <a:ext cx="5030985" cy="551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6792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smtClean="0"/>
              <a:t>3.5 SSO</a:t>
            </a:r>
            <a:r>
              <a:rPr lang="ko-KR" altLang="en-US" smtClean="0"/>
              <a:t> 통신불능 및 에러상황 적용방법</a:t>
            </a:r>
            <a:endParaRPr lang="ko-KR" altLang="en-US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/>
          </p:nvPr>
        </p:nvGraphicFramePr>
        <p:xfrm>
          <a:off x="559368" y="1412776"/>
          <a:ext cx="8712968" cy="4724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0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26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적용파일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적용방법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650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SSO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통신불능 또는 장애상황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${webapp-context}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/sso/agentInfo.jsp</a:t>
                      </a:r>
                      <a:endParaRPr lang="ko-KR" altLang="ko-KR" sz="1000" b="0" kern="100" spc="-300" baseline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/>
                        <a:t>업무시스템 개별 로그인 페이지로 이동함</a:t>
                      </a:r>
                      <a:endParaRPr lang="ko-KR" altLang="ko-KR" sz="1000" b="0" kern="10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smtClean="0"/>
                    </a:p>
                    <a:p>
                      <a:pPr marL="180975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smtClean="0"/>
                        <a:t>EXCEPTION_PAGE </a:t>
                      </a:r>
                      <a:r>
                        <a:rPr lang="ko-KR" altLang="en-US" sz="1000" b="0" smtClean="0"/>
                        <a:t>변수에 통신불능시 이동 페이지 셋팅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495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SSO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에러상황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${webapp-context}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/sso/agentInfo.jsp</a:t>
                      </a:r>
                      <a:endParaRPr lang="ko-KR" sz="1000" b="0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/>
                        <a:t>시스템 자체 에러페이지 사용하거나 </a:t>
                      </a:r>
                      <a:r>
                        <a:rPr lang="en-US" altLang="ko-KR" sz="1000" b="0" smtClean="0"/>
                        <a:t>SSO Agent </a:t>
                      </a:r>
                      <a:r>
                        <a:rPr lang="ko-KR" altLang="en-US" sz="1000" b="0" smtClean="0"/>
                        <a:t>에서 제공한 </a:t>
                      </a:r>
                      <a:r>
                        <a:rPr lang="en-US" altLang="ko-KR" sz="1000" b="0" smtClean="0"/>
                        <a:t>error.jsp </a:t>
                      </a:r>
                      <a:r>
                        <a:rPr lang="ko-KR" altLang="en-US" sz="1000" b="0" smtClean="0"/>
                        <a:t>페이지 이용</a:t>
                      </a:r>
                      <a:endParaRPr lang="en-US" altLang="ko-KR" sz="1000" b="0" smtClean="0"/>
                    </a:p>
                    <a:p>
                      <a:pPr marL="0" marR="0" lvl="2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/>
                        <a:t>error.jsp </a:t>
                      </a:r>
                      <a:r>
                        <a:rPr lang="ko-KR" altLang="en-US" sz="1000" b="0" smtClean="0"/>
                        <a:t>페이지내에서 오류코드</a:t>
                      </a:r>
                      <a:r>
                        <a:rPr lang="en-US" altLang="ko-KR" sz="1000" b="0" smtClean="0"/>
                        <a:t>, </a:t>
                      </a:r>
                      <a:r>
                        <a:rPr lang="ko-KR" altLang="en-US" sz="1000" b="0" smtClean="0"/>
                        <a:t>오류메시지 획득 예제 확인</a:t>
                      </a:r>
                      <a:endParaRPr lang="ko-KR" sz="1000" b="0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smtClean="0"/>
                    </a:p>
                    <a:p>
                      <a:pPr marL="17145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smtClean="0"/>
                        <a:t>ERROR_PAGE </a:t>
                      </a:r>
                      <a:r>
                        <a:rPr lang="ko-KR" altLang="en-US" sz="1000" b="0" smtClean="0"/>
                        <a:t>변수에 에러시 이동 페이지 셋팅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내용 개체 틀 2"/>
          <p:cNvSpPr txBox="1">
            <a:spLocks/>
          </p:cNvSpPr>
          <p:nvPr/>
        </p:nvSpPr>
        <p:spPr>
          <a:xfrm>
            <a:off x="384561" y="797868"/>
            <a:ext cx="9192449" cy="6149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kern="0" smtClean="0"/>
              <a:t>설정방법  </a:t>
            </a:r>
            <a:endParaRPr lang="en-US" altLang="ko-KR" kern="0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14" y="2524708"/>
            <a:ext cx="3403850" cy="144016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5707286" y="3733980"/>
            <a:ext cx="2990130" cy="21602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13" y="4497096"/>
            <a:ext cx="3403851" cy="144016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725614" y="5452652"/>
            <a:ext cx="2971802" cy="21602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/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3. WEB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방식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 SSO Agent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적용 방법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498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smtClean="0"/>
              <a:t>3.6 SSO</a:t>
            </a:r>
            <a:r>
              <a:rPr lang="ko-KR" altLang="en-US" smtClean="0"/>
              <a:t> 통신불능 및 에러상황 적용방법</a:t>
            </a:r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384561" y="797868"/>
            <a:ext cx="9192449" cy="6149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kern="0" smtClean="0"/>
              <a:t>예시  </a:t>
            </a:r>
            <a:endParaRPr lang="en-US" altLang="ko-KR" kern="0" dirty="0" smtClean="0"/>
          </a:p>
        </p:txBody>
      </p:sp>
      <p:sp>
        <p:nvSpPr>
          <p:cNvPr id="14" name="직사각형 13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/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3. WEB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방식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 SSO Agent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적용 방법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859447"/>
              </p:ext>
            </p:extLst>
          </p:nvPr>
        </p:nvGraphicFramePr>
        <p:xfrm>
          <a:off x="559368" y="1412776"/>
          <a:ext cx="8712968" cy="4392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89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적용파일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35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SSO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에러상황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${webapp-context}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/sso/business.jsp</a:t>
                      </a:r>
                      <a:endParaRPr lang="ko-KR" sz="1000" b="0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smtClean="0"/>
                    </a:p>
                    <a:p>
                      <a:pPr marL="180975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301610" y="2186479"/>
            <a:ext cx="5827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1100" smtClean="0">
                <a:latin typeface="+mn-lt"/>
              </a:rPr>
              <a:t>Http</a:t>
            </a:r>
            <a:r>
              <a:rPr lang="ko-KR" altLang="en-US" sz="1100" smtClean="0">
                <a:latin typeface="+mn-lt"/>
              </a:rPr>
              <a:t>통신 오류 또는 </a:t>
            </a:r>
            <a:r>
              <a:rPr lang="en-US" altLang="ko-KR" sz="1100" smtClean="0">
                <a:latin typeface="+mn-lt"/>
              </a:rPr>
              <a:t>Exception</a:t>
            </a:r>
            <a:r>
              <a:rPr lang="ko-KR" altLang="en-US" sz="1100" smtClean="0">
                <a:latin typeface="+mn-lt"/>
              </a:rPr>
              <a:t>이 발생한 경우임으로 업무시스템 개별 로그인 페이지 설정한다</a:t>
            </a:r>
            <a:r>
              <a:rPr lang="en-US" altLang="ko-KR" sz="1100" smtClean="0">
                <a:latin typeface="+mn-lt"/>
              </a:rPr>
              <a:t>.</a:t>
            </a:r>
            <a:r>
              <a:rPr lang="ko-KR" altLang="en-US" sz="1100" smtClean="0">
                <a:latin typeface="+mn-lt"/>
              </a:rPr>
              <a:t>  </a:t>
            </a:r>
            <a:endParaRPr lang="ko-KR" altLang="en-US" sz="1100">
              <a:latin typeface="+mn-lt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528" y="2857217"/>
            <a:ext cx="5951435" cy="2232248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>
            <a:off x="4234996" y="3848611"/>
            <a:ext cx="3330243" cy="2720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5745088" y="4188407"/>
            <a:ext cx="360040" cy="10450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85048" y="5351554"/>
            <a:ext cx="26559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100" smtClean="0">
                <a:solidFill>
                  <a:srgbClr val="FF0000"/>
                </a:solidFill>
                <a:latin typeface="+mn-lt"/>
              </a:rPr>
              <a:t>업무시스템 개별 로그인 페이지로 설정</a:t>
            </a:r>
            <a:endParaRPr lang="ko-KR" altLang="en-US" sz="110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328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smtClean="0"/>
              <a:t>3.6 SSO</a:t>
            </a:r>
            <a:r>
              <a:rPr lang="ko-KR" altLang="en-US" smtClean="0"/>
              <a:t> 통신불능 및 에러상황 적용방법</a:t>
            </a:r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384561" y="797868"/>
            <a:ext cx="9192449" cy="6149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kern="0" smtClean="0"/>
              <a:t>예시  </a:t>
            </a:r>
            <a:endParaRPr lang="en-US" altLang="ko-KR" kern="0" dirty="0" smtClean="0"/>
          </a:p>
        </p:txBody>
      </p:sp>
      <p:sp>
        <p:nvSpPr>
          <p:cNvPr id="14" name="직사각형 13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/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3. WEB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방식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 SSO Agent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적용 방법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/>
          </p:nvPr>
        </p:nvGraphicFramePr>
        <p:xfrm>
          <a:off x="559368" y="1412776"/>
          <a:ext cx="8712968" cy="4724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적용파일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6503"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SSO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에러상황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${webapp-context}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/sso/checkauth.jsp</a:t>
                      </a:r>
                      <a:endParaRPr lang="ko-KR" sz="1000" b="0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smtClean="0"/>
                    </a:p>
                    <a:p>
                      <a:pPr marL="180975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495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${webapp-context}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/sso/checkauth.jsp</a:t>
                      </a:r>
                      <a:endParaRPr lang="ko-KR" sz="1000" b="0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sz="1000" b="0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4" name="그림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800" y="2657624"/>
            <a:ext cx="5596178" cy="12961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01610" y="2133223"/>
            <a:ext cx="5827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1100" smtClean="0">
                <a:latin typeface="+mn-lt"/>
              </a:rPr>
              <a:t>Http</a:t>
            </a:r>
            <a:r>
              <a:rPr lang="ko-KR" altLang="en-US" sz="1100" smtClean="0">
                <a:latin typeface="+mn-lt"/>
              </a:rPr>
              <a:t>통신 오류 또는 </a:t>
            </a:r>
            <a:r>
              <a:rPr lang="en-US" altLang="ko-KR" sz="1100" smtClean="0">
                <a:latin typeface="+mn-lt"/>
              </a:rPr>
              <a:t>Exception</a:t>
            </a:r>
            <a:r>
              <a:rPr lang="ko-KR" altLang="en-US" sz="1100" smtClean="0">
                <a:latin typeface="+mn-lt"/>
              </a:rPr>
              <a:t>이 발생한 경우임으로 업무시스템 개별 로그인 페이지 또는 자체 에러페이지로 설정한다</a:t>
            </a:r>
            <a:r>
              <a:rPr lang="en-US" altLang="ko-KR" sz="1100" smtClean="0">
                <a:latin typeface="+mn-lt"/>
              </a:rPr>
              <a:t>.</a:t>
            </a:r>
            <a:r>
              <a:rPr lang="ko-KR" altLang="en-US" sz="1100" smtClean="0">
                <a:latin typeface="+mn-lt"/>
              </a:rPr>
              <a:t>  </a:t>
            </a:r>
            <a:endParaRPr lang="ko-KR" altLang="en-US" sz="1100">
              <a:latin typeface="+mn-lt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160912" y="3184552"/>
            <a:ext cx="1963527" cy="21602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28" name="직선 화살표 연결선 27"/>
          <p:cNvCxnSpPr>
            <a:stCxn id="27" idx="3"/>
          </p:cNvCxnSpPr>
          <p:nvPr/>
        </p:nvCxnSpPr>
        <p:spPr>
          <a:xfrm>
            <a:off x="6124439" y="3292564"/>
            <a:ext cx="4149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09942" y="3200539"/>
            <a:ext cx="26559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100" smtClean="0">
                <a:solidFill>
                  <a:srgbClr val="FF0000"/>
                </a:solidFill>
                <a:latin typeface="+mn-lt"/>
              </a:rPr>
              <a:t>업무시스템 개별 로그인 페이지로 설정</a:t>
            </a:r>
            <a:endParaRPr lang="ko-KR" altLang="en-US" sz="110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076530" y="3737744"/>
            <a:ext cx="1963527" cy="21602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6069355" y="3845756"/>
            <a:ext cx="4149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84322" y="3743454"/>
            <a:ext cx="26559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100" smtClean="0">
                <a:solidFill>
                  <a:srgbClr val="FF0000"/>
                </a:solidFill>
                <a:latin typeface="+mn-lt"/>
              </a:rPr>
              <a:t>업무시스템 자체 에러페이지로 설정</a:t>
            </a:r>
            <a:endParaRPr lang="ko-KR" altLang="en-US" sz="110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32" y="4696025"/>
            <a:ext cx="5192353" cy="12259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301610" y="4212001"/>
            <a:ext cx="5827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100">
                <a:latin typeface="+mn-lt"/>
              </a:rPr>
              <a:t>비정상 호출된 경우임으로 </a:t>
            </a:r>
            <a:r>
              <a:rPr lang="en-US" altLang="ko-KR" sz="1100">
                <a:latin typeface="+mn-lt"/>
              </a:rPr>
              <a:t>returnUrl</a:t>
            </a:r>
            <a:r>
              <a:rPr lang="ko-KR" altLang="en-US" sz="1100">
                <a:latin typeface="+mn-lt"/>
              </a:rPr>
              <a:t>을 업무시스템 </a:t>
            </a:r>
            <a:r>
              <a:rPr lang="ko-KR" altLang="en-US" sz="1100" smtClean="0">
                <a:latin typeface="+mn-lt"/>
              </a:rPr>
              <a:t>개별 </a:t>
            </a:r>
            <a:r>
              <a:rPr lang="ko-KR" altLang="en-US" sz="1100">
                <a:latin typeface="+mn-lt"/>
              </a:rPr>
              <a:t>로그인 </a:t>
            </a:r>
            <a:r>
              <a:rPr lang="ko-KR" altLang="en-US" sz="1100" smtClean="0">
                <a:latin typeface="+mn-lt"/>
              </a:rPr>
              <a:t>또는 로그아웃 페이지로 </a:t>
            </a:r>
            <a:r>
              <a:rPr lang="ko-KR" altLang="en-US" sz="1100">
                <a:latin typeface="+mn-lt"/>
              </a:rPr>
              <a:t>설정한다</a:t>
            </a:r>
            <a:r>
              <a:rPr lang="en-US" altLang="ko-KR" sz="1100" smtClean="0">
                <a:latin typeface="+mn-lt"/>
              </a:rPr>
              <a:t>. (</a:t>
            </a:r>
            <a:r>
              <a:rPr lang="ko-KR" altLang="en-US" sz="1100" smtClean="0">
                <a:latin typeface="+mn-lt"/>
              </a:rPr>
              <a:t>제공된 </a:t>
            </a:r>
            <a:r>
              <a:rPr lang="en-US" altLang="ko-KR" sz="1100" smtClean="0">
                <a:latin typeface="+mn-lt"/>
              </a:rPr>
              <a:t>SSO </a:t>
            </a:r>
            <a:r>
              <a:rPr lang="ko-KR" altLang="en-US" sz="1100" smtClean="0">
                <a:latin typeface="+mn-lt"/>
              </a:rPr>
              <a:t>로그아웃 페이지는 사용하지 않음</a:t>
            </a:r>
            <a:r>
              <a:rPr lang="en-US" altLang="ko-KR" sz="1100" smtClean="0">
                <a:latin typeface="+mn-lt"/>
              </a:rPr>
              <a:t>)</a:t>
            </a:r>
            <a:endParaRPr lang="ko-KR" altLang="en-US" sz="1100">
              <a:latin typeface="+mn-lt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495058" y="5383000"/>
            <a:ext cx="2971802" cy="21602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9" name="직선 화살표 연결선 38"/>
          <p:cNvCxnSpPr/>
          <p:nvPr/>
        </p:nvCxnSpPr>
        <p:spPr>
          <a:xfrm>
            <a:off x="6510746" y="5618490"/>
            <a:ext cx="458478" cy="2225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57056" y="5831686"/>
            <a:ext cx="3600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100" smtClean="0">
                <a:solidFill>
                  <a:srgbClr val="FF0000"/>
                </a:solidFill>
                <a:latin typeface="+mn-lt"/>
              </a:rPr>
              <a:t>업무시스템 로그아웃 또는 개별 로그인 페이지로 설정</a:t>
            </a:r>
            <a:endParaRPr lang="ko-KR" altLang="en-US" sz="110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349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표 44"/>
          <p:cNvGraphicFramePr>
            <a:graphicFrameLocks noGrp="1"/>
          </p:cNvGraphicFramePr>
          <p:nvPr>
            <p:extLst/>
          </p:nvPr>
        </p:nvGraphicFramePr>
        <p:xfrm>
          <a:off x="920552" y="1799065"/>
          <a:ext cx="7821086" cy="23577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4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14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라이브러리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Bef>
                          <a:spcPct val="0"/>
                        </a:spcBef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SA-CSI.dll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lv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OpenAPI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이용하여 로그인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SSO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연동 과정을 수행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80975" lv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Win32DLL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제작되었으며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Export Funtion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은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_stdcall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규약을 따름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5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샘플소스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Sample.cpp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라이브러리 사용 예제</a:t>
                      </a: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샘플 소스의 예제를 참고하여 솔루션에 적용</a:t>
                      </a: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내용 개체 틀 2"/>
          <p:cNvSpPr txBox="1">
            <a:spLocks/>
          </p:cNvSpPr>
          <p:nvPr/>
        </p:nvSpPr>
        <p:spPr>
          <a:xfrm>
            <a:off x="384561" y="797868"/>
            <a:ext cx="9192449" cy="6149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 smtClean="0"/>
              <a:t>C/S </a:t>
            </a:r>
            <a:r>
              <a:rPr lang="ko-KR" altLang="en-US" kern="0" dirty="0" smtClean="0"/>
              <a:t>방식</a:t>
            </a:r>
            <a:r>
              <a:rPr lang="en-US" altLang="ko-KR" kern="0" dirty="0" smtClean="0"/>
              <a:t> Agent </a:t>
            </a:r>
            <a:r>
              <a:rPr lang="ko-KR" altLang="en-US" kern="0" dirty="0" smtClean="0"/>
              <a:t>적용파일은 다음과 같이 구성됨 </a:t>
            </a:r>
            <a:endParaRPr lang="en-US" altLang="ko-KR" kern="0" dirty="0" smtClean="0"/>
          </a:p>
        </p:txBody>
      </p:sp>
      <p:sp>
        <p:nvSpPr>
          <p:cNvPr id="5" name="직사각형 4"/>
          <p:cNvSpPr/>
          <p:nvPr/>
        </p:nvSpPr>
        <p:spPr>
          <a:xfrm>
            <a:off x="704528" y="1268760"/>
            <a:ext cx="18181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latin typeface="+mn-ea"/>
                <a:ea typeface="+mn-ea"/>
              </a:rPr>
              <a:t>e</a:t>
            </a:r>
            <a:r>
              <a:rPr lang="en-US" altLang="ko-KR" sz="1400" b="1" smtClean="0">
                <a:latin typeface="+mn-ea"/>
                <a:ea typeface="+mn-ea"/>
              </a:rPr>
              <a:t>x) win32 DLL </a:t>
            </a:r>
            <a:r>
              <a:rPr lang="ko-KR" altLang="en-US" sz="1400" b="1" smtClean="0">
                <a:latin typeface="+mn-ea"/>
                <a:ea typeface="+mn-ea"/>
              </a:rPr>
              <a:t>적용</a:t>
            </a:r>
            <a:endParaRPr lang="en-US" altLang="ko-KR" sz="1400" b="1" dirty="0"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04528" y="4413789"/>
            <a:ext cx="3032112" cy="2585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eaLnBrk="0" hangingPunct="0">
              <a:lnSpc>
                <a:spcPct val="90000"/>
              </a:lnSpc>
              <a:buClr>
                <a:srgbClr val="7D0900"/>
              </a:buClr>
              <a:defRPr/>
            </a:pPr>
            <a:r>
              <a:rPr lang="en-US" altLang="ko-KR" sz="1200" b="1" smtClean="0">
                <a:solidFill>
                  <a:srgbClr val="FF0000"/>
                </a:solidFill>
                <a:cs typeface="Arial" pitchFamily="34" charset="0"/>
              </a:rPr>
              <a:t>* Visual Studio C++ </a:t>
            </a:r>
            <a:r>
              <a:rPr lang="ko-KR" altLang="en-US" sz="1200" b="1" smtClean="0">
                <a:solidFill>
                  <a:srgbClr val="FF0000"/>
                </a:solidFill>
                <a:cs typeface="Arial" pitchFamily="34" charset="0"/>
              </a:rPr>
              <a:t>샘플 프로젝트 제공</a:t>
            </a:r>
            <a:endParaRPr lang="ko-KR" altLang="en-US" sz="1200" b="1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4. CS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방식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 SSO Agent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적용 방법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 bwMode="auto">
          <a:xfrm>
            <a:off x="416496" y="332656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9pPr>
          </a:lstStyle>
          <a:p>
            <a:r>
              <a:rPr lang="en-US" altLang="ko-KR" kern="0" dirty="0" smtClean="0"/>
              <a:t>4.1 </a:t>
            </a:r>
            <a:r>
              <a:rPr lang="ko-KR" altLang="en-US" kern="0" dirty="0" smtClean="0"/>
              <a:t>적용파일 구성</a:t>
            </a:r>
            <a:endParaRPr lang="ko-KR" altLang="en-US" kern="0" dirty="0"/>
          </a:p>
        </p:txBody>
      </p:sp>
    </p:spTree>
    <p:extLst>
      <p:ext uri="{BB962C8B-B14F-4D97-AF65-F5344CB8AC3E}">
        <p14:creationId xmlns:p14="http://schemas.microsoft.com/office/powerpoint/2010/main" val="376285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/>
        </p:nvSpPr>
        <p:spPr>
          <a:xfrm>
            <a:off x="384561" y="797868"/>
            <a:ext cx="9192449" cy="426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lnSpc>
                <a:spcPct val="100000"/>
              </a:lnSpc>
              <a:spcBef>
                <a:spcPts val="300"/>
              </a:spcBef>
              <a:buSzPct val="100000"/>
              <a:buFontTx/>
              <a:buChar char="□"/>
            </a:pPr>
            <a:r>
              <a:rPr lang="en-US" altLang="ko-KR" dirty="0" smtClean="0"/>
              <a:t>SA-CSI Agent </a:t>
            </a:r>
            <a:r>
              <a:rPr lang="ko-KR" altLang="en-US" dirty="0" smtClean="0"/>
              <a:t>설치 절차 </a:t>
            </a:r>
            <a:r>
              <a:rPr lang="en-US" altLang="ko-KR" sz="1400" dirty="0">
                <a:solidFill>
                  <a:srgbClr val="0000FF"/>
                </a:solidFill>
              </a:rPr>
              <a:t>(</a:t>
            </a:r>
            <a:r>
              <a:rPr lang="ko-KR" altLang="en-US" sz="1400" dirty="0">
                <a:solidFill>
                  <a:srgbClr val="0000FF"/>
                </a:solidFill>
              </a:rPr>
              <a:t>세부내용 </a:t>
            </a:r>
            <a:r>
              <a:rPr lang="ko-KR" altLang="en-US" sz="1400" dirty="0" smtClean="0">
                <a:solidFill>
                  <a:srgbClr val="0000FF"/>
                </a:solidFill>
              </a:rPr>
              <a:t>별첨</a:t>
            </a:r>
            <a:r>
              <a:rPr lang="en-US" altLang="ko-KR" sz="1400" dirty="0" smtClean="0">
                <a:solidFill>
                  <a:srgbClr val="0000FF"/>
                </a:solidFill>
              </a:rPr>
              <a:t>2 </a:t>
            </a:r>
            <a:r>
              <a:rPr lang="ko-KR" altLang="en-US" sz="1400" dirty="0">
                <a:solidFill>
                  <a:srgbClr val="0000FF"/>
                </a:solidFill>
              </a:rPr>
              <a:t>참조</a:t>
            </a:r>
            <a:r>
              <a:rPr lang="en-US" altLang="ko-KR" sz="1400" dirty="0">
                <a:solidFill>
                  <a:srgbClr val="0000FF"/>
                </a:solidFill>
              </a:rPr>
              <a:t>)</a:t>
            </a:r>
            <a:r>
              <a:rPr lang="en-US" altLang="ko-KR" sz="1400" dirty="0" smtClean="0"/>
              <a:t>       </a:t>
            </a:r>
            <a:r>
              <a:rPr lang="ko-KR" altLang="en-US" sz="1400" dirty="0" smtClean="0"/>
              <a:t> </a:t>
            </a:r>
            <a:endParaRPr lang="en-US" altLang="ko-KR" sz="1400" dirty="0" smtClean="0"/>
          </a:p>
        </p:txBody>
      </p:sp>
      <p:sp>
        <p:nvSpPr>
          <p:cNvPr id="15" name="직사각형 14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4. CS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방식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 SSO Agent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적용 방법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dirty="0" smtClean="0"/>
              <a:t>4.2 Agent </a:t>
            </a:r>
            <a:r>
              <a:rPr lang="ko-KR" altLang="en-US" dirty="0" smtClean="0"/>
              <a:t>설치 및 적용 절차</a:t>
            </a:r>
            <a:endParaRPr lang="ko-KR" altLang="en-US" dirty="0"/>
          </a:p>
        </p:txBody>
      </p:sp>
      <p:sp>
        <p:nvSpPr>
          <p:cNvPr id="16" name="오각형 15"/>
          <p:cNvSpPr/>
          <p:nvPr/>
        </p:nvSpPr>
        <p:spPr bwMode="auto">
          <a:xfrm>
            <a:off x="952085" y="1872755"/>
            <a:ext cx="2068782" cy="973200"/>
          </a:xfrm>
          <a:prstGeom prst="homePlate">
            <a:avLst>
              <a:gd name="adj" fmla="val 15396"/>
            </a:avLst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400" b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라이브러리 적용</a:t>
            </a:r>
            <a:endParaRPr lang="en-US" altLang="ko-KR" sz="1400" b="1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4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400" b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Win32 DLL)</a:t>
            </a:r>
            <a:endParaRPr kumimoji="1" lang="ko-KR" altLang="en-US" sz="1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오각형 19"/>
          <p:cNvSpPr/>
          <p:nvPr/>
        </p:nvSpPr>
        <p:spPr bwMode="auto">
          <a:xfrm>
            <a:off x="4840512" y="1872755"/>
            <a:ext cx="2176836" cy="973200"/>
          </a:xfrm>
          <a:prstGeom prst="homePlate">
            <a:avLst>
              <a:gd name="adj" fmla="val 15396"/>
            </a:avLst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400" b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소스 수정</a:t>
            </a:r>
            <a:endParaRPr lang="en-US" altLang="ko-KR" sz="1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오각형 20"/>
          <p:cNvSpPr/>
          <p:nvPr/>
        </p:nvSpPr>
        <p:spPr bwMode="auto">
          <a:xfrm>
            <a:off x="7029701" y="1872755"/>
            <a:ext cx="2243779" cy="973200"/>
          </a:xfrm>
          <a:prstGeom prst="homePlate">
            <a:avLst>
              <a:gd name="adj" fmla="val 15396"/>
            </a:avLst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400" b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연동테스트</a:t>
            </a:r>
            <a:endParaRPr lang="en-US" altLang="ko-KR" sz="1400" b="1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오각형 21"/>
          <p:cNvSpPr/>
          <p:nvPr/>
        </p:nvSpPr>
        <p:spPr bwMode="auto">
          <a:xfrm>
            <a:off x="952080" y="3014977"/>
            <a:ext cx="1977237" cy="2700275"/>
          </a:xfrm>
          <a:prstGeom prst="homePlate">
            <a:avLst>
              <a:gd name="adj" fmla="val 0"/>
            </a:avLst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108000" tIns="108000" rIns="108000" bIns="10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000" b="1" kern="100" smtClean="0">
                <a:solidFill>
                  <a:srgbClr val="000000"/>
                </a:solidFill>
                <a:latin typeface="+mn-ea"/>
                <a:cs typeface="굴림"/>
              </a:rPr>
              <a:t>제공한 라이브러리를 솔루션 패키지내 포함</a:t>
            </a:r>
            <a:endParaRPr lang="en-US" altLang="ko-KR" sz="1000" b="1" kern="100">
              <a:solidFill>
                <a:srgbClr val="000000"/>
              </a:solidFill>
              <a:latin typeface="+mn-ea"/>
              <a:cs typeface="굴림"/>
            </a:endParaRPr>
          </a:p>
          <a:p>
            <a:pPr>
              <a:spcBef>
                <a:spcPts val="600"/>
              </a:spcBef>
            </a:pPr>
            <a:r>
              <a:rPr lang="en-US" altLang="ko-KR" sz="1000" b="1" smtClean="0">
                <a:solidFill>
                  <a:schemeClr val="tx1"/>
                </a:solidFill>
                <a:latin typeface="+mn-ea"/>
              </a:rPr>
              <a:t>※ </a:t>
            </a:r>
            <a:r>
              <a:rPr lang="ko-KR" altLang="en-US" sz="1000" b="1" smtClean="0">
                <a:solidFill>
                  <a:schemeClr val="tx1"/>
                </a:solidFill>
                <a:latin typeface="+mn-ea"/>
              </a:rPr>
              <a:t>라이브러리 </a:t>
            </a:r>
            <a:r>
              <a:rPr lang="en-US" altLang="ko-KR" sz="1000" b="1" smtClean="0">
                <a:solidFill>
                  <a:schemeClr val="tx1"/>
                </a:solidFill>
                <a:latin typeface="+mn-ea"/>
              </a:rPr>
              <a:t>(Win32 DLL)</a:t>
            </a:r>
            <a:endParaRPr lang="en-US" altLang="ko-KR" sz="1000" b="1">
              <a:solidFill>
                <a:schemeClr val="tx1"/>
              </a:solidFill>
              <a:latin typeface="+mn-ea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en-US" sz="1000" b="1" smtClean="0">
                <a:latin typeface="+mn-ea"/>
              </a:rPr>
              <a:t>SA_CSI.dll </a:t>
            </a: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endParaRPr lang="en-US" altLang="en-US" sz="1000" b="1">
              <a:latin typeface="+mn-ea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000" b="1" kern="100" smtClean="0">
                <a:solidFill>
                  <a:srgbClr val="000000"/>
                </a:solidFill>
                <a:latin typeface="+mn-ea"/>
                <a:cs typeface="굴림"/>
              </a:rPr>
              <a:t>설정파일 수정</a:t>
            </a:r>
            <a:endParaRPr lang="en-US" altLang="ko-KR" sz="1000" b="1" kern="100">
              <a:solidFill>
                <a:srgbClr val="000000"/>
              </a:solidFill>
              <a:latin typeface="+mn-ea"/>
              <a:cs typeface="굴림"/>
            </a:endParaRPr>
          </a:p>
          <a:p>
            <a:pPr>
              <a:spcBef>
                <a:spcPts val="600"/>
              </a:spcBef>
            </a:pPr>
            <a:r>
              <a:rPr lang="en-US" altLang="ko-KR" sz="1000" b="1" smtClean="0">
                <a:solidFill>
                  <a:schemeClr val="tx1"/>
                </a:solidFill>
                <a:latin typeface="+mn-ea"/>
              </a:rPr>
              <a:t>※ </a:t>
            </a:r>
            <a:r>
              <a:rPr lang="en-US" altLang="en-US" sz="1000" b="1" smtClean="0">
                <a:latin typeface="+mn-ea"/>
              </a:rPr>
              <a:t>testinfo.ini </a:t>
            </a:r>
            <a:r>
              <a:rPr lang="ko-KR" altLang="en-US" sz="1000" b="1" smtClean="0">
                <a:latin typeface="+mn-ea"/>
              </a:rPr>
              <a:t>파일수정</a:t>
            </a:r>
            <a:endParaRPr lang="en-US" altLang="ko-KR" sz="1000" b="1">
              <a:solidFill>
                <a:schemeClr val="tx1"/>
              </a:solidFill>
              <a:latin typeface="+mn-ea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000" b="1" smtClean="0">
                <a:latin typeface="+mn-ea"/>
              </a:rPr>
              <a:t>인증 서버주소 설정</a:t>
            </a:r>
            <a:endParaRPr lang="en-US" altLang="ko-KR" sz="1000" b="1" smtClean="0">
              <a:latin typeface="+mn-ea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000" b="1" smtClean="0">
                <a:latin typeface="+mn-ea"/>
              </a:rPr>
              <a:t>서비스아이디</a:t>
            </a:r>
            <a:r>
              <a:rPr lang="en-US" altLang="ko-KR" sz="1000" b="1" smtClean="0">
                <a:latin typeface="+mn-ea"/>
              </a:rPr>
              <a:t>(</a:t>
            </a:r>
            <a:r>
              <a:rPr lang="en-US" altLang="ko-KR" sz="1000" b="1">
                <a:latin typeface="+mn-ea"/>
              </a:rPr>
              <a:t>SSID) </a:t>
            </a:r>
            <a:r>
              <a:rPr lang="ko-KR" altLang="en-US" sz="1000" b="1" smtClean="0">
                <a:latin typeface="+mn-ea"/>
              </a:rPr>
              <a:t>설정</a:t>
            </a:r>
            <a:endParaRPr lang="en-US" altLang="en-US" sz="1000" b="1">
              <a:latin typeface="+mn-ea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endParaRPr lang="en-US" altLang="ko-KR" sz="1000" b="1" kern="100" smtClean="0">
              <a:solidFill>
                <a:srgbClr val="000000"/>
              </a:solidFill>
              <a:latin typeface="+mn-ea"/>
              <a:cs typeface="굴림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endParaRPr lang="en-US" altLang="ko-KR" sz="1000" b="1" kern="100" smtClean="0">
              <a:solidFill>
                <a:srgbClr val="000000"/>
              </a:solidFill>
              <a:latin typeface="+mn-ea"/>
              <a:cs typeface="굴림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endParaRPr lang="ko-KR" altLang="ko-KR" sz="1000" b="1" kern="100">
              <a:solidFill>
                <a:srgbClr val="000000"/>
              </a:solidFill>
              <a:latin typeface="+mn-ea"/>
              <a:cs typeface="굴림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endParaRPr lang="en-US" altLang="ko-KR" sz="1000" b="1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endParaRPr lang="en-US" altLang="ko-KR" sz="10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3" name="오각형 22"/>
          <p:cNvSpPr/>
          <p:nvPr/>
        </p:nvSpPr>
        <p:spPr bwMode="auto">
          <a:xfrm>
            <a:off x="4876445" y="3014977"/>
            <a:ext cx="2034493" cy="2700275"/>
          </a:xfrm>
          <a:prstGeom prst="homePlate">
            <a:avLst>
              <a:gd name="adj" fmla="val 0"/>
            </a:avLst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108000" tIns="108000" rIns="108000" bIns="10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라이브러리 동적로딩</a:t>
            </a: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소스 수정</a:t>
            </a: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솔루션 빌드 수행</a:t>
            </a: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             </a:t>
            </a: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※ </a:t>
            </a: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소스 수정</a:t>
            </a: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en-US" sz="1000" b="1" dirty="0" smtClean="0">
                <a:latin typeface="+mn-ea"/>
              </a:rPr>
              <a:t>・ex) </a:t>
            </a:r>
            <a:r>
              <a:rPr lang="en-US" altLang="ko-KR" sz="1000" b="1" dirty="0" smtClean="0"/>
              <a:t>SA_CSI_Login API </a:t>
            </a:r>
            <a:r>
              <a:rPr lang="ko-KR" altLang="en-US" sz="1000" b="1" dirty="0" smtClean="0"/>
              <a:t>호출하여 </a:t>
            </a:r>
            <a:r>
              <a:rPr lang="en-US" altLang="ko-KR" sz="1000" b="1" dirty="0" smtClean="0"/>
              <a:t>SSO </a:t>
            </a:r>
            <a:r>
              <a:rPr lang="ko-KR" altLang="en-US" sz="1000" b="1" dirty="0" smtClean="0"/>
              <a:t>로그인 수행 </a:t>
            </a: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오각형 23"/>
          <p:cNvSpPr/>
          <p:nvPr/>
        </p:nvSpPr>
        <p:spPr bwMode="auto">
          <a:xfrm>
            <a:off x="7041912" y="3014977"/>
            <a:ext cx="2125391" cy="2700275"/>
          </a:xfrm>
          <a:prstGeom prst="homePlate">
            <a:avLst>
              <a:gd name="adj" fmla="val 0"/>
            </a:avLst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108000" tIns="108000" rIns="108000" bIns="10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000" b="1" dirty="0" smtClean="0">
                <a:latin typeface="+mn-ea"/>
              </a:rPr>
              <a:t>솔루션 모듈 실행</a:t>
            </a:r>
            <a:endParaRPr lang="en-US" altLang="ko-KR" sz="1000" b="1" dirty="0" smtClean="0">
              <a:latin typeface="+mn-ea"/>
            </a:endParaRPr>
          </a:p>
          <a:p>
            <a:pPr marL="108000" indent="-10800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000" b="1" dirty="0" smtClean="0">
                <a:latin typeface="+mn-ea"/>
              </a:rPr>
              <a:t>로그인 결과를 확인  </a:t>
            </a: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en-US" altLang="ko-KR" sz="1000" b="1" smtClean="0">
                <a:solidFill>
                  <a:schemeClr val="tx1"/>
                </a:solidFill>
                <a:latin typeface="+mn-ea"/>
              </a:rPr>
              <a:t>※ </a:t>
            </a:r>
            <a:r>
              <a:rPr lang="ko-KR" altLang="en-US" sz="1000" b="1" smtClean="0">
                <a:solidFill>
                  <a:schemeClr val="tx1"/>
                </a:solidFill>
                <a:latin typeface="+mn-ea"/>
              </a:rPr>
              <a:t>결과화면 </a:t>
            </a:r>
            <a:endParaRPr lang="en-US" altLang="ko-KR" sz="1000" b="1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en-US" altLang="ko-KR" sz="1000" b="1" smtClean="0">
                <a:solidFill>
                  <a:schemeClr val="tx1"/>
                </a:solidFill>
                <a:latin typeface="+mn-ea"/>
              </a:rPr>
              <a:t>(Sample </a:t>
            </a:r>
            <a:r>
              <a:rPr lang="ko-KR" altLang="en-US" sz="1000" b="1" smtClean="0">
                <a:solidFill>
                  <a:schemeClr val="tx1"/>
                </a:solidFill>
                <a:latin typeface="+mn-ea"/>
              </a:rPr>
              <a:t>소스적용 예</a:t>
            </a:r>
            <a:r>
              <a:rPr lang="en-US" altLang="ko-KR" sz="1000" b="1" smtClean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spcBef>
                <a:spcPts val="600"/>
              </a:spcBef>
            </a:pPr>
            <a:endParaRPr lang="en-US" altLang="ko-KR" sz="10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</a:pPr>
            <a:r>
              <a:rPr lang="ko-KR" altLang="en-US" sz="1000" b="1" smtClean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000" b="1" dirty="0">
              <a:latin typeface="+mn-ea"/>
            </a:endParaRPr>
          </a:p>
          <a:p>
            <a:pPr>
              <a:spcBef>
                <a:spcPts val="600"/>
              </a:spcBef>
            </a:pPr>
            <a:endParaRPr lang="en-US" altLang="ko-KR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52080" y="1493292"/>
            <a:ext cx="18565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latin typeface="+mn-ea"/>
                <a:ea typeface="+mn-ea"/>
              </a:rPr>
              <a:t>e</a:t>
            </a:r>
            <a:r>
              <a:rPr lang="en-US" altLang="ko-KR" sz="1400" b="1" smtClean="0">
                <a:latin typeface="+mn-ea"/>
                <a:ea typeface="+mn-ea"/>
              </a:rPr>
              <a:t>x) Win32 DLL </a:t>
            </a:r>
            <a:r>
              <a:rPr lang="ko-KR" altLang="en-US" sz="1400" b="1" smtClean="0">
                <a:latin typeface="+mn-ea"/>
                <a:ea typeface="+mn-ea"/>
              </a:rPr>
              <a:t>적용</a:t>
            </a:r>
            <a:endParaRPr lang="en-US" altLang="ko-KR" sz="1400" b="1" dirty="0">
              <a:latin typeface="+mn-ea"/>
              <a:ea typeface="+mn-ea"/>
            </a:endParaRPr>
          </a:p>
        </p:txBody>
      </p:sp>
      <p:sp>
        <p:nvSpPr>
          <p:cNvPr id="26" name="오른쪽 화살표 25"/>
          <p:cNvSpPr/>
          <p:nvPr/>
        </p:nvSpPr>
        <p:spPr>
          <a:xfrm>
            <a:off x="3328344" y="3933056"/>
            <a:ext cx="1080120" cy="36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18805" y="3676648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smtClean="0">
                <a:latin typeface="+mn-ea"/>
                <a:ea typeface="+mn-ea"/>
              </a:rPr>
              <a:t>Sample </a:t>
            </a:r>
            <a:r>
              <a:rPr lang="ko-KR" altLang="en-US" sz="1000" b="1" smtClean="0">
                <a:latin typeface="+mn-ea"/>
                <a:ea typeface="+mn-ea"/>
              </a:rPr>
              <a:t>소스 참고</a:t>
            </a:r>
            <a:endParaRPr lang="ko-KR" altLang="en-US" sz="1000" b="1">
              <a:latin typeface="+mn-ea"/>
              <a:ea typeface="+mn-ea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140" y="5310850"/>
            <a:ext cx="1752473" cy="265043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7083294" y="4221088"/>
            <a:ext cx="2003054" cy="140969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8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0" name="내용 개체 틀 2"/>
          <p:cNvSpPr txBox="1">
            <a:spLocks/>
          </p:cNvSpPr>
          <p:nvPr/>
        </p:nvSpPr>
        <p:spPr>
          <a:xfrm>
            <a:off x="7056486" y="4267123"/>
            <a:ext cx="2072978" cy="1308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700" dirty="0" smtClean="0"/>
              <a:t>…(</a:t>
            </a:r>
            <a:r>
              <a:rPr lang="ko-KR" altLang="en-US" sz="700" dirty="0" smtClean="0"/>
              <a:t>중략</a:t>
            </a:r>
            <a:r>
              <a:rPr lang="en-US" altLang="ko-KR" sz="700" dirty="0" smtClean="0"/>
              <a:t>)…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700" dirty="0" smtClean="0"/>
              <a:t>int </a:t>
            </a:r>
            <a:r>
              <a:rPr lang="en-US" altLang="ko-KR" sz="700" dirty="0"/>
              <a:t>rc = lpSSO_Login(szUserID, 128);</a:t>
            </a:r>
            <a:endParaRPr lang="en-US" altLang="ko-KR" sz="700" dirty="0" smtClean="0"/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700" dirty="0"/>
              <a:t>if(rc == SA_CSI_OK) {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700" dirty="0" smtClean="0"/>
              <a:t>…(</a:t>
            </a:r>
            <a:r>
              <a:rPr lang="ko-KR" altLang="en-US" sz="700" dirty="0" smtClean="0"/>
              <a:t>중략</a:t>
            </a:r>
            <a:r>
              <a:rPr lang="en-US" altLang="ko-KR" sz="700" dirty="0" smtClean="0"/>
              <a:t>)…</a:t>
            </a:r>
            <a:endParaRPr lang="ko-KR" altLang="en-US" sz="700" dirty="0"/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700" dirty="0" smtClean="0"/>
              <a:t>printf</a:t>
            </a:r>
            <a:r>
              <a:rPr lang="en-US" altLang="ko-KR" sz="700" dirty="0"/>
              <a:t>("  -&gt;  </a:t>
            </a:r>
            <a:r>
              <a:rPr lang="ko-KR" altLang="en-US" sz="700" dirty="0"/>
              <a:t>로그인 테스트 성공</a:t>
            </a:r>
            <a:r>
              <a:rPr lang="en-US" altLang="ko-KR" sz="700" dirty="0"/>
              <a:t>!! \n");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700" dirty="0" smtClean="0"/>
              <a:t>printf</a:t>
            </a:r>
            <a:r>
              <a:rPr lang="en-US" altLang="ko-KR" sz="700" dirty="0"/>
              <a:t>(" </a:t>
            </a:r>
            <a:r>
              <a:rPr lang="en-US" altLang="ko-KR" sz="700" dirty="0" smtClean="0"/>
              <a:t>-&gt; </a:t>
            </a:r>
            <a:r>
              <a:rPr lang="ko-KR" altLang="en-US" sz="700" dirty="0" smtClean="0"/>
              <a:t>로그인</a:t>
            </a:r>
            <a:r>
              <a:rPr lang="en-US" altLang="ko-KR" sz="700" dirty="0" smtClean="0"/>
              <a:t>UserID=%s\n</a:t>
            </a:r>
            <a:r>
              <a:rPr lang="en-US" altLang="ko-KR" sz="700" dirty="0"/>
              <a:t>", szUserID</a:t>
            </a:r>
            <a:r>
              <a:rPr lang="en-US" altLang="ko-KR" sz="700" dirty="0" smtClean="0"/>
              <a:t>);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700" dirty="0" smtClean="0"/>
              <a:t>…(</a:t>
            </a:r>
            <a:r>
              <a:rPr lang="ko-KR" altLang="en-US" sz="700" dirty="0" smtClean="0"/>
              <a:t>중략</a:t>
            </a:r>
            <a:r>
              <a:rPr lang="en-US" altLang="ko-KR" sz="700" dirty="0" smtClean="0"/>
              <a:t>)…</a:t>
            </a:r>
            <a:endParaRPr lang="en-US" altLang="ko-KR" sz="700" dirty="0"/>
          </a:p>
        </p:txBody>
      </p:sp>
      <p:sp>
        <p:nvSpPr>
          <p:cNvPr id="31" name="내용 개체 틀 2"/>
          <p:cNvSpPr txBox="1">
            <a:spLocks/>
          </p:cNvSpPr>
          <p:nvPr/>
        </p:nvSpPr>
        <p:spPr>
          <a:xfrm>
            <a:off x="7036583" y="5085184"/>
            <a:ext cx="1156800" cy="1496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ko-KR" altLang="en-US" sz="800" dirty="0" smtClean="0"/>
              <a:t>예</a:t>
            </a:r>
            <a:r>
              <a:rPr lang="en-US" altLang="ko-KR" sz="800" smtClean="0"/>
              <a:t>) </a:t>
            </a:r>
            <a:r>
              <a:rPr lang="ko-KR" altLang="en-US" sz="800" smtClean="0"/>
              <a:t>결과화면</a:t>
            </a:r>
            <a:endParaRPr lang="en-US" altLang="ko-KR" sz="800" dirty="0" smtClean="0"/>
          </a:p>
        </p:txBody>
      </p:sp>
    </p:spTree>
    <p:extLst>
      <p:ext uri="{BB962C8B-B14F-4D97-AF65-F5344CB8AC3E}">
        <p14:creationId xmlns:p14="http://schemas.microsoft.com/office/powerpoint/2010/main" val="259727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4. CS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방식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 SSO Agent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적용 방법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3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dirty="0" smtClean="0"/>
              <a:t>4.3 </a:t>
            </a:r>
            <a:r>
              <a:rPr lang="ko-KR" altLang="en-US" dirty="0" smtClean="0"/>
              <a:t>소스 수정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16496" y="1268760"/>
            <a:ext cx="9160514" cy="51125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84561" y="797868"/>
            <a:ext cx="9192449" cy="318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lnSpc>
                <a:spcPct val="100000"/>
              </a:lnSpc>
              <a:spcBef>
                <a:spcPts val="300"/>
              </a:spcBef>
              <a:buSzPct val="100000"/>
              <a:buFontTx/>
              <a:buChar char="□"/>
            </a:pPr>
            <a:r>
              <a:rPr lang="ko-KR" altLang="en-US" sz="1400" smtClean="0"/>
              <a:t>적용 샘플 예제</a:t>
            </a:r>
            <a:endParaRPr lang="en-US" altLang="ko-KR" sz="1400" dirty="0" smtClean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4953000" y="1323876"/>
            <a:ext cx="4320480" cy="8809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lnSpc>
                <a:spcPct val="100000"/>
              </a:lnSpc>
              <a:spcBef>
                <a:spcPts val="300"/>
              </a:spcBef>
              <a:buSzPct val="100000"/>
              <a:buFontTx/>
              <a:buChar char="□"/>
            </a:pPr>
            <a:r>
              <a:rPr lang="ko-KR" altLang="en-US" sz="1000" dirty="0" smtClean="0"/>
              <a:t>소스수정 </a:t>
            </a:r>
            <a:r>
              <a:rPr lang="en-US" altLang="ko-KR" sz="1000" dirty="0" smtClean="0"/>
              <a:t>(Sample.cpp </a:t>
            </a:r>
            <a:r>
              <a:rPr lang="ko-KR" altLang="en-US" sz="1000" dirty="0" smtClean="0"/>
              <a:t>예제 참조</a:t>
            </a:r>
            <a:r>
              <a:rPr lang="en-US" altLang="ko-KR" sz="1000" dirty="0" smtClean="0"/>
              <a:t>)</a:t>
            </a:r>
            <a:endParaRPr lang="en-US" altLang="ko-KR" sz="1000" dirty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000" dirty="0"/>
              <a:t>  </a:t>
            </a:r>
            <a:r>
              <a:rPr lang="en-US" altLang="ko-KR" sz="1000" dirty="0" smtClean="0"/>
              <a:t>1. Sample.cpp </a:t>
            </a:r>
            <a:r>
              <a:rPr lang="ko-KR" altLang="en-US" sz="1000" dirty="0" smtClean="0"/>
              <a:t>예제파일을 참조하여 </a:t>
            </a:r>
            <a:r>
              <a:rPr lang="en-US" altLang="ko-KR" sz="1000" dirty="0" smtClean="0"/>
              <a:t>C/S</a:t>
            </a:r>
            <a:r>
              <a:rPr lang="ko-KR" altLang="en-US" sz="1000" dirty="0" smtClean="0"/>
              <a:t>단 어플리케이션</a:t>
            </a:r>
            <a:r>
              <a:rPr lang="ko-KR" altLang="en-US" sz="1000" dirty="0"/>
              <a:t>에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SSO</a:t>
            </a:r>
            <a:r>
              <a:rPr lang="ko-KR" altLang="en-US" sz="1000" dirty="0" smtClean="0"/>
              <a:t>적용  </a:t>
            </a:r>
            <a:endParaRPr lang="en-US" altLang="ko-KR" sz="10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000" dirty="0" smtClean="0"/>
              <a:t>  2. init() </a:t>
            </a:r>
            <a:r>
              <a:rPr lang="ko-KR" altLang="en-US" sz="1000" dirty="0" smtClean="0"/>
              <a:t>함수를 참조하여 </a:t>
            </a:r>
            <a:r>
              <a:rPr lang="en-US" altLang="en-US" sz="1000" dirty="0"/>
              <a:t>SA_CSI.dll </a:t>
            </a:r>
            <a:r>
              <a:rPr lang="ko-KR" altLang="en-US" sz="1000" dirty="0" smtClean="0"/>
              <a:t>동적로딩 및 설정 적용</a:t>
            </a:r>
            <a:endParaRPr lang="en-US" altLang="ko-KR" sz="10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000" dirty="0" smtClean="0"/>
              <a:t>  3. Login() </a:t>
            </a:r>
            <a:r>
              <a:rPr lang="ko-KR" altLang="en-US" sz="1000" dirty="0" smtClean="0"/>
              <a:t>함수를 참조하여 </a:t>
            </a:r>
            <a:r>
              <a:rPr lang="en-US" altLang="ko-KR" sz="1000" dirty="0" smtClean="0"/>
              <a:t>SSO </a:t>
            </a:r>
            <a:r>
              <a:rPr lang="ko-KR" altLang="en-US" sz="1000" dirty="0" smtClean="0"/>
              <a:t>연동 로그인 적용</a:t>
            </a:r>
            <a:endParaRPr lang="en-US" altLang="ko-KR" sz="1000" dirty="0" smtClean="0"/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467059" y="1340768"/>
            <a:ext cx="4529693" cy="1440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lnSpc>
                <a:spcPct val="100000"/>
              </a:lnSpc>
              <a:spcBef>
                <a:spcPts val="300"/>
              </a:spcBef>
              <a:buSzPct val="100000"/>
              <a:buFontTx/>
              <a:buChar char="□"/>
            </a:pPr>
            <a:r>
              <a:rPr lang="ko-KR" altLang="en-US" sz="1000" dirty="0" smtClean="0"/>
              <a:t>설정파일 수정 </a:t>
            </a:r>
            <a:r>
              <a:rPr lang="en-US" altLang="ko-KR" sz="1000" dirty="0" smtClean="0"/>
              <a:t>(testinfo.ini)</a:t>
            </a:r>
            <a:endParaRPr lang="en-US" altLang="ko-KR" sz="1000" dirty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000" dirty="0"/>
              <a:t>  </a:t>
            </a:r>
            <a:r>
              <a:rPr lang="en-US" altLang="ko-KR" sz="1000" dirty="0" smtClean="0"/>
              <a:t>1. SSO</a:t>
            </a:r>
            <a:r>
              <a:rPr lang="ko-KR" altLang="en-US" sz="1000" dirty="0" smtClean="0"/>
              <a:t>연동을 위한 환경설정 파일  </a:t>
            </a:r>
            <a:endParaRPr lang="en-US" altLang="ko-KR" sz="10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000" dirty="0" smtClean="0"/>
              <a:t>  2. </a:t>
            </a:r>
            <a:r>
              <a:rPr lang="ko-KR" altLang="en-US" sz="1000" dirty="0" smtClean="0"/>
              <a:t>로그아웃주소</a:t>
            </a:r>
            <a:r>
              <a:rPr lang="en-US" altLang="ko-KR" sz="1000" dirty="0" smtClean="0"/>
              <a:t>, SSO</a:t>
            </a:r>
            <a:r>
              <a:rPr lang="ko-KR" altLang="en-US" sz="1000" dirty="0" smtClean="0"/>
              <a:t>인증서버주소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체크서버주소</a:t>
            </a:r>
            <a:r>
              <a:rPr lang="en-US" altLang="ko-KR" sz="1000" dirty="0" smtClean="0"/>
              <a:t>, SSID</a:t>
            </a:r>
            <a:r>
              <a:rPr lang="ko-KR" altLang="en-US" sz="1000" dirty="0" smtClean="0"/>
              <a:t> 설정을 수행</a:t>
            </a:r>
            <a:endParaRPr lang="en-US" altLang="ko-KR" sz="10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000" dirty="0"/>
              <a:t> </a:t>
            </a:r>
            <a:r>
              <a:rPr lang="en-US" altLang="ko-KR" sz="1000" dirty="0" smtClean="0"/>
              <a:t>     - LOGOUT_URL: ISign+</a:t>
            </a:r>
            <a:r>
              <a:rPr lang="ko-KR" altLang="en-US" sz="1000" dirty="0" smtClean="0"/>
              <a:t>인증서버 로그아웃 주소</a:t>
            </a:r>
            <a:r>
              <a:rPr lang="en-US" altLang="ko-KR" sz="1000" dirty="0" smtClean="0"/>
              <a:t> 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000" dirty="0"/>
              <a:t> </a:t>
            </a:r>
            <a:r>
              <a:rPr lang="en-US" altLang="ko-KR" sz="1000" dirty="0" smtClean="0"/>
              <a:t>     - AUTH_URL: ISign+</a:t>
            </a:r>
            <a:r>
              <a:rPr lang="ko-KR" altLang="en-US" sz="1000" dirty="0" smtClean="0"/>
              <a:t>인증서버 주소</a:t>
            </a:r>
            <a:endParaRPr lang="en-US" altLang="ko-KR" sz="10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000" dirty="0"/>
              <a:t> </a:t>
            </a:r>
            <a:r>
              <a:rPr lang="en-US" altLang="ko-KR" sz="1000" dirty="0" smtClean="0"/>
              <a:t>     - CHECKSERVER_URL: ISign+ </a:t>
            </a:r>
            <a:r>
              <a:rPr lang="ko-KR" altLang="en-US" sz="1000" dirty="0" smtClean="0"/>
              <a:t>인증서버 헬스체크주소</a:t>
            </a:r>
            <a:endParaRPr lang="en-US" altLang="ko-KR" sz="10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000" dirty="0"/>
              <a:t> </a:t>
            </a:r>
            <a:r>
              <a:rPr lang="en-US" altLang="ko-KR" sz="1000" dirty="0" smtClean="0"/>
              <a:t>     - SERVICE_ID=</a:t>
            </a:r>
            <a:r>
              <a:rPr lang="ko-KR" altLang="en-US" sz="1000" dirty="0" smtClean="0"/>
              <a:t>관리자가 부여한 업무 고유 번호</a:t>
            </a:r>
            <a:r>
              <a:rPr lang="en-US" altLang="ko-KR" sz="1000" dirty="0" smtClean="0"/>
              <a:t>(SSID)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endParaRPr lang="en-US" altLang="ko-KR" sz="1000" dirty="0" smtClean="0"/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5469666" y="2564903"/>
            <a:ext cx="4004193" cy="8809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endParaRPr lang="en-US" altLang="ko-KR" sz="1000" dirty="0" smtClean="0"/>
          </a:p>
        </p:txBody>
      </p:sp>
      <p:sp>
        <p:nvSpPr>
          <p:cNvPr id="16" name="내용 개체 틀 2"/>
          <p:cNvSpPr txBox="1">
            <a:spLocks/>
          </p:cNvSpPr>
          <p:nvPr/>
        </p:nvSpPr>
        <p:spPr>
          <a:xfrm>
            <a:off x="5257614" y="2597066"/>
            <a:ext cx="4320480" cy="3208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/>
              <a:t>int _tmain(int argc, _TCHAR* argv[])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/>
              <a:t>{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init</a:t>
            </a:r>
            <a:r>
              <a:rPr lang="en-US" altLang="ko-KR" sz="900" dirty="0"/>
              <a:t>();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do </a:t>
            </a:r>
            <a:r>
              <a:rPr lang="en-US" altLang="ko-KR" sz="900" dirty="0"/>
              <a:t>{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           printf</a:t>
            </a:r>
            <a:r>
              <a:rPr lang="en-US" altLang="ko-KR" sz="900" dirty="0"/>
              <a:t>("\n    Test Mode \n");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           printf</a:t>
            </a:r>
            <a:r>
              <a:rPr lang="en-US" altLang="ko-KR" sz="900" dirty="0"/>
              <a:t>("        1. SSO Test (if token exist, token login test)\n");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           printf</a:t>
            </a:r>
            <a:r>
              <a:rPr lang="en-US" altLang="ko-KR" sz="900" dirty="0"/>
              <a:t>("        2. Lgoout Test \n");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           printf</a:t>
            </a:r>
            <a:r>
              <a:rPr lang="en-US" altLang="ko-KR" sz="900" dirty="0"/>
              <a:t>("        3. End Test \n");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           printf</a:t>
            </a:r>
            <a:r>
              <a:rPr lang="en-US" altLang="ko-KR" sz="900" dirty="0"/>
              <a:t>("        select test mode (1, 2, 3) : ");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           gets_s(szTestMode</a:t>
            </a:r>
            <a:r>
              <a:rPr lang="en-US" altLang="ko-KR" sz="900" dirty="0"/>
              <a:t>);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           if </a:t>
            </a:r>
            <a:r>
              <a:rPr lang="en-US" altLang="ko-KR" sz="900" dirty="0"/>
              <a:t>(strcmp(szTestMode, "1") == 0 ) {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/>
              <a:t>	</a:t>
            </a:r>
            <a:r>
              <a:rPr lang="en-US" altLang="ko-KR" sz="900" dirty="0" smtClean="0"/>
              <a:t>LogIn</a:t>
            </a:r>
            <a:r>
              <a:rPr lang="en-US" altLang="ko-KR" sz="900" dirty="0"/>
              <a:t>();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           } else </a:t>
            </a:r>
            <a:r>
              <a:rPr lang="en-US" altLang="ko-KR" sz="900" dirty="0"/>
              <a:t>if (strcmp(szTestMode, "2") == 0 ) {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/>
              <a:t>	</a:t>
            </a:r>
            <a:r>
              <a:rPr lang="en-US" altLang="ko-KR" sz="900" dirty="0" smtClean="0"/>
              <a:t>LogOut</a:t>
            </a:r>
            <a:r>
              <a:rPr lang="en-US" altLang="ko-KR" sz="900" dirty="0"/>
              <a:t>();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           } else </a:t>
            </a:r>
            <a:r>
              <a:rPr lang="en-US" altLang="ko-KR" sz="900" dirty="0"/>
              <a:t>if (strcmp(szTestMode, "3") == 0 ) {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/>
              <a:t>	</a:t>
            </a:r>
            <a:r>
              <a:rPr lang="en-US" altLang="ko-KR" sz="900" dirty="0" smtClean="0"/>
              <a:t>EndTest</a:t>
            </a:r>
            <a:r>
              <a:rPr lang="en-US" altLang="ko-KR" sz="900" dirty="0"/>
              <a:t>();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           } else </a:t>
            </a:r>
            <a:r>
              <a:rPr lang="en-US" altLang="ko-KR" sz="900" dirty="0"/>
              <a:t>{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/>
              <a:t>	</a:t>
            </a:r>
            <a:r>
              <a:rPr lang="en-US" altLang="ko-KR" sz="900" dirty="0" smtClean="0"/>
              <a:t>printf</a:t>
            </a:r>
            <a:r>
              <a:rPr lang="en-US" altLang="ko-KR" sz="900" dirty="0"/>
              <a:t>("    unknown command");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          }</a:t>
            </a:r>
            <a:endParaRPr lang="en-US" altLang="ko-KR" sz="900" dirty="0"/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 } </a:t>
            </a:r>
            <a:r>
              <a:rPr lang="en-US" altLang="ko-KR" sz="900" dirty="0"/>
              <a:t>while (1);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 smtClean="0"/>
              <a:t>     return </a:t>
            </a:r>
            <a:r>
              <a:rPr lang="en-US" altLang="ko-KR" sz="900" dirty="0"/>
              <a:t>0;</a:t>
            </a:r>
          </a:p>
          <a:p>
            <a:pPr marL="1111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ko-KR" sz="900" dirty="0"/>
              <a:t>}	</a:t>
            </a:r>
            <a:endParaRPr lang="en-US" altLang="ko-KR" sz="900" dirty="0" smtClean="0"/>
          </a:p>
        </p:txBody>
      </p:sp>
      <p:grpSp>
        <p:nvGrpSpPr>
          <p:cNvPr id="17" name="그룹 16"/>
          <p:cNvGrpSpPr/>
          <p:nvPr/>
        </p:nvGrpSpPr>
        <p:grpSpPr>
          <a:xfrm>
            <a:off x="488504" y="3105715"/>
            <a:ext cx="4530970" cy="1803116"/>
            <a:chOff x="522291" y="2947099"/>
            <a:chExt cx="4530970" cy="1803116"/>
          </a:xfrm>
        </p:grpSpPr>
        <p:sp>
          <p:nvSpPr>
            <p:cNvPr id="18" name="직사각형 17"/>
            <p:cNvSpPr/>
            <p:nvPr/>
          </p:nvSpPr>
          <p:spPr>
            <a:xfrm>
              <a:off x="522291" y="2950015"/>
              <a:ext cx="4508248" cy="180020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ko-KR" altLang="en-US" sz="1200" b="1" dirty="0" smtClean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9" name="내용 개체 틀 2"/>
            <p:cNvSpPr txBox="1">
              <a:spLocks/>
            </p:cNvSpPr>
            <p:nvPr/>
          </p:nvSpPr>
          <p:spPr>
            <a:xfrm>
              <a:off x="523568" y="2947099"/>
              <a:ext cx="4529693" cy="180311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96863" indent="-285750" algn="l" rtl="0" eaLnBrk="0" fontAlgn="base" latinLnBrk="0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Tx/>
                <a:buFont typeface="맑은 고딕" panose="020B0503020000020004" pitchFamily="50" charset="-127"/>
                <a:buChar char="□"/>
                <a:defRPr kumimoji="1" sz="1600" b="1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554038" indent="-285750" algn="l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맑은 고딕" panose="020B0503020000020004" pitchFamily="50" charset="-127"/>
                <a:buChar char="○"/>
                <a:defRPr kumimoji="1" sz="1400" b="1">
                  <a:solidFill>
                    <a:schemeClr val="tx1"/>
                  </a:solidFill>
                  <a:latin typeface="+mn-ea"/>
                  <a:ea typeface="+mn-ea"/>
                </a:defRPr>
              </a:lvl2pPr>
              <a:lvl3pPr marL="717550" indent="-142875" algn="l" defTabSz="803275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맑은 고딕" panose="020B0503020000020004" pitchFamily="50" charset="-127"/>
                <a:buChar char="-"/>
                <a:tabLst>
                  <a:tab pos="1160463" algn="l"/>
                </a:tabLst>
                <a:defRPr kumimoji="1" sz="1400" b="0">
                  <a:solidFill>
                    <a:schemeClr val="tx1"/>
                  </a:solidFill>
                  <a:latin typeface="+mn-ea"/>
                  <a:ea typeface="+mn-ea"/>
                </a:defRPr>
              </a:lvl3pPr>
              <a:lvl4pPr marL="896938" indent="-179388" algn="l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umimoji="1" sz="1400">
                  <a:solidFill>
                    <a:schemeClr val="tx1"/>
                  </a:solidFill>
                  <a:latin typeface="+mn-ea"/>
                  <a:ea typeface="+mn-ea"/>
                </a:defRPr>
              </a:lvl4pPr>
              <a:lvl5pPr marL="2057400" indent="-228600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endParaRPr lang="en-US" altLang="ko-KR" sz="900" dirty="0" smtClean="0"/>
            </a:p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900" dirty="0" smtClean="0"/>
                <a:t>…(</a:t>
              </a:r>
              <a:r>
                <a:rPr lang="ko-KR" altLang="en-US" sz="900" dirty="0" smtClean="0"/>
                <a:t>중략</a:t>
              </a:r>
              <a:r>
                <a:rPr lang="en-US" altLang="ko-KR" sz="900" dirty="0" smtClean="0"/>
                <a:t>)…</a:t>
              </a:r>
            </a:p>
            <a:p>
              <a:pPr marL="11113" indent="0" algn="di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900" dirty="0" smtClean="0"/>
                <a:t>LOGOUT_URL=https://</a:t>
              </a:r>
              <a:r>
                <a:rPr lang="en-US" altLang="ko-KR" sz="900" dirty="0" smtClean="0">
                  <a:solidFill>
                    <a:srgbClr val="0000FF"/>
                  </a:solidFill>
                </a:rPr>
                <a:t>dint</a:t>
              </a:r>
              <a:r>
                <a:rPr lang="en-US" altLang="ko-KR" sz="900" dirty="0" smtClean="0"/>
                <a:t>esso.kdb.co.kr:20443/openapi/authentication/logout</a:t>
              </a:r>
            </a:p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900" dirty="0" smtClean="0"/>
                <a:t>AUTH_URL=https://</a:t>
              </a:r>
              <a:r>
                <a:rPr lang="en-US" altLang="ko-KR" sz="900" dirty="0" smtClean="0">
                  <a:solidFill>
                    <a:srgbClr val="0000FF"/>
                  </a:solidFill>
                </a:rPr>
                <a:t>dint</a:t>
              </a:r>
              <a:r>
                <a:rPr lang="en-US" altLang="ko-KR" sz="900" dirty="0" smtClean="0"/>
                <a:t>esso.kdb.co.kr:20443/token/authorization</a:t>
              </a:r>
              <a:endParaRPr lang="en-US" altLang="ko-KR" sz="900" dirty="0"/>
            </a:p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900" dirty="0"/>
                <a:t>CHECKSERVER_URL=http</a:t>
              </a:r>
              <a:r>
                <a:rPr lang="en-US" altLang="ko-KR" sz="900" dirty="0" smtClean="0"/>
                <a:t>://</a:t>
              </a:r>
              <a:r>
                <a:rPr lang="en-US" altLang="ko-KR" sz="900" dirty="0" smtClean="0">
                  <a:solidFill>
                    <a:srgbClr val="0000FF"/>
                  </a:solidFill>
                </a:rPr>
                <a:t>dint</a:t>
              </a:r>
              <a:r>
                <a:rPr lang="en-US" altLang="ko-KR" sz="900" dirty="0" smtClean="0"/>
                <a:t>esso.kdb.co.kr:20080/openapi/checkserver</a:t>
              </a:r>
              <a:endParaRPr lang="en-US" altLang="ko-KR" sz="900" dirty="0"/>
            </a:p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900" dirty="0" smtClean="0"/>
                <a:t>SERVICE_ID=1</a:t>
              </a:r>
            </a:p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900" dirty="0" smtClean="0"/>
                <a:t>…(</a:t>
              </a:r>
              <a:r>
                <a:rPr lang="ko-KR" altLang="en-US" sz="900" dirty="0" smtClean="0"/>
                <a:t>중략</a:t>
              </a:r>
              <a:r>
                <a:rPr lang="en-US" altLang="ko-KR" sz="900" dirty="0" smtClean="0"/>
                <a:t>)…</a:t>
              </a:r>
              <a:endParaRPr lang="en-US" altLang="ko-KR" sz="900" dirty="0"/>
            </a:p>
          </p:txBody>
        </p:sp>
      </p:grpSp>
      <p:sp>
        <p:nvSpPr>
          <p:cNvPr id="20" name="직사각형 19"/>
          <p:cNvSpPr/>
          <p:nvPr/>
        </p:nvSpPr>
        <p:spPr>
          <a:xfrm>
            <a:off x="488504" y="2822739"/>
            <a:ext cx="144016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b="1" dirty="0">
                <a:latin typeface="+mn-ea"/>
                <a:ea typeface="+mn-ea"/>
              </a:rPr>
              <a:t>e</a:t>
            </a:r>
            <a:r>
              <a:rPr lang="en-US" altLang="ko-KR" sz="1000" b="1" dirty="0" smtClean="0">
                <a:latin typeface="+mn-ea"/>
                <a:ea typeface="+mn-ea"/>
              </a:rPr>
              <a:t>x) </a:t>
            </a:r>
            <a:r>
              <a:rPr lang="ko-KR" altLang="en-US" sz="1000" b="1" dirty="0" smtClean="0">
                <a:solidFill>
                  <a:srgbClr val="0000FF"/>
                </a:solidFill>
                <a:latin typeface="+mn-ea"/>
                <a:ea typeface="+mn-ea"/>
              </a:rPr>
              <a:t>내부망</a:t>
            </a:r>
            <a:r>
              <a:rPr lang="ko-KR" altLang="en-US" sz="1000" b="1" dirty="0" smtClean="0">
                <a:latin typeface="+mn-ea"/>
                <a:ea typeface="+mn-ea"/>
              </a:rPr>
              <a:t> 설정 예</a:t>
            </a:r>
            <a:r>
              <a:rPr lang="en-US" altLang="ko-KR" sz="1000" b="1" dirty="0" smtClean="0">
                <a:latin typeface="+mn-ea"/>
                <a:ea typeface="+mn-ea"/>
              </a:rPr>
              <a:t>   </a:t>
            </a:r>
            <a:endParaRPr lang="en-US" altLang="ko-KR" sz="1000" b="1" dirty="0">
              <a:latin typeface="+mn-ea"/>
              <a:ea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247844" y="2564904"/>
            <a:ext cx="4176464" cy="32403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2" name="내용 개체 틀 2"/>
          <p:cNvSpPr txBox="1">
            <a:spLocks/>
          </p:cNvSpPr>
          <p:nvPr/>
        </p:nvSpPr>
        <p:spPr>
          <a:xfrm>
            <a:off x="5243585" y="2276166"/>
            <a:ext cx="4389935" cy="41051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endParaRPr lang="en-US" altLang="ko-KR" sz="1000" smtClean="0"/>
          </a:p>
        </p:txBody>
      </p:sp>
      <p:sp>
        <p:nvSpPr>
          <p:cNvPr id="23" name="직사각형 22"/>
          <p:cNvSpPr/>
          <p:nvPr/>
        </p:nvSpPr>
        <p:spPr>
          <a:xfrm>
            <a:off x="5294626" y="2270234"/>
            <a:ext cx="144016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b="1">
                <a:latin typeface="+mn-ea"/>
                <a:ea typeface="+mn-ea"/>
              </a:rPr>
              <a:t>e</a:t>
            </a:r>
            <a:r>
              <a:rPr lang="en-US" altLang="ko-KR" sz="1000" b="1" smtClean="0">
                <a:latin typeface="+mn-ea"/>
                <a:ea typeface="+mn-ea"/>
              </a:rPr>
              <a:t>x) main </a:t>
            </a:r>
            <a:r>
              <a:rPr lang="ko-KR" altLang="en-US" sz="1000" b="1" smtClean="0">
                <a:latin typeface="+mn-ea"/>
                <a:ea typeface="+mn-ea"/>
              </a:rPr>
              <a:t>함수 호출예</a:t>
            </a:r>
            <a:endParaRPr lang="en-US" altLang="ko-KR" sz="10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904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2818" y="323582"/>
            <a:ext cx="6102350" cy="274638"/>
          </a:xfrm>
        </p:spPr>
        <p:txBody>
          <a:bodyPr/>
          <a:lstStyle/>
          <a:p>
            <a:r>
              <a:rPr lang="en-US" altLang="ko-KR" dirty="0" smtClean="0"/>
              <a:t>4.4 </a:t>
            </a:r>
            <a:r>
              <a:rPr lang="ko-KR" altLang="en-US" dirty="0" smtClean="0"/>
              <a:t>연동테스트 확인 방법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  <a:cs typeface="Arial" charset="0"/>
              </a:rPr>
              <a:t>4. CS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방식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 SSO Agent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적용 방법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5484483" y="1484784"/>
            <a:ext cx="4377616" cy="2055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 smtClean="0"/>
              <a:t>2. SSO</a:t>
            </a:r>
            <a:r>
              <a:rPr lang="ko-KR" altLang="en-US" sz="1200" dirty="0" smtClean="0"/>
              <a:t>적용된 </a:t>
            </a:r>
            <a:r>
              <a:rPr lang="en-US" altLang="ko-KR" sz="1200" dirty="0" smtClean="0"/>
              <a:t>C/S </a:t>
            </a:r>
            <a:r>
              <a:rPr lang="ko-KR" altLang="en-US" sz="1200" dirty="0" smtClean="0"/>
              <a:t>솔루션 실행</a:t>
            </a:r>
            <a:endParaRPr lang="en-US" altLang="ko-KR" sz="12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/>
              <a:t> </a:t>
            </a:r>
            <a:r>
              <a:rPr lang="en-US" altLang="ko-KR" sz="1200" dirty="0" smtClean="0">
                <a:solidFill>
                  <a:srgbClr val="000000"/>
                </a:solidFill>
              </a:rPr>
              <a:t>① </a:t>
            </a:r>
            <a:r>
              <a:rPr lang="en-US" altLang="ko-KR" sz="1200" dirty="0" smtClean="0"/>
              <a:t>lpSSO_Login(szUserID</a:t>
            </a:r>
            <a:r>
              <a:rPr lang="en-US" altLang="ko-KR" sz="1200" dirty="0"/>
              <a:t>, 128) </a:t>
            </a:r>
            <a:r>
              <a:rPr lang="ko-KR" altLang="en-US" sz="1200" dirty="0" smtClean="0"/>
              <a:t>함수의 리턴값 확인</a:t>
            </a:r>
            <a:endParaRPr lang="en-US" altLang="ko-KR" sz="12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 smtClean="0"/>
              <a:t>     - </a:t>
            </a:r>
            <a:r>
              <a:rPr lang="ko-KR" altLang="en-US" sz="1200" dirty="0" smtClean="0"/>
              <a:t>리턴값</a:t>
            </a:r>
            <a:r>
              <a:rPr lang="en-US" altLang="ko-KR" sz="1200" dirty="0" smtClean="0"/>
              <a:t>: 1(</a:t>
            </a:r>
            <a:r>
              <a:rPr lang="ko-KR" altLang="en-US" sz="1200" dirty="0" smtClean="0"/>
              <a:t>성공</a:t>
            </a:r>
            <a:r>
              <a:rPr lang="en-US" altLang="ko-KR" sz="1200" dirty="0" smtClean="0"/>
              <a:t>), 1</a:t>
            </a:r>
            <a:r>
              <a:rPr lang="ko-KR" altLang="en-US" sz="1200" dirty="0" smtClean="0"/>
              <a:t>이 아니면 실패</a:t>
            </a:r>
            <a:endParaRPr lang="en-US" altLang="ko-KR" sz="12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/>
              <a:t> </a:t>
            </a:r>
            <a:r>
              <a:rPr lang="en-US" altLang="ko-KR" sz="1200" dirty="0" smtClean="0">
                <a:solidFill>
                  <a:srgbClr val="000000"/>
                </a:solidFill>
              </a:rPr>
              <a:t>② </a:t>
            </a:r>
            <a:r>
              <a:rPr lang="en-US" altLang="ko-KR" sz="1200" dirty="0" smtClean="0"/>
              <a:t>lpSSO_Login(szUserID</a:t>
            </a:r>
            <a:r>
              <a:rPr lang="en-US" altLang="ko-KR" sz="1200" dirty="0"/>
              <a:t>, 128) </a:t>
            </a:r>
            <a:r>
              <a:rPr lang="ko-KR" altLang="en-US" sz="1200" dirty="0" smtClean="0"/>
              <a:t>함수의 </a:t>
            </a:r>
            <a:r>
              <a:rPr lang="en-US" altLang="ko-KR" sz="1200" dirty="0" smtClean="0"/>
              <a:t>szUserID</a:t>
            </a:r>
            <a:r>
              <a:rPr lang="ko-KR" altLang="en-US" sz="1200" dirty="0" smtClean="0"/>
              <a:t>에   </a:t>
            </a:r>
            <a:endParaRPr lang="en-US" altLang="ko-KR" sz="12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>
                <a:solidFill>
                  <a:srgbClr val="000000"/>
                </a:solidFill>
              </a:rPr>
              <a:t> </a:t>
            </a:r>
            <a:r>
              <a:rPr lang="en-US" altLang="ko-KR" sz="1200" dirty="0" smtClean="0">
                <a:solidFill>
                  <a:srgbClr val="000000"/>
                </a:solidFill>
              </a:rPr>
              <a:t>    </a:t>
            </a:r>
            <a:r>
              <a:rPr lang="ko-KR" altLang="en-US" sz="1200" dirty="0" smtClean="0">
                <a:solidFill>
                  <a:srgbClr val="000000"/>
                </a:solidFill>
              </a:rPr>
              <a:t>사용자 아이디가 정상적으로 복사되었는지 확인</a:t>
            </a:r>
            <a:endParaRPr lang="en-US" altLang="ko-KR" sz="1200" dirty="0" smtClean="0"/>
          </a:p>
        </p:txBody>
      </p:sp>
      <p:sp>
        <p:nvSpPr>
          <p:cNvPr id="20" name="직사각형 19"/>
          <p:cNvSpPr/>
          <p:nvPr/>
        </p:nvSpPr>
        <p:spPr>
          <a:xfrm>
            <a:off x="389069" y="884620"/>
            <a:ext cx="9228897" cy="307777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FontTx/>
              <a:buNone/>
            </a:pPr>
            <a:r>
              <a:rPr lang="en-US" altLang="ko-KR" sz="1400" b="1" dirty="0" smtClean="0">
                <a:latin typeface="+mn-ea"/>
                <a:ea typeface="+mn-ea"/>
              </a:rPr>
              <a:t>☞ </a:t>
            </a:r>
            <a:r>
              <a:rPr lang="ko-KR" altLang="en-US" sz="1400" b="1" dirty="0" smtClean="0">
                <a:latin typeface="+mn-ea"/>
                <a:ea typeface="+mn-ea"/>
              </a:rPr>
              <a:t>사전준비사항 </a:t>
            </a:r>
            <a:r>
              <a:rPr lang="en-US" altLang="ko-KR" sz="1400" b="1" dirty="0" smtClean="0">
                <a:latin typeface="+mn-ea"/>
                <a:ea typeface="+mn-ea"/>
              </a:rPr>
              <a:t>: </a:t>
            </a:r>
            <a:r>
              <a:rPr kumimoji="0" lang="en-US" altLang="ko-KR" sz="1400" b="1" dirty="0" smtClean="0">
                <a:latin typeface="+mn-ea"/>
                <a:ea typeface="+mn-ea"/>
                <a:cs typeface="맑은 고딕" panose="020B0503020000020004" pitchFamily="50" charset="-127"/>
              </a:rPr>
              <a:t>SSO </a:t>
            </a:r>
            <a:r>
              <a:rPr kumimoji="0" lang="ko-KR" altLang="en-US" sz="1400" b="1" dirty="0" smtClean="0">
                <a:latin typeface="+mn-ea"/>
                <a:ea typeface="+mn-ea"/>
                <a:cs typeface="맑은 고딕" panose="020B0503020000020004" pitchFamily="50" charset="-127"/>
              </a:rPr>
              <a:t>테스트용 토큰생성 프로그램 설치</a:t>
            </a:r>
            <a:r>
              <a:rPr kumimoji="0" lang="ko-KR" altLang="en-US" sz="1200" b="1" dirty="0" smtClean="0">
                <a:latin typeface="+mn-ea"/>
                <a:ea typeface="+mn-ea"/>
                <a:cs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ea typeface="+mn-ea"/>
              </a:rPr>
              <a:t>세부내용 </a:t>
            </a:r>
            <a:r>
              <a:rPr lang="ko-KR" altLang="en-US" sz="1200" b="1" dirty="0" smtClean="0">
                <a:solidFill>
                  <a:srgbClr val="0000FF"/>
                </a:solidFill>
                <a:latin typeface="+mn-ea"/>
                <a:ea typeface="+mn-ea"/>
              </a:rPr>
              <a:t>별첨</a:t>
            </a:r>
            <a:r>
              <a:rPr lang="en-US" altLang="ko-KR" sz="1200" b="1" dirty="0" smtClean="0">
                <a:solidFill>
                  <a:srgbClr val="0000FF"/>
                </a:solidFill>
                <a:latin typeface="+mn-ea"/>
                <a:ea typeface="+mn-ea"/>
              </a:rPr>
              <a:t>4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ea typeface="+mn-ea"/>
              </a:rPr>
              <a:t>참조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kumimoji="0" lang="en-US" altLang="ko-KR" sz="1200" b="1" dirty="0" smtClean="0">
                <a:solidFill>
                  <a:srgbClr val="0000FF"/>
                </a:solidFill>
                <a:latin typeface="+mn-ea"/>
                <a:ea typeface="+mn-ea"/>
                <a:cs typeface="맑은 고딕" panose="020B0503020000020004" pitchFamily="50" charset="-127"/>
              </a:rPr>
              <a:t>               </a:t>
            </a:r>
            <a:endParaRPr kumimoji="0" lang="en-US" altLang="ko-KR" sz="1200" b="1" dirty="0">
              <a:solidFill>
                <a:srgbClr val="0000FF"/>
              </a:solidFill>
              <a:latin typeface="+mn-ea"/>
              <a:ea typeface="+mn-ea"/>
              <a:cs typeface="맑은 고딕" panose="020B0503020000020004" pitchFamily="50" charset="-127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5581822" y="3049656"/>
            <a:ext cx="4018343" cy="3072515"/>
            <a:chOff x="5455606" y="3380821"/>
            <a:chExt cx="4062927" cy="3072515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54660" y="5883643"/>
              <a:ext cx="2943322" cy="418857"/>
            </a:xfrm>
            <a:prstGeom prst="rect">
              <a:avLst/>
            </a:prstGeom>
          </p:spPr>
        </p:pic>
        <p:sp>
          <p:nvSpPr>
            <p:cNvPr id="24" name="직사각형 23"/>
            <p:cNvSpPr/>
            <p:nvPr/>
          </p:nvSpPr>
          <p:spPr>
            <a:xfrm>
              <a:off x="5455606" y="3380821"/>
              <a:ext cx="4062927" cy="3072515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ko-KR" altLang="en-US" sz="1200" b="1" dirty="0" smtClean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25" name="내용 개체 틀 2"/>
            <p:cNvSpPr txBox="1">
              <a:spLocks/>
            </p:cNvSpPr>
            <p:nvPr/>
          </p:nvSpPr>
          <p:spPr>
            <a:xfrm>
              <a:off x="5625571" y="3528185"/>
              <a:ext cx="3791925" cy="201916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96863" indent="-285750" algn="l" rtl="0" eaLnBrk="0" fontAlgn="base" latinLnBrk="0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Tx/>
                <a:buFont typeface="맑은 고딕" panose="020B0503020000020004" pitchFamily="50" charset="-127"/>
                <a:buChar char="□"/>
                <a:defRPr kumimoji="1" sz="1600" b="1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554038" indent="-285750" algn="l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맑은 고딕" panose="020B0503020000020004" pitchFamily="50" charset="-127"/>
                <a:buChar char="○"/>
                <a:defRPr kumimoji="1" sz="1400" b="1">
                  <a:solidFill>
                    <a:schemeClr val="tx1"/>
                  </a:solidFill>
                  <a:latin typeface="+mn-ea"/>
                  <a:ea typeface="+mn-ea"/>
                </a:defRPr>
              </a:lvl2pPr>
              <a:lvl3pPr marL="717550" indent="-142875" algn="l" defTabSz="803275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맑은 고딕" panose="020B0503020000020004" pitchFamily="50" charset="-127"/>
                <a:buChar char="-"/>
                <a:tabLst>
                  <a:tab pos="1160463" algn="l"/>
                </a:tabLst>
                <a:defRPr kumimoji="1" sz="1400" b="0">
                  <a:solidFill>
                    <a:schemeClr val="tx1"/>
                  </a:solidFill>
                  <a:latin typeface="+mn-ea"/>
                  <a:ea typeface="+mn-ea"/>
                </a:defRPr>
              </a:lvl3pPr>
              <a:lvl4pPr marL="896938" indent="-179388" algn="l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umimoji="1" sz="1400">
                  <a:solidFill>
                    <a:schemeClr val="tx1"/>
                  </a:solidFill>
                  <a:latin typeface="+mn-ea"/>
                  <a:ea typeface="+mn-ea"/>
                </a:defRPr>
              </a:lvl4pPr>
              <a:lvl5pPr marL="2057400" indent="-228600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1000" dirty="0" smtClean="0"/>
                <a:t>…(</a:t>
              </a:r>
              <a:r>
                <a:rPr lang="ko-KR" altLang="en-US" sz="1000" dirty="0" smtClean="0"/>
                <a:t>중략</a:t>
              </a:r>
              <a:r>
                <a:rPr lang="en-US" altLang="ko-KR" sz="1000" dirty="0" smtClean="0"/>
                <a:t>)…</a:t>
              </a:r>
            </a:p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1000" dirty="0" smtClean="0"/>
                <a:t>int </a:t>
              </a:r>
              <a:r>
                <a:rPr lang="en-US" altLang="ko-KR" sz="1000" dirty="0"/>
                <a:t>rc = lpSSO_Login(szUserID, 128);</a:t>
              </a:r>
              <a:endParaRPr lang="en-US" altLang="ko-KR" sz="1000" dirty="0" smtClean="0"/>
            </a:p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1000" dirty="0"/>
                <a:t>if(</a:t>
              </a:r>
              <a:r>
                <a:rPr lang="en-US" altLang="ko-KR" sz="1000" dirty="0" err="1"/>
                <a:t>rc</a:t>
              </a:r>
              <a:r>
                <a:rPr lang="en-US" altLang="ko-KR" sz="1000" dirty="0"/>
                <a:t> == SA_CSI_OK) {</a:t>
              </a:r>
            </a:p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1000" dirty="0" smtClean="0"/>
                <a:t>// ----------------------------------------------------------------</a:t>
              </a:r>
              <a:endParaRPr lang="en-US" altLang="ko-KR" sz="1000" dirty="0"/>
            </a:p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1000" dirty="0" smtClean="0"/>
                <a:t>//  </a:t>
              </a:r>
              <a:r>
                <a:rPr lang="en-US" altLang="ko-KR" sz="1000" dirty="0"/>
                <a:t>2-1. </a:t>
              </a:r>
              <a:r>
                <a:rPr lang="ko-KR" altLang="en-US" sz="1000" dirty="0"/>
                <a:t>로그인 성공</a:t>
              </a:r>
            </a:p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1000" dirty="0" smtClean="0"/>
                <a:t>//   </a:t>
              </a:r>
              <a:r>
                <a:rPr lang="en-US" altLang="ko-KR" sz="1000" dirty="0"/>
                <a:t>: </a:t>
              </a:r>
              <a:r>
                <a:rPr lang="ko-KR" altLang="en-US" sz="1000" dirty="0"/>
                <a:t>서비스 메인 페이지를 보여줌</a:t>
              </a:r>
            </a:p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1000" dirty="0" smtClean="0"/>
                <a:t>// ----------------------------------------------------------------</a:t>
              </a:r>
              <a:endParaRPr lang="en-US" altLang="ko-KR" sz="1000" dirty="0"/>
            </a:p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1000" dirty="0" smtClean="0"/>
                <a:t>      printf</a:t>
              </a:r>
              <a:r>
                <a:rPr lang="en-US" altLang="ko-KR" sz="1000" dirty="0"/>
                <a:t>("  -&gt;  </a:t>
              </a:r>
              <a:r>
                <a:rPr lang="ko-KR" altLang="en-US" sz="1000" dirty="0"/>
                <a:t>로그인 테스트 성공</a:t>
              </a:r>
              <a:r>
                <a:rPr lang="en-US" altLang="ko-KR" sz="1000" dirty="0"/>
                <a:t>!! \n");</a:t>
              </a:r>
            </a:p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1000" dirty="0" smtClean="0"/>
                <a:t>      printf</a:t>
              </a:r>
              <a:r>
                <a:rPr lang="en-US" altLang="ko-KR" sz="1000" dirty="0"/>
                <a:t>("  -&gt;  </a:t>
              </a:r>
              <a:r>
                <a:rPr lang="ko-KR" altLang="en-US" sz="1000" dirty="0"/>
                <a:t>로그인 </a:t>
              </a:r>
              <a:r>
                <a:rPr lang="en-US" altLang="ko-KR" sz="1000" dirty="0"/>
                <a:t>UserID = %s \n", szUserID</a:t>
              </a:r>
              <a:r>
                <a:rPr lang="en-US" altLang="ko-KR" sz="1000" dirty="0" smtClean="0"/>
                <a:t>);</a:t>
              </a:r>
            </a:p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en-US" altLang="ko-KR" sz="1000" dirty="0" smtClean="0"/>
                <a:t>…(</a:t>
              </a:r>
              <a:r>
                <a:rPr lang="ko-KR" altLang="en-US" sz="1000" dirty="0" smtClean="0"/>
                <a:t>중략</a:t>
              </a:r>
              <a:r>
                <a:rPr lang="en-US" altLang="ko-KR" sz="1000" dirty="0" smtClean="0"/>
                <a:t>)…</a:t>
              </a:r>
              <a:endParaRPr lang="en-US" altLang="ko-KR" sz="1000" dirty="0"/>
            </a:p>
          </p:txBody>
        </p:sp>
        <p:sp>
          <p:nvSpPr>
            <p:cNvPr id="26" name="내용 개체 틀 2"/>
            <p:cNvSpPr txBox="1">
              <a:spLocks/>
            </p:cNvSpPr>
            <p:nvPr/>
          </p:nvSpPr>
          <p:spPr>
            <a:xfrm>
              <a:off x="5572965" y="5589240"/>
              <a:ext cx="1440840" cy="23644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96863" indent="-285750" algn="l" rtl="0" eaLnBrk="0" fontAlgn="base" latinLnBrk="0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Tx/>
                <a:buFont typeface="맑은 고딕" panose="020B0503020000020004" pitchFamily="50" charset="-127"/>
                <a:buChar char="□"/>
                <a:defRPr kumimoji="1" sz="1600" b="1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554038" indent="-285750" algn="l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맑은 고딕" panose="020B0503020000020004" pitchFamily="50" charset="-127"/>
                <a:buChar char="○"/>
                <a:defRPr kumimoji="1" sz="1400" b="1">
                  <a:solidFill>
                    <a:schemeClr val="tx1"/>
                  </a:solidFill>
                  <a:latin typeface="+mn-ea"/>
                  <a:ea typeface="+mn-ea"/>
                </a:defRPr>
              </a:lvl2pPr>
              <a:lvl3pPr marL="717550" indent="-142875" algn="l" defTabSz="803275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맑은 고딕" panose="020B0503020000020004" pitchFamily="50" charset="-127"/>
                <a:buChar char="-"/>
                <a:tabLst>
                  <a:tab pos="1160463" algn="l"/>
                </a:tabLst>
                <a:defRPr kumimoji="1" sz="1400" b="0">
                  <a:solidFill>
                    <a:schemeClr val="tx1"/>
                  </a:solidFill>
                  <a:latin typeface="+mn-ea"/>
                  <a:ea typeface="+mn-ea"/>
                </a:defRPr>
              </a:lvl3pPr>
              <a:lvl4pPr marL="896938" indent="-179388" algn="l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umimoji="1" sz="1400">
                  <a:solidFill>
                    <a:schemeClr val="tx1"/>
                  </a:solidFill>
                  <a:latin typeface="+mn-ea"/>
                  <a:ea typeface="+mn-ea"/>
                </a:defRPr>
              </a:lvl4pPr>
              <a:lvl5pPr marL="2057400" indent="-228600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11113" indent="0" algn="just">
                <a:lnSpc>
                  <a:spcPct val="100000"/>
                </a:lnSpc>
                <a:spcBef>
                  <a:spcPts val="300"/>
                </a:spcBef>
                <a:buSzPct val="100000"/>
                <a:buNone/>
              </a:pPr>
              <a:r>
                <a:rPr lang="ko-KR" altLang="en-US" sz="1000" dirty="0" smtClean="0"/>
                <a:t>예</a:t>
              </a:r>
              <a:r>
                <a:rPr lang="en-US" altLang="ko-KR" sz="1000" smtClean="0"/>
                <a:t>) </a:t>
              </a:r>
              <a:r>
                <a:rPr lang="ko-KR" altLang="en-US" sz="1000" smtClean="0"/>
                <a:t>결과화면</a:t>
              </a:r>
              <a:endParaRPr lang="en-US" altLang="ko-KR" sz="1000" dirty="0" smtClean="0"/>
            </a:p>
          </p:txBody>
        </p:sp>
      </p:grpSp>
      <p:sp>
        <p:nvSpPr>
          <p:cNvPr id="27" name="내용 개체 틀 2"/>
          <p:cNvSpPr txBox="1">
            <a:spLocks/>
          </p:cNvSpPr>
          <p:nvPr/>
        </p:nvSpPr>
        <p:spPr>
          <a:xfrm>
            <a:off x="5529064" y="2708920"/>
            <a:ext cx="1440840" cy="2364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ko-KR" altLang="en-US" sz="1200" dirty="0" smtClean="0"/>
              <a:t>예</a:t>
            </a:r>
            <a:r>
              <a:rPr lang="en-US" altLang="ko-KR" sz="1200" smtClean="0"/>
              <a:t>) </a:t>
            </a:r>
            <a:r>
              <a:rPr lang="ko-KR" altLang="en-US" sz="1200" smtClean="0"/>
              <a:t>샘플소스 예제</a:t>
            </a:r>
            <a:endParaRPr lang="en-US" altLang="ko-KR" sz="1200" dirty="0" smtClean="0"/>
          </a:p>
        </p:txBody>
      </p:sp>
      <p:sp>
        <p:nvSpPr>
          <p:cNvPr id="23" name="내용 개체 틀 2"/>
          <p:cNvSpPr txBox="1">
            <a:spLocks/>
          </p:cNvSpPr>
          <p:nvPr/>
        </p:nvSpPr>
        <p:spPr>
          <a:xfrm>
            <a:off x="200472" y="1556792"/>
            <a:ext cx="5616624" cy="2071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400" dirty="0" smtClean="0"/>
              <a:t>1. SSO </a:t>
            </a:r>
            <a:r>
              <a:rPr lang="ko-KR" altLang="en-US" sz="1400" dirty="0" smtClean="0"/>
              <a:t>테스트용 토큰생성 프로그램 실행</a:t>
            </a:r>
            <a:endParaRPr lang="en-US" altLang="ko-KR" sz="14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100" dirty="0" smtClean="0"/>
              <a:t>- </a:t>
            </a:r>
            <a:r>
              <a:rPr lang="en-US" altLang="ko-KR" sz="1100" dirty="0"/>
              <a:t>TestISignAuthenticator.exe Argument </a:t>
            </a:r>
            <a:r>
              <a:rPr lang="ko-KR" altLang="ko-KR" sz="1100" dirty="0"/>
              <a:t>로 아래 입력 값들을 넣고 실행</a:t>
            </a:r>
            <a:endParaRPr lang="en-US" altLang="ko-KR" sz="11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 smtClean="0"/>
              <a:t>   </a:t>
            </a:r>
            <a:r>
              <a:rPr lang="en-US" altLang="ko-KR" sz="1200" dirty="0">
                <a:solidFill>
                  <a:srgbClr val="000000"/>
                </a:solidFill>
              </a:rPr>
              <a:t>①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-</a:t>
            </a:r>
            <a:r>
              <a:rPr lang="en-US" altLang="ko-KR" sz="1200" dirty="0" smtClean="0"/>
              <a:t>address SSO</a:t>
            </a:r>
            <a:r>
              <a:rPr lang="ko-KR" altLang="en-US" sz="1200" dirty="0" smtClean="0"/>
              <a:t>서버 주소 </a:t>
            </a:r>
            <a:endParaRPr lang="en-US" altLang="ko-KR" sz="1200" dirty="0" smtClean="0"/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/>
              <a:t> </a:t>
            </a:r>
            <a:r>
              <a:rPr lang="en-US" altLang="ko-KR" sz="1200" dirty="0" smtClean="0"/>
              <a:t>  (</a:t>
            </a:r>
            <a:r>
              <a:rPr lang="ko-KR" altLang="en-US" sz="1200" dirty="0" smtClean="0">
                <a:solidFill>
                  <a:srgbClr val="0000FF"/>
                </a:solidFill>
              </a:rPr>
              <a:t>내부망</a:t>
            </a:r>
            <a:r>
              <a:rPr lang="en-US" altLang="ko-KR" sz="1200" dirty="0" smtClean="0"/>
              <a:t>: https://</a:t>
            </a:r>
            <a:r>
              <a:rPr lang="en-US" altLang="ko-KR" sz="1200" dirty="0" smtClean="0">
                <a:solidFill>
                  <a:srgbClr val="0000FF"/>
                </a:solidFill>
              </a:rPr>
              <a:t>dint</a:t>
            </a:r>
            <a:r>
              <a:rPr lang="en-US" altLang="ko-KR" sz="1200" dirty="0" smtClean="0"/>
              <a:t>esso.kdb.co.kr, </a:t>
            </a:r>
            <a:r>
              <a:rPr lang="ko-KR" altLang="en-US" sz="1200" dirty="0" smtClean="0">
                <a:solidFill>
                  <a:srgbClr val="0000FF"/>
                </a:solidFill>
              </a:rPr>
              <a:t>인터넷망</a:t>
            </a:r>
            <a:r>
              <a:rPr lang="en-US" altLang="ko-KR" sz="1200" dirty="0" smtClean="0"/>
              <a:t>: https://</a:t>
            </a:r>
            <a:r>
              <a:rPr lang="en-US" altLang="ko-KR" sz="1200" dirty="0" smtClean="0">
                <a:solidFill>
                  <a:srgbClr val="0000FF"/>
                </a:solidFill>
              </a:rPr>
              <a:t>dext</a:t>
            </a:r>
            <a:r>
              <a:rPr lang="en-US" altLang="ko-KR" sz="1200" dirty="0" smtClean="0"/>
              <a:t>esso.kdb.co.kr)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/>
              <a:t>  </a:t>
            </a:r>
            <a:r>
              <a:rPr lang="en-US" altLang="ko-KR" sz="1200" dirty="0" smtClean="0"/>
              <a:t> </a:t>
            </a:r>
            <a:r>
              <a:rPr lang="en-US" altLang="ko-KR" sz="1200" dirty="0" smtClean="0">
                <a:solidFill>
                  <a:srgbClr val="000000"/>
                </a:solidFill>
              </a:rPr>
              <a:t>② </a:t>
            </a:r>
            <a:r>
              <a:rPr lang="en-US" altLang="ko-KR" sz="1200" dirty="0"/>
              <a:t>-port </a:t>
            </a:r>
            <a:r>
              <a:rPr lang="en-US" altLang="ko-KR" sz="1200" dirty="0" smtClean="0"/>
              <a:t>SSO</a:t>
            </a:r>
            <a:r>
              <a:rPr lang="ko-KR" altLang="en-US" sz="1200" dirty="0" smtClean="0"/>
              <a:t>서버 포트 </a:t>
            </a:r>
            <a:r>
              <a:rPr lang="en-US" altLang="ko-KR" sz="1200" dirty="0" smtClean="0"/>
              <a:t>(20443) 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/>
              <a:t> </a:t>
            </a:r>
            <a:r>
              <a:rPr lang="en-US" altLang="ko-KR" sz="1200" dirty="0" smtClean="0"/>
              <a:t>  ③ </a:t>
            </a:r>
            <a:r>
              <a:rPr lang="en-US" altLang="ko-KR" sz="1200" dirty="0"/>
              <a:t>-ssoid </a:t>
            </a:r>
            <a:r>
              <a:rPr lang="ko-KR" altLang="en-US" sz="1200" dirty="0" smtClean="0"/>
              <a:t>사용자</a:t>
            </a:r>
            <a:r>
              <a:rPr lang="en-US" altLang="ko-KR" sz="1200" dirty="0" smtClean="0"/>
              <a:t>ID (ssotest)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 smtClean="0"/>
              <a:t>   ④ </a:t>
            </a:r>
            <a:r>
              <a:rPr lang="en-US" altLang="ko-KR" sz="1200" dirty="0"/>
              <a:t>-ssopw </a:t>
            </a:r>
            <a:r>
              <a:rPr lang="ko-KR" altLang="en-US" sz="1200" dirty="0" smtClean="0"/>
              <a:t>사용자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패스워드 </a:t>
            </a:r>
            <a:r>
              <a:rPr lang="en-US" altLang="ko-KR" sz="1200" dirty="0" smtClean="0"/>
              <a:t>(ssotest!1)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altLang="ko-KR" sz="1200" dirty="0"/>
              <a:t> </a:t>
            </a:r>
            <a:r>
              <a:rPr lang="en-US" altLang="ko-KR" sz="1200" dirty="0" smtClean="0"/>
              <a:t>  ⑤ </a:t>
            </a:r>
            <a:r>
              <a:rPr lang="en-US" altLang="ko-KR" sz="1200" dirty="0"/>
              <a:t>-otpnum MOTP </a:t>
            </a:r>
            <a:r>
              <a:rPr lang="ko-KR" altLang="en-US" sz="1200" dirty="0" smtClean="0"/>
              <a:t>번호 </a:t>
            </a:r>
            <a:r>
              <a:rPr lang="en-US" altLang="ko-KR" sz="1200" dirty="0" smtClean="0"/>
              <a:t>(12345)</a:t>
            </a:r>
          </a:p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endParaRPr lang="en-US" altLang="ko-KR" sz="1400" dirty="0" smtClean="0"/>
          </a:p>
        </p:txBody>
      </p:sp>
      <p:sp>
        <p:nvSpPr>
          <p:cNvPr id="28" name="내용 개체 틀 2"/>
          <p:cNvSpPr txBox="1">
            <a:spLocks/>
          </p:cNvSpPr>
          <p:nvPr/>
        </p:nvSpPr>
        <p:spPr>
          <a:xfrm>
            <a:off x="418288" y="3350450"/>
            <a:ext cx="4233600" cy="4071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1113" indent="0" algn="just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ko-KR" altLang="en-US" sz="1200" dirty="0" smtClean="0"/>
              <a:t>예</a:t>
            </a:r>
            <a:r>
              <a:rPr lang="en-US" altLang="ko-KR" sz="1200" dirty="0" smtClean="0"/>
              <a:t>) </a:t>
            </a:r>
            <a:r>
              <a:rPr lang="ko-KR" altLang="en-US" sz="1200" dirty="0" smtClean="0"/>
              <a:t>내부망 실행 예</a:t>
            </a:r>
            <a:endParaRPr lang="en-US" altLang="ko-KR" sz="1200" dirty="0" smtClean="0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88" y="3948332"/>
            <a:ext cx="4901765" cy="1504928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362818" y="3864730"/>
            <a:ext cx="5030985" cy="551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ko-KR" altLang="en-US" sz="1200" b="1" dirty="0" smtClean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2174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표 44"/>
          <p:cNvGraphicFramePr>
            <a:graphicFrameLocks noGrp="1"/>
          </p:cNvGraphicFramePr>
          <p:nvPr>
            <p:extLst/>
          </p:nvPr>
        </p:nvGraphicFramePr>
        <p:xfrm>
          <a:off x="1048203" y="2410543"/>
          <a:ext cx="7821087" cy="20413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7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587">
                  <a:extLst>
                    <a:ext uri="{9D8B030D-6E8A-4147-A177-3AD203B41FA5}">
                      <a16:colId xmlns:a16="http://schemas.microsoft.com/office/drawing/2014/main" val="2915165876"/>
                    </a:ext>
                  </a:extLst>
                </a:gridCol>
                <a:gridCol w="2035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954954601"/>
                    </a:ext>
                  </a:extLst>
                </a:gridCol>
                <a:gridCol w="2470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571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SSO </a:t>
                      </a:r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서버 구분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IP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서비스포트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텔넷확인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54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내부망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개발계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Bef>
                          <a:spcPct val="0"/>
                        </a:spcBef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10.8.99.170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0">
                        <a:spcBef>
                          <a:spcPct val="0"/>
                        </a:spcBef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20443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telnet</a:t>
                      </a:r>
                      <a:r>
                        <a:rPr lang="en-US" altLang="ko-KR" sz="1000" b="1" kern="100" baseline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 </a:t>
                      </a: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10.8.99.170 20443</a:t>
                      </a:r>
                      <a:endParaRPr lang="ko-KR" alt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5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운영계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10.6.109.240</a:t>
                      </a:r>
                      <a:endParaRPr lang="en-US" altLang="en-US" sz="1000" b="1" smtClean="0">
                        <a:latin typeface="+mn-ea"/>
                        <a:ea typeface="+mn-ea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>
                        <a:spcBef>
                          <a:spcPct val="0"/>
                        </a:spcBef>
                      </a:pPr>
                      <a:endParaRPr lang="en-US" altLang="en-US" sz="1000" b="1" smtClean="0">
                        <a:latin typeface="+mn-ea"/>
                        <a:ea typeface="+mn-ea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telnet</a:t>
                      </a:r>
                      <a:r>
                        <a:rPr lang="en-US" altLang="ko-KR" sz="1000" b="1" kern="100" baseline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 </a:t>
                      </a: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10.6.109.220 20443</a:t>
                      </a:r>
                      <a:endParaRPr lang="ko-KR" alt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842897"/>
                  </a:ext>
                </a:extLst>
              </a:tr>
              <a:tr h="17554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외부망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개발계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10.8.99.171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20443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telnet</a:t>
                      </a:r>
                      <a:r>
                        <a:rPr lang="en-US" altLang="ko-KR" sz="1000" b="1" kern="100" baseline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 </a:t>
                      </a: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10.8.99.171 20443</a:t>
                      </a:r>
                      <a:endParaRPr lang="ko-KR" alt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7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운영계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10.6.109.220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telnet</a:t>
                      </a:r>
                      <a:r>
                        <a:rPr lang="en-US" altLang="ko-KR" sz="1000" b="1" kern="100" baseline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 </a:t>
                      </a: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10.6.109.220 20443</a:t>
                      </a: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383395"/>
                  </a:ext>
                </a:extLst>
              </a:tr>
              <a:tr h="17554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대고객망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개발계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10.8.99.172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20443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telnet</a:t>
                      </a:r>
                      <a:r>
                        <a:rPr lang="en-US" altLang="ko-KR" sz="1000" b="1" kern="100" baseline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 </a:t>
                      </a: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10.8.99.172 20443</a:t>
                      </a:r>
                      <a:endParaRPr lang="ko-KR" alt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486828"/>
                  </a:ext>
                </a:extLst>
              </a:tr>
              <a:tr h="147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운영계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10.6.109.230</a:t>
                      </a: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telnet</a:t>
                      </a:r>
                      <a:r>
                        <a:rPr lang="en-US" altLang="ko-KR" sz="1000" b="1" kern="100" baseline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 </a:t>
                      </a: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10.6.109.230 20443</a:t>
                      </a: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529408"/>
                  </a:ext>
                </a:extLst>
              </a:tr>
            </a:tbl>
          </a:graphicData>
        </a:graphic>
      </p:graphicFrame>
      <p:sp>
        <p:nvSpPr>
          <p:cNvPr id="9" name="내용 개체 틀 2"/>
          <p:cNvSpPr txBox="1">
            <a:spLocks/>
          </p:cNvSpPr>
          <p:nvPr/>
        </p:nvSpPr>
        <p:spPr>
          <a:xfrm>
            <a:off x="384561" y="797868"/>
            <a:ext cx="9192449" cy="12629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kern="0" smtClean="0"/>
              <a:t>업무시스템 도메인 </a:t>
            </a:r>
            <a:r>
              <a:rPr lang="en-US" altLang="ko-KR" kern="0" smtClean="0"/>
              <a:t>Name </a:t>
            </a:r>
            <a:r>
              <a:rPr lang="ko-KR" altLang="en-US" kern="0" smtClean="0"/>
              <a:t>설정 여부 확인</a:t>
            </a:r>
            <a:endParaRPr lang="en-US" altLang="ko-KR" kern="0" smtClean="0"/>
          </a:p>
          <a:p>
            <a:pPr lvl="1"/>
            <a:r>
              <a:rPr lang="en-US" altLang="ko-KR" kern="0" smtClean="0"/>
              <a:t>Ex) </a:t>
            </a:r>
            <a:r>
              <a:rPr lang="ko-KR" altLang="en-US" kern="0" smtClean="0"/>
              <a:t>통합인증시스템</a:t>
            </a:r>
            <a:r>
              <a:rPr lang="en-US" altLang="ko-KR" kern="0" smtClean="0"/>
              <a:t>(uac)</a:t>
            </a:r>
            <a:r>
              <a:rPr lang="ko-KR" altLang="en-US" kern="0" smtClean="0"/>
              <a:t> </a:t>
            </a:r>
            <a:r>
              <a:rPr lang="en-US" altLang="ko-KR" kern="0" smtClean="0"/>
              <a:t>–&gt; duac.kdb.co.kr</a:t>
            </a:r>
          </a:p>
          <a:p>
            <a:r>
              <a:rPr lang="ko-KR" altLang="en-US" kern="0" smtClean="0"/>
              <a:t>사용자 </a:t>
            </a:r>
            <a:r>
              <a:rPr lang="en-US" altLang="ko-KR" kern="0" smtClean="0"/>
              <a:t>PC </a:t>
            </a:r>
            <a:r>
              <a:rPr lang="ko-KR" altLang="en-US" kern="0" smtClean="0"/>
              <a:t>및 업무시스템 서버에 차세대 </a:t>
            </a:r>
            <a:r>
              <a:rPr lang="en-US" altLang="ko-KR" kern="0" smtClean="0"/>
              <a:t>DNS </a:t>
            </a:r>
            <a:r>
              <a:rPr lang="ko-KR" altLang="en-US" kern="0" smtClean="0"/>
              <a:t>설정 여부 확인 </a:t>
            </a:r>
            <a:endParaRPr lang="en-US" altLang="ko-KR" kern="0" smtClean="0"/>
          </a:p>
          <a:p>
            <a:pPr lvl="1"/>
            <a:r>
              <a:rPr lang="ko-KR" altLang="en-US" kern="0" smtClean="0"/>
              <a:t>차세대 </a:t>
            </a:r>
            <a:r>
              <a:rPr lang="en-US" altLang="ko-KR" kern="0" smtClean="0"/>
              <a:t>DNS </a:t>
            </a:r>
            <a:r>
              <a:rPr lang="ko-KR" altLang="en-US" kern="0" smtClean="0"/>
              <a:t>서버</a:t>
            </a:r>
            <a:r>
              <a:rPr lang="en-US" altLang="ko-KR" kern="0" smtClean="0"/>
              <a:t>: </a:t>
            </a:r>
            <a:r>
              <a:rPr lang="en-US" altLang="ko-KR" kern="0">
                <a:solidFill>
                  <a:srgbClr val="FF0000"/>
                </a:solidFill>
              </a:rPr>
              <a:t>10.7.201.101</a:t>
            </a:r>
            <a:r>
              <a:rPr lang="en-US" altLang="ko-KR" kern="0"/>
              <a:t> </a:t>
            </a:r>
            <a:endParaRPr lang="en-US" altLang="ko-KR" kern="0" smtClean="0"/>
          </a:p>
          <a:p>
            <a:r>
              <a:rPr lang="ko-KR" altLang="en-US" kern="0" smtClean="0"/>
              <a:t>업무시스템 서버와 </a:t>
            </a:r>
            <a:r>
              <a:rPr lang="en-US" altLang="ko-KR" kern="0" smtClean="0"/>
              <a:t>SSO</a:t>
            </a:r>
            <a:r>
              <a:rPr lang="ko-KR" altLang="en-US" kern="0" smtClean="0"/>
              <a:t>서버간 서비스 포트 오픈확인</a:t>
            </a:r>
            <a:endParaRPr lang="en-US" altLang="ko-KR" kern="0" dirty="0" smtClean="0"/>
          </a:p>
        </p:txBody>
      </p:sp>
      <p:sp>
        <p:nvSpPr>
          <p:cNvPr id="11" name="직사각형 10"/>
          <p:cNvSpPr/>
          <p:nvPr/>
        </p:nvSpPr>
        <p:spPr>
          <a:xfrm>
            <a:off x="5601072" y="348413"/>
            <a:ext cx="4016895" cy="27699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285750" indent="-285750" algn="r"/>
            <a:r>
              <a:rPr lang="en-US" altLang="ko-KR" sz="1200" b="1" smtClean="0">
                <a:latin typeface="맑은 고딕" pitchFamily="50" charset="-127"/>
                <a:ea typeface="맑은 고딕" pitchFamily="50" charset="-127"/>
                <a:cs typeface="Arial" charset="0"/>
              </a:rPr>
              <a:t>5. SSO </a:t>
            </a:r>
            <a:r>
              <a:rPr lang="ko-KR" altLang="en-US" sz="1200" b="1" smtClean="0">
                <a:latin typeface="맑은 고딕" pitchFamily="50" charset="-127"/>
                <a:ea typeface="맑은 고딕" pitchFamily="50" charset="-127"/>
                <a:cs typeface="Arial" charset="0"/>
              </a:rPr>
              <a:t>연동전 사전 확인사항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 bwMode="auto">
          <a:xfrm>
            <a:off x="416496" y="332656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9pPr>
          </a:lstStyle>
          <a:p>
            <a:r>
              <a:rPr lang="en-US" altLang="ko-KR" kern="0" smtClean="0"/>
              <a:t>5. SSO </a:t>
            </a:r>
            <a:r>
              <a:rPr lang="ko-KR" altLang="en-US" kern="0" smtClean="0"/>
              <a:t>연동전 사전 확인사항</a:t>
            </a:r>
            <a:endParaRPr lang="ko-KR" altLang="en-US" kern="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142970"/>
              </p:ext>
            </p:extLst>
          </p:nvPr>
        </p:nvGraphicFramePr>
        <p:xfrm>
          <a:off x="1042793" y="5013176"/>
          <a:ext cx="7821087" cy="14014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7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587">
                  <a:extLst>
                    <a:ext uri="{9D8B030D-6E8A-4147-A177-3AD203B41FA5}">
                      <a16:colId xmlns:a16="http://schemas.microsoft.com/office/drawing/2014/main" val="2915165876"/>
                    </a:ext>
                  </a:extLst>
                </a:gridCol>
                <a:gridCol w="2035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954954601"/>
                    </a:ext>
                  </a:extLst>
                </a:gridCol>
                <a:gridCol w="2470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SSO </a:t>
                      </a:r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서버 구분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IP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서비스포트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텔넷확인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내부망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개발계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Bef>
                          <a:spcPct val="0"/>
                        </a:spcBef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10.8.99.170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0">
                        <a:spcBef>
                          <a:spcPct val="0"/>
                        </a:spcBef>
                      </a:pPr>
                      <a:r>
                        <a:rPr lang="en-US" altLang="en-US" sz="1000" b="1" smtClean="0">
                          <a:latin typeface="+mn-ea"/>
                          <a:ea typeface="+mn-ea"/>
                        </a:rPr>
                        <a:t>20443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telnet</a:t>
                      </a:r>
                      <a:r>
                        <a:rPr lang="en-US" altLang="ko-KR" sz="1000" b="1" kern="100" baseline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 </a:t>
                      </a: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10.8.99.170 20443</a:t>
                      </a:r>
                      <a:endParaRPr lang="ko-KR" alt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운영계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10.6.109.240</a:t>
                      </a:r>
                      <a:endParaRPr lang="en-US" altLang="en-US" sz="1000" b="1" smtClean="0">
                        <a:latin typeface="+mn-ea"/>
                        <a:ea typeface="+mn-ea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>
                        <a:spcBef>
                          <a:spcPct val="0"/>
                        </a:spcBef>
                      </a:pPr>
                      <a:endParaRPr lang="en-US" altLang="en-US" sz="1000" b="1" smtClean="0">
                        <a:latin typeface="+mn-ea"/>
                        <a:ea typeface="+mn-ea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telnet</a:t>
                      </a:r>
                      <a:r>
                        <a:rPr lang="en-US" altLang="ko-KR" sz="1000" b="1" kern="100" baseline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 </a:t>
                      </a:r>
                      <a:r>
                        <a:rPr lang="en-US" altLang="ko-KR" sz="1000" b="1" kern="1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굴림"/>
                        </a:rPr>
                        <a:t>10.6.109.220 20443</a:t>
                      </a:r>
                      <a:endParaRPr lang="ko-KR" alt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842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외부망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추가예정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ko-KR" alt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대고객망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F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ko-KR" altLang="ko-KR" sz="1000" b="1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91428" marR="91428" marT="45661" marB="45661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486828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458665" y="4555766"/>
            <a:ext cx="5511778" cy="3535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63" indent="-285750" algn="l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□"/>
              <a:defRPr kumimoji="1" sz="1600" b="1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54038" indent="-285750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○"/>
              <a:defRPr kumimoji="1" sz="14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717550" indent="-142875" algn="l" defTabSz="803275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맑은 고딕" panose="020B0503020000020004" pitchFamily="50" charset="-127"/>
              <a:buChar char="-"/>
              <a:tabLst>
                <a:tab pos="1160463" algn="l"/>
              </a:tabLst>
              <a:defRPr kumimoji="1" sz="1400" b="0">
                <a:solidFill>
                  <a:schemeClr val="tx1"/>
                </a:solidFill>
                <a:latin typeface="+mn-ea"/>
                <a:ea typeface="+mn-ea"/>
              </a:defRPr>
            </a:lvl3pPr>
            <a:lvl4pPr marL="896938" indent="-179388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kern="0" smtClean="0"/>
              <a:t>사용자 </a:t>
            </a:r>
            <a:r>
              <a:rPr lang="en-US" altLang="ko-KR" kern="0" smtClean="0"/>
              <a:t>PC</a:t>
            </a:r>
            <a:r>
              <a:rPr lang="ko-KR" altLang="en-US" kern="0" smtClean="0"/>
              <a:t>와 </a:t>
            </a:r>
            <a:r>
              <a:rPr lang="en-US" altLang="ko-KR" kern="0" smtClean="0"/>
              <a:t>SSO</a:t>
            </a:r>
            <a:r>
              <a:rPr lang="ko-KR" altLang="en-US" kern="0"/>
              <a:t>서버간 서비스 포트 오픈확인</a:t>
            </a:r>
            <a:endParaRPr lang="en-US" altLang="ko-KR" kern="0"/>
          </a:p>
          <a:p>
            <a:pPr marL="11113" indent="0">
              <a:buNone/>
            </a:pPr>
            <a:endParaRPr lang="en-US" altLang="ko-KR" kern="0" dirty="0" smtClean="0"/>
          </a:p>
        </p:txBody>
      </p:sp>
    </p:spTree>
    <p:extLst>
      <p:ext uri="{BB962C8B-B14F-4D97-AF65-F5344CB8AC3E}">
        <p14:creationId xmlns:p14="http://schemas.microsoft.com/office/powerpoint/2010/main" val="20653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46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) 표지">
  <a:themeElements>
    <a:clrScheme name="투이교육교재">
      <a:dk1>
        <a:srgbClr val="000000"/>
      </a:dk1>
      <a:lt1>
        <a:sysClr val="window" lastClr="FFFFFF"/>
      </a:lt1>
      <a:dk2>
        <a:srgbClr val="EF3F3E"/>
      </a:dk2>
      <a:lt2>
        <a:srgbClr val="F2F2F2"/>
      </a:lt2>
      <a:accent1>
        <a:srgbClr val="E18685"/>
      </a:accent1>
      <a:accent2>
        <a:srgbClr val="E0B6B6"/>
      </a:accent2>
      <a:accent3>
        <a:srgbClr val="F1E4E4"/>
      </a:accent3>
      <a:accent4>
        <a:srgbClr val="7F7F7F"/>
      </a:accent4>
      <a:accent5>
        <a:srgbClr val="A6A6A6"/>
      </a:accent5>
      <a:accent6>
        <a:srgbClr val="D9D9D9"/>
      </a:accent6>
      <a:hlink>
        <a:srgbClr val="FFF2CB"/>
      </a:hlink>
      <a:folHlink>
        <a:srgbClr val="FFD965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) 간지-산출물">
  <a:themeElements>
    <a:clrScheme name="원본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) 본문">
  <a:themeElements>
    <a:clrScheme name="04_컨텐츠영역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marL="171450" indent="-171450">
          <a:buFont typeface="Arial" panose="020B0604020202020204" pitchFamily="34" charset="0"/>
          <a:buChar char="•"/>
          <a:defRPr sz="1200" b="1" dirty="0" smtClean="0">
            <a:solidFill>
              <a:srgbClr val="FF0000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) 엔딩">
  <a:themeElements>
    <a:clrScheme name="블루계열_미래에셋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3B5285"/>
      </a:accent4>
      <a:accent5>
        <a:srgbClr val="A0B0D0"/>
      </a:accent5>
      <a:accent6>
        <a:srgbClr val="C4CEE2"/>
      </a:accent6>
      <a:hlink>
        <a:srgbClr val="953734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39030</TotalTime>
  <Words>2805</Words>
  <Application>Microsoft Office PowerPoint</Application>
  <PresentationFormat>A4 용지(210x297mm)</PresentationFormat>
  <Paragraphs>653</Paragraphs>
  <Slides>23</Slides>
  <Notes>2</Notes>
  <HiddenSlides>5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23</vt:i4>
      </vt:variant>
    </vt:vector>
  </HeadingPairs>
  <TitlesOfParts>
    <vt:vector size="40" baseType="lpstr">
      <vt:lpstr>-2002</vt:lpstr>
      <vt:lpstr>Arial Unicode MS</vt:lpstr>
      <vt:lpstr>HY견명조</vt:lpstr>
      <vt:lpstr>Monotype Sorts</vt:lpstr>
      <vt:lpstr>굴림</vt:lpstr>
      <vt:lpstr>나눔고딕</vt:lpstr>
      <vt:lpstr>나눔고딕 ExtraBold</vt:lpstr>
      <vt:lpstr>맑은 고딕</vt:lpstr>
      <vt:lpstr>-윤고딕320</vt:lpstr>
      <vt:lpstr>Arial</vt:lpstr>
      <vt:lpstr>Tahoma</vt:lpstr>
      <vt:lpstr>Times New Roman</vt:lpstr>
      <vt:lpstr>Wingdings</vt:lpstr>
      <vt:lpstr>1) 표지</vt:lpstr>
      <vt:lpstr>2) 간지-산출물</vt:lpstr>
      <vt:lpstr>3) 본문</vt:lpstr>
      <vt:lpstr>4) 엔딩</vt:lpstr>
      <vt:lpstr>PowerPoint 프레젠테이션</vt:lpstr>
      <vt:lpstr>재∙개정 이력</vt:lpstr>
      <vt:lpstr>목차</vt:lpstr>
      <vt:lpstr>1.1 KDB 통합로그인(SSO) 개념도</vt:lpstr>
      <vt:lpstr>1.2 SSO 적용을 위한 업무간 R&amp;R</vt:lpstr>
      <vt:lpstr>1.3 ESSO 솔루션 구성</vt:lpstr>
      <vt:lpstr>1.4 SSO Agent 지원 환경 (1/2)</vt:lpstr>
      <vt:lpstr>1.4 SSO Agent 지원 환경 (2/2)</vt:lpstr>
      <vt:lpstr>2.1 로그인 흐름도</vt:lpstr>
      <vt:lpstr>2.2 업무 연동 흐름도</vt:lpstr>
      <vt:lpstr>3.1 적용파일 구성</vt:lpstr>
      <vt:lpstr>3.2 Agent 설치 및 적용 절차</vt:lpstr>
      <vt:lpstr>3.3 소스 수정</vt:lpstr>
      <vt:lpstr>3.4 연동테스트 확인 방법</vt:lpstr>
      <vt:lpstr>3.5 SSO 통신불능 및 에러상황 적용방법</vt:lpstr>
      <vt:lpstr>3.6 SSO 통신불능 및 에러상황 적용방법</vt:lpstr>
      <vt:lpstr>3.6 SSO 통신불능 및 에러상황 적용방법</vt:lpstr>
      <vt:lpstr>PowerPoint 프레젠테이션</vt:lpstr>
      <vt:lpstr>4.2 Agent 설치 및 적용 절차</vt:lpstr>
      <vt:lpstr>4.3 소스 수정</vt:lpstr>
      <vt:lpstr>4.4 연동테스트 확인 방법</vt:lpstr>
      <vt:lpstr>PowerPoint 프레젠테이션</vt:lpstr>
      <vt:lpstr>PowerPoint 프레젠테이션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user</cp:lastModifiedBy>
  <cp:revision>9114</cp:revision>
  <cp:lastPrinted>2018-01-05T05:01:50Z</cp:lastPrinted>
  <dcterms:created xsi:type="dcterms:W3CDTF">2007-08-16T05:20:03Z</dcterms:created>
  <dcterms:modified xsi:type="dcterms:W3CDTF">2022-10-19T05:45:20Z</dcterms:modified>
</cp:coreProperties>
</file>